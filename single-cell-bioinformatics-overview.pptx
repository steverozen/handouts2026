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2.xml" ContentType="application/vnd.openxmlformats-officedocument.presentationml.slide+xml"/>
  <Override PartName="/ppt/slides/slide8.xml" ContentType="application/vnd.openxmlformats-officedocument.presentationml.slide+xml"/>
  <Override PartName="/ppt/slides/slide24.xml" ContentType="application/vnd.openxmlformats-officedocument.presentationml.slide+xml"/>
  <Override PartName="/ppt/slides/slide10.xml" ContentType="application/vnd.openxmlformats-officedocument.presentationml.slide+xml"/>
  <Override PartName="/ppt/slides/slide6.xml" ContentType="application/vnd.openxmlformats-officedocument.presentationml.slide+xml"/>
  <Override PartName="/ppt/slides/slide23.xml" ContentType="application/vnd.openxmlformats-officedocument.presentationml.slide+xml"/>
  <Override PartName="/ppt/slides/slide22.xml" ContentType="application/vnd.openxmlformats-officedocument.presentationml.slide+xml"/>
  <Override PartName="/ppt/slides/slide5.xml" ContentType="application/vnd.openxmlformats-officedocument.presentationml.slide+xml"/>
  <Override PartName="/ppt/slides/slide26.xml" ContentType="application/vnd.openxmlformats-officedocument.presentationml.slide+xml"/>
  <Override PartName="/ppt/slides/slide14.xml" ContentType="application/vnd.openxmlformats-officedocument.presentationml.slide+xml"/>
  <Override PartName="/ppt/slides/slide25.xml" ContentType="application/vnd.openxmlformats-officedocument.presentationml.slide+xml"/>
  <Override PartName="/ppt/slides/slide21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7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11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Master title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7400" cy="4524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7400" cy="4524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0B2464CC-7A27-4ABC-91F1-4BEAED59BEB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200" cy="638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200" cy="3950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0640" cy="638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0640" cy="3950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6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7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8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28C941EE-FF70-41D4-BEE8-C7E5B849FE1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CFDE838E-2DEE-43DA-901A-5186F25B2E9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54A48342-1ACA-4FE1-BF3D-3A7DC04D12C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3976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080" cy="116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0560" cy="5852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080" cy="4690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5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6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4F1821FD-3F3B-4077-9919-8562AF3F18E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5320" cy="56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5320" cy="41137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 defTabSz="457200"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indent="-32400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indent="-2880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indent="-216000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indent="-216000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5320" cy="803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1AA7184E-3AE6-40E5-A2F3-C1970F90695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1320" cy="1468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2D648FC5-FF66-4031-AEAF-12000989813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DABBD044-E006-4593-AED5-142A5AE8B7F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6320" cy="5850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8840" cy="5850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PlaceHolder 5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652B6623-5943-4EB3-9A2A-8A1C2D310CC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4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PlaceHolder 5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104A153A-D982-42E0-9119-89DBF6B2A5B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1320" cy="1361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1320" cy="1499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5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55A36C9A-39E9-4C61-AC17-AF3CFA3703D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hyperlink" Target="http://duke.edu/" TargetMode="External"/><Relationship Id="rId3" Type="http://schemas.openxmlformats.org/officeDocument/2006/relationships/slideLayout" Target="../slideLayouts/slideLayout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TextBox 1"/>
          <p:cNvSpPr/>
          <p:nvPr/>
        </p:nvSpPr>
        <p:spPr>
          <a:xfrm>
            <a:off x="488520" y="457200"/>
            <a:ext cx="1002672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Overview of single-cell bioinformatics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2" name=""/>
          <p:cNvPicPr/>
          <p:nvPr/>
        </p:nvPicPr>
        <p:blipFill>
          <a:blip r:embed="rId1"/>
          <a:srcRect l="6160" t="0" r="7900" b="12758"/>
          <a:stretch/>
        </p:blipFill>
        <p:spPr>
          <a:xfrm>
            <a:off x="3429360" y="2286000"/>
            <a:ext cx="7543080" cy="3189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3" name=""/>
          <p:cNvSpPr/>
          <p:nvPr/>
        </p:nvSpPr>
        <p:spPr>
          <a:xfrm>
            <a:off x="592920" y="1857240"/>
            <a:ext cx="2378520" cy="111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August 4, 2026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Steve Rozen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severozen [at] pm.me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sr110 [at] </a:t>
            </a:r>
            <a:r>
              <a:rPr lang="en-US" sz="1800" b="0" u="sng" strike="noStrike">
                <a:solidFill>
                  <a:schemeClr val="hlink"/>
                </a:solidFill>
                <a:effectLst/>
                <a:uFillTx/>
                <a:latin typeface="Arial"/>
                <a:ea typeface="Arial"/>
                <a:hlinkClick r:id="rId2"/>
              </a:rPr>
              <a:t>duke.edu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TextBox 1"/>
          <p:cNvSpPr/>
          <p:nvPr/>
        </p:nvSpPr>
        <p:spPr>
          <a:xfrm>
            <a:off x="961560" y="1272600"/>
            <a:ext cx="9556920" cy="210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Two key questions across different types of single-cell omic: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1. What does the technology actually measure?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2. What do we ask once we have the datat?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extBox 5"/>
          <p:cNvSpPr/>
          <p:nvPr/>
        </p:nvSpPr>
        <p:spPr>
          <a:xfrm>
            <a:off x="961560" y="1272600"/>
            <a:ext cx="9556920" cy="578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Two key questions across different types of single-cell omic: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1. What does the technology actually measure?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1.1 Disaggregated 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1.2 Spatial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 What do we ask once we have the data?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/>
          <p:nvPr/>
        </p:nvSpPr>
        <p:spPr>
          <a:xfrm>
            <a:off x="3637080" y="1771200"/>
            <a:ext cx="10026720" cy="343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Technologies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TextBox 1"/>
          <p:cNvSpPr/>
          <p:nvPr/>
        </p:nvSpPr>
        <p:spPr>
          <a:xfrm>
            <a:off x="961560" y="1272600"/>
            <a:ext cx="9556920" cy="411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Non-spatial: cells are dissociated out of the tissue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Position is destroyed, throughput is high, and every cell is measured the same way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Transcriptome: scRNA-seq. The default, and most of what follows assumes it.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Chromatin accessibility: scATAC-seq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Surface protein: CITE-seq, antibody-derived tags read out as extra features alongside RNA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Immune receptor repertoire: single-cell TCR-seq and BCR-seq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Joint multi-omic assays measure two of these in the same cell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extBox 1"/>
          <p:cNvSpPr/>
          <p:nvPr/>
        </p:nvSpPr>
        <p:spPr>
          <a:xfrm>
            <a:off x="961560" y="1272600"/>
            <a:ext cx="9556920" cy="411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Cells or nuclei?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 choice you make at the bench that you then have to live with in the analysis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Whole cells: more RNA per cell, more cytoplasmic and mitochondrial reads, and dissociation stress shows up as a gene programme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Nuclei: works on frozen and hard-to-dissociate tissue such as brain, less RNA per nucleus, enriched for unspliced transcripts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Do not integrate the two casually. The difference is larger than most batch effects.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TextBox 1"/>
          <p:cNvSpPr/>
          <p:nvPr/>
        </p:nvSpPr>
        <p:spPr>
          <a:xfrm>
            <a:off x="961560" y="1272600"/>
            <a:ext cx="9556920" cy="411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Perturbation screens: don't just observe, intervene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Everything else on this list is observational. You take a snapshot and infer what is driving it.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Perturb-seq puts a pooled CRISPR screen and scRNA-seq in the same experiment: each cell carries a guide RNA, and the guide is read out alongside the transcriptome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So the readout is not survival or one reporter, it is the whole transcriptional consequence of knocking out that gene, per cell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Replogle et al. took this genome-scale: every expressed gene knocked down, across 2.5 million cells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Related idea, heritable barcodes instead of guides, and you recover lineage rather than perturbation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TextBox 1"/>
          <p:cNvSpPr/>
          <p:nvPr/>
        </p:nvSpPr>
        <p:spPr>
          <a:xfrm>
            <a:off x="961560" y="1272600"/>
            <a:ext cx="9556920" cy="411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Why Perturb-seq changes the analysis: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cell label is now assigned by you, not inferred. You know which gene was hit before you cluster anything.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That turns 'what is regulating this?' from an inference into a measurement, and gives the gene-network methods something to be tested against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New problems come with it: guide assignment is noisy, multiplets carry two guides, and knockdown is partial and variable between cells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Not covered in this workshop's tutorials. Worth knowing it exists if you run screens.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TextBox 1"/>
          <p:cNvSpPr/>
          <p:nvPr/>
        </p:nvSpPr>
        <p:spPr>
          <a:xfrm>
            <a:off x="961560" y="1272600"/>
            <a:ext cx="9556920" cy="411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Spatial: position is kept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Molecular measurement is tied back to tissue architecture, at the cost of either gene coverage or resolution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field splits cleanly in two (Moses and Pachter 2022):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Imaging-based: molecules are counted in place, one fluorescent round at a time. MERFISH / Vizgen MERSCOPE, Nanostring CosMx, 10x Xenium, and Akoya CODEX for protein.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Sequencing-based: transcripts are captured onto a barcoded surface, then sequenced off the tissue. Visium, Visium HD, Slide-seq.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extBox 1"/>
          <p:cNvSpPr/>
          <p:nvPr/>
        </p:nvSpPr>
        <p:spPr>
          <a:xfrm>
            <a:off x="961560" y="640080"/>
            <a:ext cx="9556920" cy="49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Imaging-based versus sequencing-based: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Box 2"/>
          <p:cNvSpPr/>
          <p:nvPr/>
        </p:nvSpPr>
        <p:spPr>
          <a:xfrm>
            <a:off x="961560" y="1472760"/>
            <a:ext cx="2748960" cy="411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5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50000"/>
              </a:lnSpc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Genes measured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50000"/>
              </a:lnSpc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Resolution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50000"/>
              </a:lnSpc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Cell boundaries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50000"/>
              </a:lnSpc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Sensitivity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50000"/>
              </a:lnSpc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Sample format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50000"/>
              </a:lnSpc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Field of view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50000"/>
              </a:lnSpc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Data you get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50000"/>
              </a:lnSpc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Main headache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50000"/>
              </a:lnSpc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Examples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Box 3"/>
          <p:cNvSpPr/>
          <p:nvPr/>
        </p:nvSpPr>
        <p:spPr>
          <a:xfrm>
            <a:off x="3711600" y="1472760"/>
            <a:ext cx="3898800" cy="411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5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Imaging-based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50000"/>
              </a:lnSpc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Targeted panel, 100s to 5000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50000"/>
              </a:lnSpc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Sub-cellular, single molecule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50000"/>
              </a:lnSpc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Segmentation required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50000"/>
              </a:lnSpc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High per gene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50000"/>
              </a:lnSpc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FFPE or fresh frozen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50000"/>
              </a:lnSpc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Small, imaging time bound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50000"/>
              </a:lnSpc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Molecule coordinates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50000"/>
              </a:lnSpc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Bad segmentation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50000"/>
              </a:lnSpc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MERSCOPE, CosMx, Xenium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Box 4"/>
          <p:cNvSpPr/>
          <p:nvPr/>
        </p:nvSpPr>
        <p:spPr>
          <a:xfrm>
            <a:off x="7611480" y="1472760"/>
            <a:ext cx="3898800" cy="411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5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Sequencing-based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50000"/>
              </a:lnSpc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Whole transcriptome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50000"/>
              </a:lnSpc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Spot, bead or bin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50000"/>
              </a:lnSpc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Deconvolution required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50000"/>
              </a:lnSpc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Lower, capture-limited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50000"/>
              </a:lnSpc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Mostly fresh frozen, FFPE now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50000"/>
              </a:lnSpc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Whole section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50000"/>
              </a:lnSpc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Counts per spot, plus image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50000"/>
              </a:lnSpc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Spots are cell mixtures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50000"/>
              </a:lnSpc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Visium, Visium HD, Slide-seq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TextBox 1"/>
          <p:cNvSpPr/>
          <p:nvPr/>
        </p:nvSpPr>
        <p:spPr>
          <a:xfrm>
            <a:off x="961560" y="1272600"/>
            <a:ext cx="9556920" cy="344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Our workshop: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Tuesday: dissociated scRNA-seq end to end, then CITE-seq and scATAC-seq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Wednesday morning: differential expression, reference mapping and trajectory inference, all on dissociated data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Wednesday afternoon: spatial, both branches. Visium and Visium HD on the sequencing side, MERSCOPE, CosMx and CODEX on the imaging side.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TextBox 1"/>
          <p:cNvSpPr/>
          <p:nvPr/>
        </p:nvSpPr>
        <p:spPr>
          <a:xfrm>
            <a:off x="3637080" y="1771200"/>
            <a:ext cx="10026720" cy="51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Questions we want to answer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TextBox 1"/>
          <p:cNvSpPr/>
          <p:nvPr/>
        </p:nvSpPr>
        <p:spPr>
          <a:xfrm>
            <a:off x="961560" y="1272600"/>
            <a:ext cx="9556920" cy="411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What cell types are here?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discovery question: you do not yet know what is in the sample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Dimension reduction, then graph-based clustering, then marker genes per cluster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resolution parameter is a choice, not a result. Two clusters or five is often defensible either way.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Clusters are hypotheses about cell types, not cell types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TextBox 1"/>
          <p:cNvSpPr/>
          <p:nvPr/>
        </p:nvSpPr>
        <p:spPr>
          <a:xfrm>
            <a:off x="961560" y="1272600"/>
            <a:ext cx="9556920" cy="411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Which known cell type is each cluster?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annotation question, and it is a different problem from finding the clusters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By hand: score canonical markers per cluster and name it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Automatically: classify against a reference atlas, or transfer labels from an annotated dataset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Automated labels are confident even when they are wrong. Always check the markers you would have used by hand.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TextBox 1"/>
          <p:cNvSpPr/>
          <p:nvPr/>
        </p:nvSpPr>
        <p:spPr>
          <a:xfrm>
            <a:off x="961560" y="1272600"/>
            <a:ext cx="9556920" cy="411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Are the samples even comparable?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Usually has to be settled before clustering and annotation can be trusted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Batch correction and integration: make cells of the same type from different samples, donors or chemistries land together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Query-to-reference mapping: place new cells into an existing atlas rather than re-clustering from scratch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failure modes run both ways. Under-correct and every cluster is one sample, over-correct and you have erased the biological difference you came to find.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TextBox 1"/>
          <p:cNvSpPr/>
          <p:nvPr/>
        </p:nvSpPr>
        <p:spPr>
          <a:xfrm>
            <a:off x="961560" y="1272600"/>
            <a:ext cx="9556920" cy="411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How does one cell type differ between conditions, or over time?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commonest question anyone actually asks of the data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Subset to the cell type, then test condition against condition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Testing cell by cell treats cells as independent replicates. They are not: cells from one donor are correlated, and p-values come out absurdly small.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Pseudobulk instead: sum counts per cell type per sample, then use bulk RNA-seq machinery with samples as the unit of replication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extBox 1"/>
          <p:cNvSpPr/>
          <p:nvPr/>
        </p:nvSpPr>
        <p:spPr>
          <a:xfrm>
            <a:off x="961560" y="1272600"/>
            <a:ext cx="9556920" cy="411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Are there more or fewer of a cell type?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Differential abundance, or compositional analysis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Harder than it looks: proportions must sum to one, so one population expanding makes every other one appear to shrink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Also depends entirely on how you drew the cluster boundaries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Milo sidesteps the clustering by testing abundance in overlapping neighbourhoods of the k-nearest-neighbour graph instead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TextBox 1"/>
          <p:cNvSpPr/>
          <p:nvPr/>
        </p:nvSpPr>
        <p:spPr>
          <a:xfrm>
            <a:off x="961560" y="1272600"/>
            <a:ext cx="9556920" cy="411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How do cells order along a continuous process?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For differentiation, activation, or any gradual change, discrete clusters are the wrong model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Trajectory inference orders cells along a path, and pseudotime says how far along a cell sits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Pseudotime is a distance, not a clock. Units are arbitrary and direction comes from biology, not from the algorithm.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RNA velocity uses the unspliced-to-spliced ratio to point at where a cell is heading, and is more fragile than its pictures suggest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Wednesday morning is entirely about this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TextBox 1"/>
          <p:cNvSpPr/>
          <p:nvPr/>
        </p:nvSpPr>
        <p:spPr>
          <a:xfrm>
            <a:off x="961560" y="1272600"/>
            <a:ext cx="9556920" cy="411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What is driving the difference?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Gene set and pathway enrichment: is the gene list you found enriched for something already named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Gene regulatory network inference: which transcription factors have their targets moving together, for example SCENIC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 tumour work, inferred copy number from expression separates malignant cells from the normal cells beside them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Box 1"/>
          <p:cNvSpPr/>
          <p:nvPr/>
        </p:nvSpPr>
        <p:spPr>
          <a:xfrm>
            <a:off x="961560" y="1272600"/>
            <a:ext cx="9556920" cy="411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Which cells are talking to which?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Ligand-receptor analysis: a ligand expressed in one cell type and its receptor in another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This is a prediction from co-expression. Nothing about contact, secretion, or an actual signalling event has been observed.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Two cell types can express a matched pair and sit at opposite ends of the tissue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Which is exactly why spatial data makes this question much stronger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TextBox 1"/>
          <p:cNvSpPr/>
          <p:nvPr/>
        </p:nvSpPr>
        <p:spPr>
          <a:xfrm>
            <a:off x="961560" y="1272600"/>
            <a:ext cx="9556920" cy="411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Where are the cells in the image?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Imaging-based spatial gives molecule coordinates, not cells. You have to draw the boundaries.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Segmentation from a nuclear stain, expanded outward, or learned from cell membranes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Every downstream count depends on it, and mis-assigned transcripts look exactly like doublets or like hybrid cell types that do not exist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Spot-based data has the mirror-image problem: no segmentation to do, but each spot is a mixture, so you deconvolve it into cell-type proportions instead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TextBox 1"/>
          <p:cNvSpPr/>
          <p:nvPr/>
        </p:nvSpPr>
        <p:spPr>
          <a:xfrm>
            <a:off x="961560" y="1272600"/>
            <a:ext cx="9556920" cy="411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How is the tissue organised?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question you can only ask once position is retained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Spatial domains: recurring neighbourhoods of cell types, tumour core versus margin, germinal centre versus mantle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Spatially variable genes: expression structured by location rather than by cell type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Neighbourhood analysis: which cell types are found next to which, more often than chance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TextBox 1"/>
          <p:cNvSpPr/>
          <p:nvPr/>
        </p:nvSpPr>
        <p:spPr>
          <a:xfrm>
            <a:off x="961560" y="1272600"/>
            <a:ext cx="9556920" cy="411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Can I combine different measurements from the same sample?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Paired: RNA and protein, or RNA and ATAC, measured in the same cell. Alignment is given, the work is in weighting the modalities.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Unpaired: the same tissue assayed two ways in different cells. You have to infer which cell corresponds to which.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Mosaic: a set of datasets that overlap partially in modality, which is what atlas building really looks like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Also the bridge between the two spatial branches, and between spatial and dissociated reference data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TextBox 1"/>
          <p:cNvSpPr/>
          <p:nvPr/>
        </p:nvSpPr>
        <p:spPr>
          <a:xfrm>
            <a:off x="961560" y="1272600"/>
            <a:ext cx="9556920" cy="411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honest caveats: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Most of these outputs are inference, not measurement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Cluster resolution is a choice you made, and the number of cell types moves with it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Cell-cell interaction is a prediction from co-expression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Pseudotime is a distance, not a clock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Segmentation error propagates into every count downstream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None of this is a reason not to do it. It is a reason to say what you did.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TextBox 1"/>
          <p:cNvSpPr/>
          <p:nvPr/>
        </p:nvSpPr>
        <p:spPr>
          <a:xfrm>
            <a:off x="961560" y="1272600"/>
            <a:ext cx="9556920" cy="411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References: analysis and best practice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Luecken and Theis 2019, Current best practices in single-cell RNA-seq analysis: a tutorial, Molecular Systems Biology 15(6):e8746. https://doi.org/10.15252/msb.20188746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Heumos et al. 2023, Best practices for single-cell analysis across modalities, Nature Reviews Genetics 24(8):550-572. https://doi.org/10.1038/s41576-023-00586-w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Zappia and Theis 2021, Over 1000 tools reveal trends in the single-cell RNA-seq analysis landscape, Genome Biology 22:301. https://doi.org/10.1186/s13059-021-02519-4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extBox 1"/>
          <p:cNvSpPr/>
          <p:nvPr/>
        </p:nvSpPr>
        <p:spPr>
          <a:xfrm>
            <a:off x="961560" y="1272600"/>
            <a:ext cx="9556920" cy="411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References: technologies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Moses and Pachter 2022, Museum of spatial transcriptomics, Nature Methods 19(5):534-546. https://doi.org/10.1038/s41592-022-01409-2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Palla et al. 2022, Spatial components of molecular tissue biology, Nature Biotechnology 40(3):308-318. https://doi.org/10.1038/s41587-021-01182-1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Dixit et al. 2016, Perturb-Seq: Dissecting Molecular Circuits with Scalable Single-Cell RNA Profiling of Pooled Genetic Screens, Cell 167(7):1853-1866.e17. https://doi.org/10.1016/j.cell.2016.11.038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Replogle et al. 2022, Mapping information-rich genotype-phenotype landscapes with genome-scale Perturb-seq, Cell 185(14):2559-2575.e28. https://doi.org/10.1016/j.cell.2022.05.013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299</TotalTime>
  <Application>LibreOffice/26.2.4.2$Linux_X86_64 LibreOffice_project/620$Build-2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2026-08-04T07:45:43Z</dcterms:modified>
  <cp:revision>13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