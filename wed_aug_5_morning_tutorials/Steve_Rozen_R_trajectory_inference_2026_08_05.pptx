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2BCFB7F-8CD1-450A-8B1F-4F80F65497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7E26258-0448-4197-9340-5375B59EA6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5469142-ED25-48C6-8139-A7A870A34D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969AA0-CFB1-4475-9D76-19D3834A62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E936037-D63E-4C2E-9410-4E3EAFC903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845DAC5-371F-4EFD-AE35-E305C369E2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7304CF8-76E7-4D97-9F1E-9A4ADFE746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64909EA-C015-4053-9E37-1C846FB786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FC355F3-1802-451C-B457-0D23DACD16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C81A871-F049-4318-9183-0CF3C09A8C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6AC361C-1377-4DA5-B00C-2F6C952827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://duke.edu/" TargetMode="External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914400" y="680760"/>
            <a:ext cx="10026720" cy="343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inference: Slingshot and Monocle 3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228960" y="3886200"/>
            <a:ext cx="8457120" cy="1102680"/>
          </a:xfrm>
          <a:prstGeom prst="rect">
            <a:avLst/>
          </a:prstGeom>
          <a:noFill/>
          <a:ln w="3672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tIns="63360" rIns="108360" bIns="63360" anchor="t">
            <a:spAutoFit/>
          </a:bodyPr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Course material for download at: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https://github.com/steverozen/handouts2026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143000" y="1600200"/>
            <a:ext cx="237708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August 5,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Steve Rozen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severozen [at] pm.me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sr110 [at] </a:t>
            </a:r>
            <a:r>
              <a:rPr lang="en-US" sz="1800" b="0" u="sng" strike="noStrike">
                <a:solidFill>
                  <a:schemeClr val="hlink"/>
                </a:solidFill>
                <a:effectLst/>
                <a:uFillTx/>
                <a:latin typeface="Arial"/>
                <a:ea typeface="Arial"/>
                <a:hlinkClick r:id="rId1"/>
              </a:rPr>
              <a:t>duke.edu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457200" y="627480"/>
            <a:ext cx="11429280" cy="41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analysis goal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Consider cells in differentiation process in a single-cell RNA-seq experiment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do not have a real time-course, just cells capture a different stage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inference estimates a path of gradual change and orders cells that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term “pseudotime” is misleading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There is no estimate of time. We just have arbitrary units indicating where along the path a cell sits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957960" y="763920"/>
            <a:ext cx="9556920" cy="24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packages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fits smooth curves through a cluster-level tree, and gives one pseudotime per lineage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fits a principal graph to the UMAP embedding, and gives one pseudotime per cell, measured from a root you pick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1"/>
          <p:cNvSpPr/>
          <p:nvPr/>
        </p:nvSpPr>
        <p:spPr>
          <a:xfrm>
            <a:off x="729360" y="460440"/>
            <a:ext cx="10699920" cy="38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Input: a reduced-dimension embedding plus and cluster labels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 1, getLineages(): minimum spanning tree on the cluster centroids, which gives the branching structure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Stage 2, getCurves(): fit simultaneous principal curves, one per lineage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curves are shrunk toward each other near branch points, so lineages share a trunk and then separate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961560" y="640080"/>
            <a:ext cx="9556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stage 1: the cluster-level tree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2" descr="fig_cluster_tree.png"/>
          <p:cNvPicPr/>
          <p:nvPr/>
        </p:nvPicPr>
        <p:blipFill>
          <a:blip r:embed="rId1"/>
          <a:stretch/>
        </p:blipFill>
        <p:spPr>
          <a:xfrm>
            <a:off x="596160" y="1272600"/>
            <a:ext cx="10999080" cy="454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Box 3"/>
          <p:cNvSpPr/>
          <p:nvPr/>
        </p:nvSpPr>
        <p:spPr>
          <a:xfrm>
            <a:off x="961560" y="5910840"/>
            <a:ext cx="955692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961560" y="640080"/>
            <a:ext cx="9556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stage 2: one smooth curve per lineage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2" descr="fig_slingshot_curves.png"/>
          <p:cNvPicPr/>
          <p:nvPr/>
        </p:nvPicPr>
        <p:blipFill>
          <a:blip r:embed="rId1"/>
          <a:stretch/>
        </p:blipFill>
        <p:spPr>
          <a:xfrm>
            <a:off x="1765800" y="1272600"/>
            <a:ext cx="8659440" cy="48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Box 3"/>
          <p:cNvSpPr/>
          <p:nvPr/>
        </p:nvSpPr>
        <p:spPr>
          <a:xfrm>
            <a:off x="961560" y="6262560"/>
            <a:ext cx="955692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two curves nearly coincide along the trunk, then separate. 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961560" y="1272600"/>
            <a:ext cx="9556920" cy="38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Input: a cell_data_set, built through Monocle's own preprocessing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cluster_cells() assigns both clusters and partitions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learn_graph() fits a principal graph by reversed graph embedding, within each partition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order_cells() sets the root, and pseudotime is the distance along the graph from that root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961560" y="640080"/>
            <a:ext cx="9556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3: the principal graph, fitted to the embedding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2" descr="fig_monocle_graph.png"/>
          <p:cNvPicPr/>
          <p:nvPr/>
        </p:nvPicPr>
        <p:blipFill>
          <a:blip r:embed="rId1"/>
          <a:stretch/>
        </p:blipFill>
        <p:spPr>
          <a:xfrm>
            <a:off x="1195920" y="1272600"/>
            <a:ext cx="9798840" cy="48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3"/>
          <p:cNvSpPr/>
          <p:nvPr/>
        </p:nvSpPr>
        <p:spPr>
          <a:xfrm>
            <a:off x="777600" y="5329800"/>
            <a:ext cx="955692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Grey spokes show each cell assigned to its nearest vertex. Pseudotime is distance from the root along the black edges. Schematic, drawn to show the algorithm. Not package output.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961560" y="1272600"/>
            <a:ext cx="9556920" cy="41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Careful: the black dots mean different things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Slingshot's dots are cluster centroids. Eight clusters, eight dots. You can label each one with a cell type.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3's dots are principal points: landmarks the algorithm invents to build a skeleton through the cells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They are not cells and not clusters, and no single one means anything biologically. Only the shape of the whole graph does.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many is set by ncenter in learn_graph_control, usually far more than you have clusters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They are what you name in order_cells(root_pr_nodes = ...), hence labels like Y_1 and Y_17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961560" y="640080"/>
            <a:ext cx="9556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same picture, two different meanings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2" descr="fig_vertices.png"/>
          <p:cNvPicPr/>
          <p:nvPr/>
        </p:nvPicPr>
        <p:blipFill>
          <a:blip r:embed="rId1"/>
          <a:stretch/>
        </p:blipFill>
        <p:spPr>
          <a:xfrm>
            <a:off x="596160" y="1272600"/>
            <a:ext cx="10999080" cy="454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Box 3"/>
          <p:cNvSpPr/>
          <p:nvPr/>
        </p:nvSpPr>
        <p:spPr>
          <a:xfrm>
            <a:off x="961560" y="5910840"/>
            <a:ext cx="955692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Left: one dot per cell type. Right: 28 landmarks, chosen by ncenter, individually meaningless. 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961560" y="640080"/>
            <a:ext cx="9556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same data, the two models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Picture 2" descr="fig_contrast.png"/>
          <p:cNvPicPr/>
          <p:nvPr/>
        </p:nvPicPr>
        <p:blipFill>
          <a:blip r:embed="rId1"/>
          <a:stretch/>
        </p:blipFill>
        <p:spPr>
          <a:xfrm>
            <a:off x="596160" y="1272600"/>
            <a:ext cx="10999080" cy="454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Box 3"/>
          <p:cNvSpPr/>
          <p:nvPr/>
        </p:nvSpPr>
        <p:spPr>
          <a:xfrm>
            <a:off x="961560" y="5910840"/>
            <a:ext cx="9556920" cy="39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Schematic, drawn to show the algorithm. Not package output.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961560" y="640080"/>
            <a:ext cx="9556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Side by side: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228600" y="1472760"/>
            <a:ext cx="3481920" cy="37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Fitted in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Measured from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Disconnected parts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 expression on pseudotime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Ecosystem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3711600" y="1472760"/>
            <a:ext cx="3898800" cy="41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MST on clusters, then curves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Any reduced space, e.g. 10 PCs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Matrix: cells x lineages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start cluster you supply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Explicit, named lineages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No, it connects everything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No, tree only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included, use tradeSeq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Bioconductor package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7611480" y="1472760"/>
            <a:ext cx="3898800" cy="41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5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Principal graph (SimplePPT)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UMAP embedding, usually 2D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vector per cell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Root nodes you supply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Structure in the graph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Yes, via partitions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Yes, loops can be closed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Built in: graph_test()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Framework, own object type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/>
          <p:nvPr/>
        </p:nvSpPr>
        <p:spPr>
          <a:xfrm>
            <a:off x="961560" y="1272600"/>
            <a:ext cx="9556920" cy="41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1: curves versus a graph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gives a few smooth 1-D paths. That is the developmental picture most people already have in mind.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 gives a piecewise-linear skeleton that can branch repeatedly, close loops, and be disconnected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flexible topology, but less smooth and harder to summarise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961560" y="1272600"/>
            <a:ext cx="9556920" cy="41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2: which space the fit happens in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one with the biggest practical consequences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can fit in, say, 10 PCs and only project to 2D for the figure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 fits the graph in the UMAP embedding itself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UMAP does not preserve global distances, so the trajectory inherits whatever distortion UMAP introduced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Change the UMAP seed or n_neighbors and the trajectory can change shape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961560" y="1272600"/>
            <a:ext cx="9556920" cy="344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Slingshot: a cell before the branch point gets a pseudotime in every downstream lineage, plus a weight for each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is exactly what tradeSeq consumes to ask whether a gene behaves differently in lineage 1 than in lineage 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3: one pseudotime per cell, so branch-specific questions mean subsetting and re-running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961560" y="1272600"/>
            <a:ext cx="9556920" cy="31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Difference 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needs only an embedding and cluster labels, so it drops into a Seurat or scran workflow you already trust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 wants you inside its cell_data_set world: its normalization, its clustering, its batch alignment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Convenient if you start there, awkward if you are converting from Seurat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961560" y="1272600"/>
            <a:ext cx="9556920" cy="41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Gotchas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 will connect anything you give it. Feed it 2 differentiated cell type. e.g. T cells and monocytes and it will draw a lineage between them.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subset to related cells first, and set start.clus explicitly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 infers trajectories within a partition. Cells in other partitions get infinite pseudotime, which is the usual cause of a half-grey UMAP.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both cases you have to provide the root (starting point) based on the biology.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961560" y="1272600"/>
            <a:ext cx="9556920" cy="27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Which to use: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Slingshot: the two stages are easy to reason about, and it composes with the Seurat workflow we used earlier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Reach for Monocle 3 when the topology is genuinely complex, or when you want the built-in DE and gene modules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1"/>
          <p:cNvSpPr/>
          <p:nvPr/>
        </p:nvSpPr>
        <p:spPr>
          <a:xfrm>
            <a:off x="961560" y="1272600"/>
            <a:ext cx="9556920" cy="41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Hands-on tutorials: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Slingshot, NBIS workshop-scRNAseq, Seurat-based, bone marrow data, Slingshot plus tradeSeq: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https://nbisweden.github.io/workshop-scRNAseq/labs/seurat/seurat_07_trajectory.html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Monocle 3, Galaxy Training Network, about 3 hours in 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https://training.galaxyproject.org/training-material/topics/single-cell/tutorials/scrna-case_monocle3-rstudio/tutorial.html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961560" y="1272600"/>
            <a:ext cx="9556920" cy="41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Street et al. 2018, Slingshot: cell lineage and pseudotime inference for single-cell transcriptomics, BMC Genomics. https://doi.org/10.1186/s12864-018-4772-0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Cao et al. 2019, The single-cell transcriptional landscape of mammalian organogenesis, Nature. https://doi.org/10.1038/s41586-019-0969-x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Saelens et al. 2019, A comparison of single-cell trajectory inference methods, Nature Biotechnology. https://doi.org/10.1038/s41587-019-0071-9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 den Berge et al. 2020, Trajectory-based differential expression analysis for single-cell sequencing data, Nature Communications. https://doi.org/10.1038/s41467-020-14766-3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</TotalTime>
  <Application>LibreOffice/26.2.4.2$Linux_X86_64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2026-08-05T18:42:12Z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