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1D1A07-91B5-401C-BE11-C58BBF945A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FA858F1-FE33-486F-9C6C-84B31CAB0E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F746BD6-2133-4A47-B75E-6D7A619D35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9071BB-22D4-4425-8447-9CD08CCCF2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E1ECCA-58BA-491B-8322-657F608C4E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7B24DB6-B862-4737-9872-EE5B264517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554D95B-ED82-4F0B-A789-35E5873C4F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B72471C-7D1A-4E68-A3F3-BE327EB7A4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3F11ADF-0BB5-40BD-A105-CACF1D0547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A19FC1-4BB8-454E-ADAC-E8E03B9E41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AC9C5E5-EE0C-4BBE-AC22-0EF9809356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://duke.edu/" TargetMode="External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680760"/>
            <a:ext cx="10027080" cy="343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Trajectory inference: Slingshot and Monocle 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228960" y="3886200"/>
            <a:ext cx="8457480" cy="256608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t">
            <a:spAutoFit/>
          </a:bodyPr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OnDemand for RStudio: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https://cgbs.cgu.edu.tw/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Course material for download at: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https://github.com/steverozen/handouts2026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143000" y="1600200"/>
            <a:ext cx="23774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August 5,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Steve Rozen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severozen [at] pm.me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sr110 [at] </a:t>
            </a:r>
            <a:r>
              <a:rPr lang="en-US" sz="18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duke.edu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57200" y="627480"/>
            <a:ext cx="11429640" cy="41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Trajectory analysis goal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Consider cells in differentiation process in a single-cell RNA-seq experiment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do not have a real time-course, just cells capture a different stage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Trajectory inference estimates a path of gradual change and orders cells that path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term “pseudotime” is misleading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is no estimate of time. We just have arbitrary units indicating where along the path a cell sits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957960" y="763920"/>
            <a:ext cx="9557280" cy="24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packages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fits smooth curves through a cluster-level tree, and gives one pseudotime per lineage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Monocle 3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fits a principal graph to the UMAP embedding, and gives one pseudotime per cell, measured from a root you pick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729360" y="460440"/>
            <a:ext cx="10700280" cy="38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Input: a reduced-dimension embedding plus and cluster labels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Stage 1, getLineages(): minimum spanning tree on the cluster centroids, which gives the branching structure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Stage 2, getCurves(): fit simultaneous principal curves, one per lineage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curves are shrunk toward each other near branch points, so lineages share a trunk and then separate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961560" y="640080"/>
            <a:ext cx="95572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 stage 1: the cluster-level tree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2" descr="fig_cluster_tree.png"/>
          <p:cNvPicPr/>
          <p:nvPr/>
        </p:nvPicPr>
        <p:blipFill>
          <a:blip r:embed="rId1"/>
          <a:stretch/>
        </p:blipFill>
        <p:spPr>
          <a:xfrm>
            <a:off x="596160" y="1272600"/>
            <a:ext cx="10999440" cy="454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3"/>
          <p:cNvSpPr/>
          <p:nvPr/>
        </p:nvSpPr>
        <p:spPr>
          <a:xfrm>
            <a:off x="961560" y="5910840"/>
            <a:ext cx="9557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Schematic, drawn to show the algorithm. Not package output.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961560" y="640080"/>
            <a:ext cx="95572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 stage 2: one smooth curve per lineage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2" descr="fig_slingshot_curves.png"/>
          <p:cNvPicPr/>
          <p:nvPr/>
        </p:nvPicPr>
        <p:blipFill>
          <a:blip r:embed="rId1"/>
          <a:stretch/>
        </p:blipFill>
        <p:spPr>
          <a:xfrm>
            <a:off x="1765800" y="1272600"/>
            <a:ext cx="8659800" cy="489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3"/>
          <p:cNvSpPr/>
          <p:nvPr/>
        </p:nvSpPr>
        <p:spPr>
          <a:xfrm>
            <a:off x="961560" y="6262560"/>
            <a:ext cx="9557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two curves nearly coincide along the trunk, then separate. Schematic, drawn to show the algorithm. Not package output.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961560" y="1272600"/>
            <a:ext cx="9557280" cy="38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Monocle 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Input: a cell_data_set, built through Monocle's own preprocessing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cluster_cells() assigns both clusters and partitions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learn_graph() fits a principal graph by reversed graph embedding, within each partition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order_cells() sets the root, and pseudotime is the distance along the graph from that root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961560" y="640080"/>
            <a:ext cx="95572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Monocle 3: the principal graph, fitted to the embedding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2" descr="fig_monocle_graph.png"/>
          <p:cNvPicPr/>
          <p:nvPr/>
        </p:nvPicPr>
        <p:blipFill>
          <a:blip r:embed="rId1"/>
          <a:stretch/>
        </p:blipFill>
        <p:spPr>
          <a:xfrm>
            <a:off x="1195920" y="1272600"/>
            <a:ext cx="9799200" cy="489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Box 3"/>
          <p:cNvSpPr/>
          <p:nvPr/>
        </p:nvSpPr>
        <p:spPr>
          <a:xfrm>
            <a:off x="777600" y="5329800"/>
            <a:ext cx="95572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Grey spokes show each cell assigned to its nearest vertex. Pseudotime is distance from the root along the black edges. Schematic, drawn to show the algorithm. Not package output.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961560" y="1272600"/>
            <a:ext cx="955728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Careful: the black dots mean different things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Slingshot's dots are cluster centroids. Eight clusters, eight dots. You can label each one with a cell type.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Monocle 3's dots are principal points: landmarks the algorithm invents to build a skeleton through the cells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They are not cells and not clusters, and no single one means anything biologically. Only the shape of the whole graph does.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many is set by ncenter in learn_graph_control, usually far more than you have clusters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They are what you name in order_cells(root_pr_nodes = ...), hence labels like Y_1 and Y_17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961560" y="640080"/>
            <a:ext cx="95572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same picture, two different meanings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2" descr="fig_vertices.png"/>
          <p:cNvPicPr/>
          <p:nvPr/>
        </p:nvPicPr>
        <p:blipFill>
          <a:blip r:embed="rId1"/>
          <a:stretch/>
        </p:blipFill>
        <p:spPr>
          <a:xfrm>
            <a:off x="596160" y="1272600"/>
            <a:ext cx="10999440" cy="454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3"/>
          <p:cNvSpPr/>
          <p:nvPr/>
        </p:nvSpPr>
        <p:spPr>
          <a:xfrm>
            <a:off x="961560" y="5910840"/>
            <a:ext cx="9557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Left: one dot per cell type. Right: 28 landmarks, chosen by ncenter, individually meaningless. Schematic, drawn to show the algorithm. Not package output.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961560" y="640080"/>
            <a:ext cx="95572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same data, the two models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2" descr="fig_contrast.png"/>
          <p:cNvPicPr/>
          <p:nvPr/>
        </p:nvPicPr>
        <p:blipFill>
          <a:blip r:embed="rId1"/>
          <a:stretch/>
        </p:blipFill>
        <p:spPr>
          <a:xfrm>
            <a:off x="596160" y="1272600"/>
            <a:ext cx="10999440" cy="454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3"/>
          <p:cNvSpPr/>
          <p:nvPr/>
        </p:nvSpPr>
        <p:spPr>
          <a:xfrm>
            <a:off x="961560" y="5910840"/>
            <a:ext cx="9557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Schematic, drawn to show the algorithm. Not package output.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961560" y="640080"/>
            <a:ext cx="95572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Side by side: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228600" y="1472760"/>
            <a:ext cx="3482280" cy="37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Topology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Fitted 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Measured from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Branches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Disconnected parts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Cycles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 expression on pseudotime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Ecosystem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3711600" y="1472760"/>
            <a:ext cx="389916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MST on clusters, then curves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Any reduced space, e.g. 10 PCs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Matrix: cells x lineages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start cluster you supply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Explicit, named lineages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No, it connects everything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No, tree only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included, use tradeSeq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Bioconductor package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7611480" y="1472760"/>
            <a:ext cx="389916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Monocle 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Principal graph (SimplePPT)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UMAP embedding, usually 2D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vector per cell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Root nodes you supply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Structure in the graph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Yes, via partitions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Yes, loops can be closed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Built in: graph_test()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Framework, own object type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961560" y="1272600"/>
            <a:ext cx="955728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Difference 1: curves versus a graph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 gives a few smooth 1-D paths. That is the developmental picture most people already have in mind.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Monocle 3 gives a piecewise-linear skeleton that can branch repeatedly, close loops, and be disconnected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flexible topology, but less smooth and harder to summarise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961560" y="1272600"/>
            <a:ext cx="955728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Difference 2: which space the fit happens in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one with the biggest practical consequences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 can fit in, say, 10 PCs and only project to 2D for the figure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Monocle 3 fits the graph in the UMAP embedding itself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UMAP does not preserve global distances, so the trajectory inherits whatever distortion UMAP introduced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UMAP seed or n_neighbors and the trajectory can change shape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961560" y="1272600"/>
            <a:ext cx="9557280" cy="34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Difference 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Slingshot: a cell before the branch point gets a pseudotime in every downstream lineage, plus a weight for each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is exactly what tradeSeq consumes to ask whether a gene behaves differently in lineage 1 than in lineage 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Monocle 3: one pseudotime per cell, so branch-specific questions mean subsetting and re-running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961560" y="1272600"/>
            <a:ext cx="9557280" cy="31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Difference 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 needs only an embedding and cluster labels, so it drops into a Seurat or scran workflow you already trust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Monocle 3 wants you inside its cell_data_set world: its normalization, its clustering, its batch alignment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Convenient if you start there, awkward if you are converting from Seurat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961560" y="1272600"/>
            <a:ext cx="9557280" cy="41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 will connect anything you give it. Feed it 2 differentiated cell type. e.g. T cells and monocytes and it will draw a lineage between them.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subset to related cells first, and set start.clus explicitly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Monocle 3 infers trajectories within a partition. Cells in other partitions get infinite pseudotime, which is the usual cause of a half-grey UMAP.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both cases you have to provide the root (starting point) based on the biology.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961560" y="1272600"/>
            <a:ext cx="9557280" cy="27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to use: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with Slingshot: the two stages are easy to reason about, and it composes with the Seurat workflow we used earlier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Reach for Monocle 3 when the topology is genuinely complex, or when you want the built-in DE and gene modules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961560" y="1272600"/>
            <a:ext cx="955728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Hands-on tutorials: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Slingshot, NBIS workshop-scRNAseq, Seurat-based, bone marrow data, Slingshot plus tradeSeq: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https://nbisweden.github.io/workshop-scRNAseq/labs/seurat/seurat_07_trajectory.html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Monocle 3, Galaxy Training Network, about 3 hours in 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https://training.galaxyproject.org/training-material/topics/single-cell/tutorials/scrna-case_monocle3-rstudio/tutorial.html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961560" y="1272600"/>
            <a:ext cx="955728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Street et al. 2018, Slingshot: cell lineage and pseudotime inference for single-cell transcriptomics, BMC Genomics. https://doi.org/10.1186/s12864-018-4772-0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Cao et al. 2019, The single-cell transcriptional landscape of mammalian organogenesis, Nature. https://doi.org/10.1038/s41586-019-0969-x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Saelens et al. 2019, A comparison of single-cell trajectory inference methods, Nature Biotechnology. https://doi.org/10.1038/s41587-019-0071-9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Van den Berge et al. 2020, Trajectory-based differential expression analysis for single-cell sequencing data, Nature Communications. https://doi.org/10.1038/s41467-020-14766-3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2026-08-05T10:27:42Z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