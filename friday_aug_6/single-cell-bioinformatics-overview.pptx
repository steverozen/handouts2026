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88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880" cy="149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0397ACD-4986-4D56-87D4-0FEC266D84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548D910-EB21-4684-8555-4E89BB6E28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76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76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20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20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957542A-2A29-4DD1-84EE-3036B82F4F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0785AB8-FD3A-424A-BA5D-C6FC2A3B10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8C1982D-294F-4644-AB58-73A1BF0CBC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5640" cy="11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12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5640" cy="468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65CF30-0DEF-449E-AF1C-58FE0BEC11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880" cy="5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880" cy="80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EFB721-0F7D-46AF-8EC4-F71B50CB87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880" cy="146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1780C1-663E-466E-9AC6-670224D2B3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0E6F383-8DC2-4275-8700-0FF6887F91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88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40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47DDF9-3ECC-4CF7-B809-3930AC3AB3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45E85D2-DCF9-4BF0-B782-EDBCD30F6E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duke.edu/" TargetMode="External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www.10xgenomics.com/blog/the-next-generation-of-single-cell-rna-seq-an-introduction-to-gem-x-technology" TargetMode="External"/><Relationship Id="rId3" Type="http://schemas.openxmlformats.org/officeDocument/2006/relationships/hyperlink" Target="https://cdn.10xgenomics.com/image/upload/f_auto,q_auto,w_900,dpr_2.0/v1709753672/blog/GEM-X%20Launch%20blog/vertical_flipped_GEM96_H1975_high_4_S0001.gif" TargetMode="External"/><Relationship Id="rId4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pachterlab.github.io/LP_2021/index.html" TargetMode="External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85800" y="307080"/>
            <a:ext cx="111690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 of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single-cell experiments and bioinformatics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rcRect l="6160" t="0" r="13100" b="12758"/>
          <a:stretch/>
        </p:blipFill>
        <p:spPr>
          <a:xfrm>
            <a:off x="5029200" y="1494000"/>
            <a:ext cx="7085160" cy="318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592920" y="1857240"/>
            <a:ext cx="23770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August 7,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 Rozen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severozen [at] pm.me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sr110 [at] </a:t>
            </a:r>
            <a:r>
              <a:rPr lang="en-US" sz="18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duke.edu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57200" y="4343400"/>
            <a:ext cx="8457120" cy="110196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t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Course material for download at: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https://github.com/steverozen/handouts2026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961560" y="1272600"/>
            <a:ext cx="9555480" cy="21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key dimensions across different types of single-cell omics: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do the different technologies actually measure?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2. What scientific questions can we ask once we have the data?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718920" y="777600"/>
            <a:ext cx="10025280" cy="22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technologies and what they measure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Disaggregated / non-spatial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Spatial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5"/>
          <p:cNvSpPr/>
          <p:nvPr/>
        </p:nvSpPr>
        <p:spPr>
          <a:xfrm>
            <a:off x="914400" y="320760"/>
            <a:ext cx="9555480" cy="35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Disaggregated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Cells are dissociated out of the tissue or organoid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 info is lost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throughput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cell is measured the same 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914400" y="320760"/>
            <a:ext cx="9555480" cy="44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Disaggregated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Transcriptome: single cell RNA-seq. The most common modality.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Chromatin accessibility: single cell ATAC-seq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Surface protein: CITE-seq, antibody-derived tags read out as extra from each cell along side it sRNA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Immune receptor repertoire: single-cell TCR-seq and BCR-seq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Perturb-seq: carry out a separate experiment in each cell and read out the transcriptomic changes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69;p32"/>
          <p:cNvPicPr/>
          <p:nvPr/>
        </p:nvPicPr>
        <p:blipFill>
          <a:blip r:embed="rId1"/>
          <a:stretch/>
        </p:blipFill>
        <p:spPr>
          <a:xfrm>
            <a:off x="2529360" y="349200"/>
            <a:ext cx="7017840" cy="35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70;p 2"/>
          <p:cNvSpPr/>
          <p:nvPr/>
        </p:nvSpPr>
        <p:spPr>
          <a:xfrm>
            <a:off x="843120" y="5494680"/>
            <a:ext cx="1021716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tIns="33840" rIns="67680" bIns="338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https://www.10xgenomics.com/blog/the-next-generation-of-single-cell-rna-seq-an-introduction-to-gem-x-technology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71;p 2"/>
          <p:cNvSpPr/>
          <p:nvPr/>
        </p:nvSpPr>
        <p:spPr>
          <a:xfrm>
            <a:off x="734760" y="4278240"/>
            <a:ext cx="934344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https://cdn.10xgenomics.com/image/upload/f_auto,q_auto,w_900,dpr_2.0/v1709753672/blog/GEM-X%20Launch%20blog/vertical_flipped_GEM96_H1975_high_4_S0001.gif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72;p 2"/>
          <p:cNvSpPr/>
          <p:nvPr/>
        </p:nvSpPr>
        <p:spPr>
          <a:xfrm>
            <a:off x="734760" y="3233160"/>
            <a:ext cx="493488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GEM = "Gel beads in emulsion"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28600" y="685800"/>
            <a:ext cx="230076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10X technology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77;p33"/>
          <p:cNvPicPr/>
          <p:nvPr/>
        </p:nvPicPr>
        <p:blipFill>
          <a:blip r:embed="rId1"/>
          <a:stretch/>
        </p:blipFill>
        <p:spPr>
          <a:xfrm>
            <a:off x="-92880" y="75240"/>
            <a:ext cx="7636680" cy="316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78;p 2"/>
          <p:cNvPicPr/>
          <p:nvPr/>
        </p:nvPicPr>
        <p:blipFill>
          <a:blip r:embed="rId2"/>
          <a:stretch/>
        </p:blipFill>
        <p:spPr>
          <a:xfrm>
            <a:off x="6972480" y="3774240"/>
            <a:ext cx="2448360" cy="337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Google Shape;179;p 2"/>
          <p:cNvSpPr/>
          <p:nvPr/>
        </p:nvSpPr>
        <p:spPr>
          <a:xfrm rot="5400000">
            <a:off x="7820280" y="970200"/>
            <a:ext cx="997560" cy="88596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360">
            <a:solidFill>
              <a:srgbClr val="0E2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Google Shape;180;p 2"/>
          <p:cNvPicPr/>
          <p:nvPr/>
        </p:nvPicPr>
        <p:blipFill>
          <a:blip r:embed="rId3"/>
          <a:srcRect l="0" t="0" r="0" b="22157"/>
          <a:stretch/>
        </p:blipFill>
        <p:spPr>
          <a:xfrm>
            <a:off x="7543800" y="2057400"/>
            <a:ext cx="3403080" cy="19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81;p 2"/>
          <p:cNvSpPr/>
          <p:nvPr/>
        </p:nvSpPr>
        <p:spPr>
          <a:xfrm>
            <a:off x="9423720" y="4623840"/>
            <a:ext cx="253548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Short-read sequencer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914400" y="690840"/>
            <a:ext cx="9555480" cy="44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cells versus single nuclei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cells: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more RNA per cell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more cytoplasmic and mitochondrial reads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dissociation stress shows up in the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Nuclei: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works on frozen and hard-to-dissociate tissue such as brain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RNA in nuclei than in whole cells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enriched for unspliced transcripts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685800" y="457200"/>
            <a:ext cx="9555480" cy="54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Perturb-Seq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else we discuss is observational. You take a snapshot and infer what is driving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Perturb-seq puts a pooled CRISPR screen and scRNA-seq in the same experiment: each cell carries a guide RNA, and the guide is read out alongside the transcriptome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readout is not survival or one reporter, it is the whole transcriptional consequence of knocking out that gene, per cell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took this genome-scale: every expressed gene knocked down, across 2.5 million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Related idea, heritable barcodes instead of guides, and you recover lineage rather than perturbation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685800" y="670320"/>
            <a:ext cx="9555480" cy="36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Analyzing perturb-seq data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assign the cell label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don’t have to cluster anything.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turns 'what is regulating this?' from an inference into a measurement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Problems: guide assignment is noisy, multiplets carry two guides, and knockdown is partial and variable between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914400" y="690840"/>
            <a:ext cx="9555480" cy="52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Molecular measurement is tied back to tissue architecture, at the cost of either gene coverage or resolution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Major subtypes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https://pachterlab.github.io/LP_2021/index.html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(Jan 2026)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Molecules are detected in place in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MERFISH / Vizgen MERSCOPE, Nanostring CosMx, 10x Xenium, Akoya CODEX for protein.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transcripts are captured from tissue onto a barcoded surface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remove tissue, build library, and sequence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Visium, Visium HD, Slide-seq.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1966320" y="320400"/>
            <a:ext cx="8777880" cy="585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1600560" y="6232320"/>
            <a:ext cx="9829800" cy="57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https://pachterlab.github.io/LP_2021/current-analysis.html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763560" y="721800"/>
            <a:ext cx="7694640" cy="439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 txBox="1"/>
          <p:nvPr/>
        </p:nvSpPr>
        <p:spPr>
          <a:xfrm>
            <a:off x="1600200" y="5368320"/>
            <a:ext cx="9829800" cy="103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https://pachterlab.github.io/LP_2021/current-analysis.html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14400" y="457200"/>
            <a:ext cx="955548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versus sequencing-based single-cell spatial omics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961560" y="1292760"/>
            <a:ext cx="2747520" cy="46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Genes measured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 boundaries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Field of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you 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 headache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3711600" y="1292760"/>
            <a:ext cx="3897360" cy="46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Targeted panel, 100s to 5000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Sub-cellular, single molecule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required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per gene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FFPE or fresh frozen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Small, imaging time bound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Molecule coordinates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Bad segmentation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MERSCOPE, CosMx, Xenium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7611480" y="1292760"/>
            <a:ext cx="3897360" cy="46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transcriptome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Spot, bead or bin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Deconvolution required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Lower, capture-limited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Mostly fresh frozen, FFPE 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section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Counts per spot, plus 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Spots are cell mixtures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Visium, Visium HD, Slide-seq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1143000" y="2546280"/>
            <a:ext cx="100252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What scientific questions can we ask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once we have the data?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961560" y="914400"/>
            <a:ext cx="9555480" cy="45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cell types are here?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key question; probably the first one you want to answer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Approach: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Dimension reduction on intial measurement space (e.g transcript abundance)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Graph-based clustering in the reduce-dimension space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Use marker genes (genes that are characteristic of specific cell types to identify what cell type(s) each cluster represents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known cell type is each cluster?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annotation question, and it is a different problem from finding the clusters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hand: score canonical markers per cluster and name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Automatically: classify against a reference atlas, or transfer labels from an annotated dataset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Automated labels are confident even when they are wrong. Always check the markers you would have used by hand.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961560" y="117324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samples even comparable?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Usually has to be settled before clustering and annotation can be trusted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Batch correction and integration: make cells of the same type from different samples, donors or chemistries land together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Query-to-reference mapping: place new cells into an existing atlas rather than re-clustering from scratch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failure modes run both ways. Under-correct and every cluster is one sample, over-correct and you have erased the biological difference you came to find.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does one cell type differ between conditions, or over time?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commonest question anyone actually asks of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Subset to the cell type, then test condition against condition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cell by cell treats cells as independent replicates. They are not: cells from one donor are correlated, and p-values come out absurdly small.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Pseudobulk instead: sum counts per cell type per sample, then use bulk RNA-seq machinery with samples as the unit of replication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there more or fewer of a cell type?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Differential abundance, or compositional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Harder than it looks: proportions must sum to one, so one population expanding makes every other one appear to shrink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depends entirely on how you drew the cluster boundaries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Milo sidesteps the clustering by testing abundance in overlapping neighbourhoods of the k-nearest-neighbour graph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961560" y="1272600"/>
            <a:ext cx="9555480" cy="43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 cells order along a continuous process?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differentiation, activation, or any gradual change, discrete clusters are the wrong model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Trajectory inference orders cells along a path, and pseudotime says how far along a cell sits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clock. Units are arbitrary and direction comes from biology, not from the algorithm.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RNA velocity uses the unspliced-to-spliced ratio to point at where a cell is heading, and is more fragile than its pictures suggest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driving the difference?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set and pathway enrichment: is the gene list you found enriched for something already named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regulatory network inference: which transcription factors have their targets moving together, for example SCENIC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tumour work, inferred copy number from expression separates malignant cells from the normal cells beside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cells are talking to which?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Ligand-receptor analysis: a ligand expressed in one cell type and its receptor in another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prediction from co-expression. Nothing about contact, secretion, or an actual signalling event has been observed.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cell types can express a matched pair and sit at opposite ends of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is exactly why spatial data makes this question much stronger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are the cells in the image?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spatial gives molecule coordinates, not cells. You have to draw the boundaries.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from a nuclear stain, expanded outward, or learned from cell membranes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downstream count depends on it, and mis-assigned transcripts look exactly like doublets or like hybrid cell types that do not exist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Spot-based data has the mirror-image problem: no segmentation to do, but each spot is a mixture, so you deconvolve it into cell-type proportions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is the tissue organised?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question you can only ask once position is retained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 domains: recurring neighbourhoods of cell types, tumour core versus margin, germinal centre versus mantle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Spatially variable genes: expression structured by location rather than by cell type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Neighbourhood analysis: which cell types are found next to which, more often than chance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I combine different measurements from the same sample?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Paired: RNA and protein, or RNA and ATAC, measured in the same cell. Alignment is given, the work is in weighting the modalities.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Unpaired: the same tissue assayed two ways in different cells. You have to infer which cell corresponds to which.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Mosaic: a set of datasets that overlap partially in modality, which is what atlas building really looks like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the bridge between the two spatial branches, and between spatial and dissociated reference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961560" y="1272600"/>
            <a:ext cx="9555480" cy="41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Caveats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of these outputs are inference, not measurement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 resolution is a choice you made, and the number of cell types moves with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Cell-cell interaction is a prediction from co-expression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error propagates into every count downstream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None of this is a reason not to do it. It is a reason to say what you did.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analysis and best practice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Luecken and Theis 2019, Current best practices in single-cell RNA-seq analysis: a tutorial, Molecular Systems Biology 15(6):e8746. https://doi.org/10.15252/msb.20188746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Heumos et al. 2023, Best practices for single-cell analysis across modalities, Nature Reviews Genetics 24(8):550-572. https://doi.org/10.1038/s41576-023-00586-w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Zappia and Theis 2021, Over 1000 tools reveal trends in the single-cell RNA-seq analysis landscape, Genome Biology 22:301. https://doi.org/10.1186/s13059-021-02519-4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961560" y="1272600"/>
            <a:ext cx="9555480" cy="41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technologies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Moses and Pachter 2022, Museum of spatial transcriptomics, Nature Methods 19(5):534-546. https://doi.org/10.1038/s41592-022-01409-2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Palla et al. 2022, Spatial components of molecular tissue biology, Nature Biotechnology 40(3):308-318. https://doi.org/10.1038/s41587-021-01182-1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Dixit et al. 2016, Perturb-Seq: Dissecting Molecular Circuits with Scalable Single-Cell RNA Profiling of Pooled Genetic Screens, Cell 167(7):1853-1866.e17. https://doi.org/10.1016/j.cell.2016.11.038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2022, Mapping information-rich genotype-phenotype landscapes with genome-scale Perturb-seq, Cell 185(14):2559-2575.e28. https://doi.org/10.1016/j.cell.2022.05.013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2026-08-07T08:48:25Z</dcterms:modified>
  <cp:revision>44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