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6.xml" ContentType="application/vnd.openxmlformats-officedocument.presentationml.slide+xml"/>
  <Override PartName="/ppt/slides/slide18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7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9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1E482A7-0E9A-4798-913A-16F62D64F22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9EF6C5-6386-4122-8E9C-C9AFAB2A68D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C335C5-46E1-4D09-8EB3-1FF68D5394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2BCB35-880E-4455-91A4-C258D9317B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F0E543-7F57-4860-9FFE-050594F791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411A250-727C-476B-9728-14CF80B413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0D6132-349F-4794-981C-DF8735D357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699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280" cy="397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280" cy="114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280" cy="397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6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8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13.png"/><Relationship Id="rId5" Type="http://schemas.openxmlformats.org/officeDocument/2006/relationships/image" Target="../media/image13.png"/><Relationship Id="rId6" Type="http://schemas.openxmlformats.org/officeDocument/2006/relationships/image" Target="../media/image13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33;p27"/>
          <p:cNvSpPr/>
          <p:nvPr/>
        </p:nvSpPr>
        <p:spPr>
          <a:xfrm>
            <a:off x="914400" y="460080"/>
            <a:ext cx="8504640" cy="11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33840" rIns="67680" bIns="33840" anchor="t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 gentle bioinformatics on-ramp: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R, python, bash, IDEs, AI coding </a:t>
            </a:r>
            <a:r>
              <a:rPr lang="en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agents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134;p27"/>
          <p:cNvSpPr/>
          <p:nvPr/>
        </p:nvSpPr>
        <p:spPr>
          <a:xfrm>
            <a:off x="987120" y="1600200"/>
            <a:ext cx="3123720" cy="10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33840" rIns="67680" bIns="33840" anchor="t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August 3, 2026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 Rozen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steverozen [at] pm.me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sr110 [at] duke.edu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924840" y="3521160"/>
            <a:ext cx="524700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https://tinyurl.com/47vvh447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"/>
          <p:cNvPicPr/>
          <p:nvPr/>
        </p:nvPicPr>
        <p:blipFill>
          <a:blip r:embed="rId1"/>
          <a:stretch/>
        </p:blipFill>
        <p:spPr>
          <a:xfrm>
            <a:off x="7086600" y="2743200"/>
            <a:ext cx="3283560" cy="3283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>
            <a:off x="685800" y="914400"/>
            <a:ext cx="10971360" cy="60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Workshop objectives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Provide hands-on orientation on computational infrastructure needed for bioinformatics today: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RStudio and 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Bash (the Linux command shell)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Directories and files and file location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an HPC (high performance computing) cluster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Moving large files around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agentic coding agents effectively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914400" y="685800"/>
            <a:ext cx="10513800" cy="15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and RStudio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Starting RStudio in “OnDemand”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>
            <a:off x="914400" y="457200"/>
            <a:ext cx="776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RStudio from OnDemand or from your laptop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"/>
          <p:cNvPicPr/>
          <p:nvPr/>
        </p:nvPicPr>
        <p:blipFill>
          <a:blip r:embed="rId1"/>
          <a:stretch/>
        </p:blipFill>
        <p:spPr>
          <a:xfrm>
            <a:off x="256320" y="276840"/>
            <a:ext cx="11754000" cy="6320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"/>
          <p:cNvPicPr/>
          <p:nvPr/>
        </p:nvPicPr>
        <p:blipFill>
          <a:blip r:embed="rId1"/>
          <a:stretch/>
        </p:blipFill>
        <p:spPr>
          <a:xfrm>
            <a:off x="243000" y="276840"/>
            <a:ext cx="11754000" cy="6320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4000" cy="6640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4000" cy="6640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"/>
          <p:cNvPicPr/>
          <p:nvPr/>
        </p:nvPicPr>
        <p:blipFill>
          <a:blip r:embed="rId1"/>
          <a:stretch/>
        </p:blipFill>
        <p:spPr>
          <a:xfrm>
            <a:off x="228600" y="228600"/>
            <a:ext cx="11592000" cy="620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1"/>
          <p:cNvSpPr/>
          <p:nvPr/>
        </p:nvSpPr>
        <p:spPr>
          <a:xfrm>
            <a:off x="502920" y="255960"/>
            <a:ext cx="11154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OnDemand starts an RStudio session on the HPC cluster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Rounded Rectangle 2"/>
          <p:cNvSpPr/>
          <p:nvPr/>
        </p:nvSpPr>
        <p:spPr>
          <a:xfrm>
            <a:off x="365760" y="1005840"/>
            <a:ext cx="3519000" cy="5073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595959"/>
                </a:solidFill>
                <a:effectLst/>
                <a:uFillTx/>
                <a:latin typeface="Arial"/>
              </a:rPr>
              <a:t>YOUR LAPTOP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Rounded Rectangle 3"/>
          <p:cNvSpPr/>
          <p:nvPr/>
        </p:nvSpPr>
        <p:spPr>
          <a:xfrm>
            <a:off x="640080" y="1572840"/>
            <a:ext cx="2970360" cy="13244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Browser tab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cgbs.cgu.edu.tw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Interactive Apps → </a:t>
            </a:r>
            <a:r>
              <a:rPr lang="en-US" sz="13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RStudio</a:t>
            </a: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 Server: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choose hours, cores, memory, Launch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Rounded Rectangle 4"/>
          <p:cNvSpPr/>
          <p:nvPr/>
        </p:nvSpPr>
        <p:spPr>
          <a:xfrm>
            <a:off x="640080" y="4160520"/>
            <a:ext cx="2970360" cy="169020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Browser tab 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The RStudio Server interface: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console, editor, plots, files.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Looks like desktop RStudio, but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every keystroke runs on the node.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Rounded Rectangle 5"/>
          <p:cNvSpPr/>
          <p:nvPr/>
        </p:nvSpPr>
        <p:spPr>
          <a:xfrm>
            <a:off x="4526280" y="1005840"/>
            <a:ext cx="7268040" cy="5073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595959"/>
                </a:solidFill>
                <a:effectLst/>
                <a:uFillTx/>
                <a:latin typeface="Arial"/>
              </a:rPr>
              <a:t>HPC CLUSTER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Rounded Rectangle 6"/>
          <p:cNvSpPr/>
          <p:nvPr/>
        </p:nvSpPr>
        <p:spPr>
          <a:xfrm>
            <a:off x="4800600" y="1572840"/>
            <a:ext cx="3061800" cy="13244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Login or designated node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Open OnDemand web server.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Turns your form into a SLURM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job and proxies traffic later.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Rounded Rectangle 7"/>
          <p:cNvSpPr/>
          <p:nvPr/>
        </p:nvSpPr>
        <p:spPr>
          <a:xfrm>
            <a:off x="8412480" y="1572840"/>
            <a:ext cx="3107520" cy="1324440"/>
          </a:xfrm>
          <a:prstGeom prst="roundRect">
            <a:avLst>
              <a:gd name="adj" fmla="val 6000"/>
            </a:avLst>
          </a:prstGeom>
          <a:solidFill>
            <a:srgbClr val="FDECDD"/>
          </a:solidFill>
          <a:ln w="19050">
            <a:solidFill>
              <a:srgbClr val="C0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400" b="1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SLURM scheduler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Queues the job, waits for 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node with free cores and RAM,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then dispatches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Rounded Rectangle 8"/>
          <p:cNvSpPr/>
          <p:nvPr/>
        </p:nvSpPr>
        <p:spPr>
          <a:xfrm>
            <a:off x="4800600" y="3703320"/>
            <a:ext cx="6719400" cy="214740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Compute node (e.g. node07)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Rounded Rectangle 9"/>
          <p:cNvSpPr/>
          <p:nvPr/>
        </p:nvSpPr>
        <p:spPr>
          <a:xfrm>
            <a:off x="5074920" y="4224600"/>
            <a:ext cx="6170760" cy="146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Container (Apptainer / Singularity)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rserver process + R + your packages, running as you,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with your home directory and project files mounted.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2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Listens on a private port on this node only.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" name="Connector 7"/>
          <p:cNvCxnSpPr/>
          <p:nvPr/>
        </p:nvCxnSpPr>
        <p:spPr>
          <a:xfrm>
            <a:off x="3639240" y="1993320"/>
            <a:ext cx="1135080" cy="1440"/>
          </a:xfrm>
          <a:prstGeom prst="straightConnector1">
            <a:avLst/>
          </a:prstGeom>
          <a:ln w="31750">
            <a:solidFill>
              <a:srgbClr val="2E74B5"/>
            </a:solidFill>
            <a:round/>
            <a:tailEnd len="med" type="triangle" w="med"/>
          </a:ln>
        </p:spPr>
      </p:cxnSp>
      <p:sp>
        <p:nvSpPr>
          <p:cNvPr id="34" name="Oval 6"/>
          <p:cNvSpPr/>
          <p:nvPr/>
        </p:nvSpPr>
        <p:spPr>
          <a:xfrm>
            <a:off x="3913560" y="1645920"/>
            <a:ext cx="291240" cy="291240"/>
          </a:xfrm>
          <a:prstGeom prst="ellipse">
            <a:avLst/>
          </a:prstGeom>
          <a:solidFill>
            <a:srgbClr val="2E74B5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Box 9"/>
          <p:cNvSpPr/>
          <p:nvPr/>
        </p:nvSpPr>
        <p:spPr>
          <a:xfrm>
            <a:off x="3291840" y="1280160"/>
            <a:ext cx="191880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2E74B5"/>
                </a:solidFill>
                <a:effectLst/>
                <a:uFillTx/>
                <a:latin typeface="Arial"/>
              </a:rPr>
              <a:t>request session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" name="Connector 8"/>
          <p:cNvCxnSpPr/>
          <p:nvPr/>
        </p:nvCxnSpPr>
        <p:spPr>
          <a:xfrm>
            <a:off x="7881840" y="2230920"/>
            <a:ext cx="504360" cy="1440"/>
          </a:xfrm>
          <a:prstGeom prst="straightConnector1">
            <a:avLst/>
          </a:prstGeom>
          <a:ln w="31750">
            <a:solidFill>
              <a:srgbClr val="2E74B5"/>
            </a:solidFill>
            <a:round/>
            <a:tailEnd len="med" type="triangle" w="med"/>
          </a:ln>
        </p:spPr>
      </p:cxnSp>
      <p:sp>
        <p:nvSpPr>
          <p:cNvPr id="37" name="Oval 7"/>
          <p:cNvSpPr/>
          <p:nvPr/>
        </p:nvSpPr>
        <p:spPr>
          <a:xfrm>
            <a:off x="7973640" y="2395800"/>
            <a:ext cx="291240" cy="291240"/>
          </a:xfrm>
          <a:prstGeom prst="ellipse">
            <a:avLst/>
          </a:prstGeom>
          <a:solidFill>
            <a:srgbClr val="C05500"/>
          </a:solidFill>
          <a:ln>
            <a:solidFill>
              <a:srgbClr val="C0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38" name="Connector 9"/>
          <p:cNvCxnSpPr/>
          <p:nvPr/>
        </p:nvCxnSpPr>
        <p:spPr>
          <a:xfrm>
            <a:off x="9966960" y="2926080"/>
            <a:ext cx="1440" cy="750960"/>
          </a:xfrm>
          <a:prstGeom prst="straightConnector1">
            <a:avLst/>
          </a:prstGeom>
          <a:ln w="31750">
            <a:solidFill>
              <a:srgbClr val="C05500"/>
            </a:solidFill>
            <a:round/>
            <a:tailEnd len="med" type="triangle" w="med"/>
          </a:ln>
        </p:spPr>
      </p:cxnSp>
      <p:sp>
        <p:nvSpPr>
          <p:cNvPr id="39" name="Oval 8"/>
          <p:cNvSpPr/>
          <p:nvPr/>
        </p:nvSpPr>
        <p:spPr>
          <a:xfrm>
            <a:off x="10058400" y="3154680"/>
            <a:ext cx="291240" cy="291240"/>
          </a:xfrm>
          <a:prstGeom prst="ellipse">
            <a:avLst/>
          </a:prstGeom>
          <a:solidFill>
            <a:srgbClr val="C05500"/>
          </a:solidFill>
          <a:ln>
            <a:solidFill>
              <a:srgbClr val="C0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Box 10"/>
          <p:cNvSpPr/>
          <p:nvPr/>
        </p:nvSpPr>
        <p:spPr>
          <a:xfrm>
            <a:off x="6949440" y="3127320"/>
            <a:ext cx="30160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start container on a node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" name="Connector 10"/>
          <p:cNvCxnSpPr/>
          <p:nvPr/>
        </p:nvCxnSpPr>
        <p:spPr>
          <a:xfrm flipH="1">
            <a:off x="3639240" y="2651760"/>
            <a:ext cx="1135080" cy="1440"/>
          </a:xfrm>
          <a:prstGeom prst="straightConnector1">
            <a:avLst/>
          </a:prstGeom>
          <a:ln w="31750">
            <a:solidFill>
              <a:srgbClr val="2E74B5"/>
            </a:solidFill>
            <a:round/>
            <a:tailEnd len="med" type="triangle" w="med"/>
          </a:ln>
        </p:spPr>
      </p:cxnSp>
      <p:sp>
        <p:nvSpPr>
          <p:cNvPr id="42" name="Oval 9"/>
          <p:cNvSpPr/>
          <p:nvPr/>
        </p:nvSpPr>
        <p:spPr>
          <a:xfrm>
            <a:off x="3913560" y="2788920"/>
            <a:ext cx="291240" cy="291240"/>
          </a:xfrm>
          <a:prstGeom prst="ellipse">
            <a:avLst/>
          </a:prstGeom>
          <a:solidFill>
            <a:srgbClr val="2E74B5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Box 11"/>
          <p:cNvSpPr/>
          <p:nvPr/>
        </p:nvSpPr>
        <p:spPr>
          <a:xfrm>
            <a:off x="3063240" y="3090600"/>
            <a:ext cx="237600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2E74B5"/>
                </a:solidFill>
                <a:effectLst/>
                <a:uFillTx/>
                <a:latin typeface="Arial"/>
              </a:rPr>
              <a:t>session ready + URL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4" name="Connector 11"/>
          <p:cNvCxnSpPr/>
          <p:nvPr/>
        </p:nvCxnSpPr>
        <p:spPr>
          <a:xfrm>
            <a:off x="2121120" y="2926080"/>
            <a:ext cx="1440" cy="1208160"/>
          </a:xfrm>
          <a:prstGeom prst="straightConnector1">
            <a:avLst/>
          </a:prstGeom>
          <a:ln w="31750">
            <a:solidFill>
              <a:srgbClr val="2E7D32"/>
            </a:solidFill>
            <a:round/>
            <a:tailEnd len="med" type="triangle" w="med"/>
          </a:ln>
        </p:spPr>
      </p:cxnSp>
      <p:sp>
        <p:nvSpPr>
          <p:cNvPr id="45" name="TextBox 12"/>
          <p:cNvSpPr/>
          <p:nvPr/>
        </p:nvSpPr>
        <p:spPr>
          <a:xfrm>
            <a:off x="2240280" y="2994120"/>
            <a:ext cx="1598760" cy="10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5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You click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5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“Connect to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5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RStudio Server”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6" name="Connector 12"/>
          <p:cNvCxnSpPr/>
          <p:nvPr/>
        </p:nvCxnSpPr>
        <p:spPr>
          <a:xfrm>
            <a:off x="3639240" y="4983480"/>
            <a:ext cx="1391400" cy="1440"/>
          </a:xfrm>
          <a:prstGeom prst="straightConnector1">
            <a:avLst/>
          </a:prstGeom>
          <a:ln w="31750">
            <a:solidFill>
              <a:srgbClr val="2E7D32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47" name="Oval 10"/>
          <p:cNvSpPr/>
          <p:nvPr/>
        </p:nvSpPr>
        <p:spPr>
          <a:xfrm>
            <a:off x="4206240" y="5074920"/>
            <a:ext cx="291240" cy="29124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Box 13"/>
          <p:cNvSpPr/>
          <p:nvPr/>
        </p:nvSpPr>
        <p:spPr>
          <a:xfrm>
            <a:off x="3611880" y="4382280"/>
            <a:ext cx="1461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5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proxied via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14"/>
          <p:cNvSpPr/>
          <p:nvPr/>
        </p:nvSpPr>
        <p:spPr>
          <a:xfrm>
            <a:off x="3611880" y="4664520"/>
            <a:ext cx="146160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4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the login node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Box 15"/>
          <p:cNvSpPr/>
          <p:nvPr/>
        </p:nvSpPr>
        <p:spPr>
          <a:xfrm>
            <a:off x="365760" y="6217920"/>
            <a:ext cx="11337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Nothing is installed on your laptop. The browser is just a window onto R running on a cluster node.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"/>
          <p:cNvSpPr/>
          <p:nvPr/>
        </p:nvSpPr>
        <p:spPr>
          <a:xfrm>
            <a:off x="502920" y="201240"/>
            <a:ext cx="11154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cluster: a login node, many compute nodes, and SLURM in between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Rounded Rectangle 10"/>
          <p:cNvSpPr/>
          <p:nvPr/>
        </p:nvSpPr>
        <p:spPr>
          <a:xfrm>
            <a:off x="274320" y="2499840"/>
            <a:ext cx="1924200" cy="1598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800" b="1" u="none" strike="noStrike">
                <a:solidFill>
                  <a:srgbClr val="595959"/>
                </a:solidFill>
                <a:effectLst/>
                <a:uFillTx/>
                <a:latin typeface="Arial"/>
              </a:rPr>
              <a:t>Your laptop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595959"/>
                </a:solidFill>
                <a:effectLst/>
                <a:uFillTx/>
                <a:latin typeface="Arial"/>
              </a:rPr>
              <a:t>ssh, or the OnDemand web page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" name="Connector 3"/>
          <p:cNvCxnSpPr/>
          <p:nvPr/>
        </p:nvCxnSpPr>
        <p:spPr>
          <a:xfrm>
            <a:off x="2199960" y="3299760"/>
            <a:ext cx="401400" cy="1440"/>
          </a:xfrm>
          <a:prstGeom prst="straightConnector1">
            <a:avLst/>
          </a:prstGeom>
          <a:ln w="25400">
            <a:solidFill>
              <a:srgbClr val="595959"/>
            </a:solidFill>
            <a:round/>
            <a:tailEnd len="med" type="triangle" w="med"/>
          </a:ln>
        </p:spPr>
      </p:cxnSp>
      <p:sp>
        <p:nvSpPr>
          <p:cNvPr id="54" name="Rounded Rectangle 11"/>
          <p:cNvSpPr/>
          <p:nvPr/>
        </p:nvSpPr>
        <p:spPr>
          <a:xfrm>
            <a:off x="2350080" y="1100160"/>
            <a:ext cx="9566280" cy="4198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800" b="1" u="none" strike="noStrike">
                <a:solidFill>
                  <a:srgbClr val="595959"/>
                </a:solidFill>
                <a:effectLst/>
                <a:uFillTx/>
                <a:latin typeface="Arial"/>
              </a:rPr>
              <a:t>HPC CLUSTER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Rounded Rectangle 17"/>
          <p:cNvSpPr/>
          <p:nvPr/>
        </p:nvSpPr>
        <p:spPr>
          <a:xfrm>
            <a:off x="2599920" y="1599840"/>
            <a:ext cx="3298680" cy="29984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Login node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Where you land when you log in.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Edit scripts, move files, submit jobs, run tiny tests.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Shared by everyone logged in, so do not run a real analysis here.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Rounded Rectangle 18"/>
          <p:cNvSpPr/>
          <p:nvPr/>
        </p:nvSpPr>
        <p:spPr>
          <a:xfrm>
            <a:off x="6149880" y="1599840"/>
            <a:ext cx="2948400" cy="2998440"/>
          </a:xfrm>
          <a:prstGeom prst="roundRect">
            <a:avLst>
              <a:gd name="adj" fmla="val 6000"/>
            </a:avLst>
          </a:prstGeom>
          <a:solidFill>
            <a:srgbClr val="FDECDD"/>
          </a:solidFill>
          <a:ln w="19050">
            <a:solidFill>
              <a:srgbClr val="C0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800" b="1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SLURM scheduler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Holds the queue of waiting jobs.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Each job says how many cores, how much memory, and how long it needs.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SLURM finds a node with room, starts the job there, enforces those limits, and frees the node when it ends.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Box 6"/>
          <p:cNvSpPr/>
          <p:nvPr/>
        </p:nvSpPr>
        <p:spPr>
          <a:xfrm>
            <a:off x="9249840" y="1239840"/>
            <a:ext cx="2548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Compute nodes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Rounded Rectangle 19"/>
          <p:cNvSpPr/>
          <p:nvPr/>
        </p:nvSpPr>
        <p:spPr>
          <a:xfrm>
            <a:off x="9249840" y="1599840"/>
            <a:ext cx="2548440" cy="69840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node01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4 cores, 16 GB, busy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Rounded Rectangle 20"/>
          <p:cNvSpPr/>
          <p:nvPr/>
        </p:nvSpPr>
        <p:spPr>
          <a:xfrm>
            <a:off x="9249840" y="2400120"/>
            <a:ext cx="2548440" cy="69840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node02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4 cores, 16 GB, busy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Rounded Rectangle 21"/>
          <p:cNvSpPr/>
          <p:nvPr/>
        </p:nvSpPr>
        <p:spPr>
          <a:xfrm>
            <a:off x="9249840" y="3200040"/>
            <a:ext cx="2548440" cy="69840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node03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4 cores, 16 GB, free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Rounded Rectangle 22"/>
          <p:cNvSpPr/>
          <p:nvPr/>
        </p:nvSpPr>
        <p:spPr>
          <a:xfrm>
            <a:off x="9249840" y="3999960"/>
            <a:ext cx="2548440" cy="69840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node04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4 cores, 16 GB, free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" name="Connector 5"/>
          <p:cNvCxnSpPr/>
          <p:nvPr/>
        </p:nvCxnSpPr>
        <p:spPr>
          <a:xfrm>
            <a:off x="5899680" y="3299760"/>
            <a:ext cx="251640" cy="1440"/>
          </a:xfrm>
          <a:prstGeom prst="straightConnector1">
            <a:avLst/>
          </a:prstGeom>
          <a:ln w="25400">
            <a:solidFill>
              <a:srgbClr val="C05500"/>
            </a:solidFill>
            <a:round/>
            <a:tailEnd len="med" type="triangle" w="med"/>
          </a:ln>
        </p:spPr>
      </p:cxnSp>
      <p:sp>
        <p:nvSpPr>
          <p:cNvPr id="63" name="TextBox 7"/>
          <p:cNvSpPr/>
          <p:nvPr/>
        </p:nvSpPr>
        <p:spPr>
          <a:xfrm>
            <a:off x="3899880" y="5450040"/>
            <a:ext cx="33984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C05500"/>
                </a:solidFill>
                <a:effectLst/>
                <a:uFillTx/>
                <a:latin typeface="Arial"/>
              </a:rPr>
              <a:t>you submit a job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" name="Connector 6"/>
          <p:cNvCxnSpPr/>
          <p:nvPr/>
        </p:nvCxnSpPr>
        <p:spPr>
          <a:xfrm>
            <a:off x="9099720" y="3299760"/>
            <a:ext cx="151560" cy="1440"/>
          </a:xfrm>
          <a:prstGeom prst="straightConnector1">
            <a:avLst/>
          </a:prstGeom>
          <a:ln w="25400">
            <a:solidFill>
              <a:srgbClr val="2E7D32"/>
            </a:solidFill>
            <a:round/>
            <a:tailEnd len="med" type="triangle" w="med"/>
          </a:ln>
        </p:spPr>
      </p:cxnSp>
      <p:sp>
        <p:nvSpPr>
          <p:cNvPr id="65" name="TextBox 8"/>
          <p:cNvSpPr/>
          <p:nvPr/>
        </p:nvSpPr>
        <p:spPr>
          <a:xfrm>
            <a:off x="7300080" y="5450040"/>
            <a:ext cx="37987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</a:pPr>
            <a:r>
              <a:rPr lang="en-US" sz="16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SLURM places it on a free node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22"/>
          <p:cNvSpPr/>
          <p:nvPr/>
        </p:nvSpPr>
        <p:spPr>
          <a:xfrm>
            <a:off x="502920" y="201240"/>
            <a:ext cx="11154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Everyday SLURM commands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3"/>
          <p:cNvSpPr/>
          <p:nvPr/>
        </p:nvSpPr>
        <p:spPr>
          <a:xfrm>
            <a:off x="502920" y="1249920"/>
            <a:ext cx="11245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sbatch job.sh</a:t>
            </a:r>
            <a:r>
              <a:rPr lang="en-US" sz="20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submit a batch script to the queue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4"/>
          <p:cNvSpPr/>
          <p:nvPr/>
        </p:nvSpPr>
        <p:spPr>
          <a:xfrm>
            <a:off x="502920" y="1869840"/>
            <a:ext cx="11245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squeue -u $USER</a:t>
            </a:r>
            <a:r>
              <a:rPr lang="en-US" sz="20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list your pending and running jobs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5"/>
          <p:cNvSpPr/>
          <p:nvPr/>
        </p:nvSpPr>
        <p:spPr>
          <a:xfrm>
            <a:off x="502920" y="2490120"/>
            <a:ext cx="11245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scancel 12345</a:t>
            </a:r>
            <a:r>
              <a:rPr lang="en-US" sz="20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kill a job, by its job ID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6"/>
          <p:cNvSpPr/>
          <p:nvPr/>
        </p:nvSpPr>
        <p:spPr>
          <a:xfrm>
            <a:off x="502920" y="3110040"/>
            <a:ext cx="11245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srun --pty bash</a:t>
            </a:r>
            <a:r>
              <a:rPr lang="en-US" sz="20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grab an interactive shell on a compute node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7"/>
          <p:cNvSpPr/>
          <p:nvPr/>
        </p:nvSpPr>
        <p:spPr>
          <a:xfrm>
            <a:off x="502920" y="3729960"/>
            <a:ext cx="11245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sinfo</a:t>
            </a:r>
            <a:r>
              <a:rPr lang="en-US" sz="20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which partitions and nodes exist, and which are idle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8"/>
          <p:cNvSpPr/>
          <p:nvPr/>
        </p:nvSpPr>
        <p:spPr>
          <a:xfrm>
            <a:off x="502920" y="4349880"/>
            <a:ext cx="11245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sacct -j 12345</a:t>
            </a:r>
            <a:r>
              <a:rPr lang="en-US" sz="20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after the fact: did it finish, what did it use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9"/>
          <p:cNvSpPr/>
          <p:nvPr/>
        </p:nvSpPr>
        <p:spPr>
          <a:xfrm>
            <a:off x="502920" y="5150160"/>
            <a:ext cx="11245680" cy="93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800" b="1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A job is a request, not a command: cores, memory, and wall-clock time.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Ask for more than you need and you wait longer in the queue. Ask for less and SLURM kills the job when it runs over. Your RStudio jobs here get 4 cores and 16 GB.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"/>
          <p:cNvPicPr/>
          <p:nvPr/>
        </p:nvPicPr>
        <p:blipFill>
          <a:blip r:embed="rId1"/>
          <a:stretch/>
        </p:blipFill>
        <p:spPr>
          <a:xfrm>
            <a:off x="228600" y="228600"/>
            <a:ext cx="11592000" cy="620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"/>
          <p:cNvSpPr/>
          <p:nvPr/>
        </p:nvSpPr>
        <p:spPr>
          <a:xfrm>
            <a:off x="241560" y="4862160"/>
            <a:ext cx="5700960" cy="13093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This is the “console”, running an R programming language interpreter in a “read-eval-print loop”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Steve show examples, participants try 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"/>
          <p:cNvPicPr/>
          <p:nvPr/>
        </p:nvPicPr>
        <p:blipFill>
          <a:blip r:embed="rId1"/>
          <a:stretch/>
        </p:blipFill>
        <p:spPr>
          <a:xfrm>
            <a:off x="228600" y="228600"/>
            <a:ext cx="11592000" cy="620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"/>
          <p:cNvSpPr/>
          <p:nvPr/>
        </p:nvSpPr>
        <p:spPr>
          <a:xfrm>
            <a:off x="230400" y="1600200"/>
            <a:ext cx="5254920" cy="6994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This is the context of a file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Steve show examples, participants try 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"/>
          <p:cNvPicPr/>
          <p:nvPr/>
        </p:nvPicPr>
        <p:blipFill>
          <a:blip r:embed="rId1"/>
          <a:stretch/>
        </p:blipFill>
        <p:spPr>
          <a:xfrm>
            <a:off x="228600" y="228600"/>
            <a:ext cx="11592000" cy="620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"/>
          <p:cNvSpPr/>
          <p:nvPr/>
        </p:nvSpPr>
        <p:spPr>
          <a:xfrm>
            <a:off x="6631200" y="4114800"/>
            <a:ext cx="5254920" cy="100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This is a file browser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Steve show examples, including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opening files etc; participants try 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>
            <a:off x="1371600" y="1143000"/>
            <a:ext cx="9142920" cy="54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 some R statements in the read-eval-print loop: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Assignment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Numeric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Character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Logical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Vectors are 1</a:t>
            </a:r>
            <a:r>
              <a:rPr lang="en-US" sz="1800" b="0" u="none" strike="noStrike" baseline="33000">
                <a:solidFill>
                  <a:srgbClr val="000000"/>
                </a:solidFill>
                <a:effectLst/>
                <a:uFillTx/>
                <a:latin typeface="Arial"/>
              </a:rPr>
              <a:t>st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class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Libraries/packages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to find packages (CRAN, BioCondutor, github etc)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Working the console (completion, arrow up)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 to cheat sheet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https://rstudio.github.io/cheatsheets/base-r.pdf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1371600" y="1371600"/>
            <a:ext cx="639972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Create an R file and source 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Write a function that adds 2 numbers; show error adding two strings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Next: tutorial on navigating between console, terminal, and file browser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"/>
          <p:cNvPicPr/>
          <p:nvPr/>
        </p:nvPicPr>
        <p:blipFill>
          <a:blip r:embed="rId1"/>
          <a:stretch/>
        </p:blipFill>
        <p:spPr>
          <a:xfrm>
            <a:off x="105120" y="525240"/>
            <a:ext cx="10146960" cy="578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"/>
          <p:cNvSpPr/>
          <p:nvPr/>
        </p:nvSpPr>
        <p:spPr>
          <a:xfrm>
            <a:off x="105120" y="5029200"/>
            <a:ext cx="2054520" cy="91152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2286000" y="5373000"/>
            <a:ext cx="411192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What folder am I in?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R function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5520" cy="557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"/>
          <p:cNvSpPr/>
          <p:nvPr/>
        </p:nvSpPr>
        <p:spPr>
          <a:xfrm>
            <a:off x="105480" y="5029200"/>
            <a:ext cx="2054520" cy="91152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2286000" y="4800600"/>
            <a:ext cx="411192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setwd(“src”) =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 working directory src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Then 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7315200" y="4034160"/>
            <a:ext cx="41119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But no change here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5520" cy="557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"/>
          <p:cNvSpPr/>
          <p:nvPr/>
        </p:nvSpPr>
        <p:spPr>
          <a:xfrm>
            <a:off x="105480" y="5029200"/>
            <a:ext cx="2054520" cy="91152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2286000" y="4800600"/>
            <a:ext cx="411192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setwd(“src”) =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 working directory src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Then 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7315200" y="4034160"/>
            <a:ext cx="41119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But no change here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914400" y="804960"/>
            <a:ext cx="911520" cy="33516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5520" cy="557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"/>
          <p:cNvSpPr/>
          <p:nvPr/>
        </p:nvSpPr>
        <p:spPr>
          <a:xfrm>
            <a:off x="5943600" y="2971800"/>
            <a:ext cx="911520" cy="33516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6400800" y="4034160"/>
            <a:ext cx="411192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Show how to create new folder / navigate in the files tab, and then  make that the working directory in the R console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4000" cy="6640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"/>
          <p:cNvSpPr/>
          <p:nvPr/>
        </p:nvSpPr>
        <p:spPr>
          <a:xfrm>
            <a:off x="1828800" y="2743200"/>
            <a:ext cx="41119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continue with orientation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2286000" y="1574280"/>
            <a:ext cx="411192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What folder am I in (pwd – print working directory) bash function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228600" y="1143000"/>
            <a:ext cx="2054520" cy="91152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/>
          <p:nvPr/>
        </p:nvSpPr>
        <p:spPr>
          <a:xfrm>
            <a:off x="1371600" y="1371600"/>
            <a:ext cx="9829800" cy="101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Create a file (e.g.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write.csv(mtcars, </a:t>
            </a: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file=’myfile.csv’)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 in the test folder and </a:t>
            </a: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it in the editor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setwd(“~/test/”) so that </a:t>
            </a: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current working </a:t>
            </a: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directory is ~/test/, </a:t>
            </a: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source your file.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data.table, data.frame, </a:t>
            </a: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tibble, selecting rows, </a:t>
            </a: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View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Tidyr select rows, </a:t>
            </a: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 columns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>
            <a:off x="685800" y="286560"/>
            <a:ext cx="10741680" cy="453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Bash examples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Directories, ls, cd, pwd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Commands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Cheat sheet at https://github.com/RehanSaeed/Bash-Cheat-Sheet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 variables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Scripts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Executable bits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coding agents use bash a lot and can help with oddities of common unix commands and bash syntax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→ Demo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/>
          <p:nvPr/>
        </p:nvSpPr>
        <p:spPr>
          <a:xfrm>
            <a:off x="1143000" y="931680"/>
            <a:ext cx="9600120" cy="29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Different vocabulary and grammar, similar underlying concepts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/usr/bin/python3.12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 add(a, b):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print(a + b)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"/>
          <p:cNvSpPr/>
          <p:nvPr/>
        </p:nvSpPr>
        <p:spPr>
          <a:xfrm>
            <a:off x="914400" y="914400"/>
            <a:ext cx="10286280" cy="49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Agentic coding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Bash command “what python interpreters are available to me”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Bash command “Summarize CPU load, RAM usage, and number of users on each node in the cluster”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and pyton example: write the R mtcars table to disk as a tsv file, then write and test  1 python script read the data from disk and create a png showing mpg vs hp; test and run the script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curl -fsSL https://opencode.ai/install | bash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opencode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“Nemotron 3 Ultra Free Opencode Zen” (pretty limited free tier)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/>
          </p:nvPr>
        </p:nvSpPr>
        <p:spPr>
          <a:xfrm>
            <a:off x="609480" y="1604520"/>
            <a:ext cx="10969920" cy="397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4"/>
          <p:cNvSpPr/>
          <p:nvPr/>
        </p:nvSpPr>
        <p:spPr>
          <a:xfrm>
            <a:off x="502920" y="201240"/>
            <a:ext cx="1115460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Slide: LLM-agnostic open source coding agents: terminal first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30"/>
          <p:cNvSpPr/>
          <p:nvPr/>
        </p:nvSpPr>
        <p:spPr>
          <a:xfrm>
            <a:off x="502920" y="1051560"/>
            <a:ext cx="112460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Aider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terminal AI pair programming, any model via LiteLLM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https://github.com/Aider-AI/aider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31"/>
          <p:cNvSpPr/>
          <p:nvPr/>
        </p:nvSpPr>
        <p:spPr>
          <a:xfrm>
            <a:off x="502920" y="1856160"/>
            <a:ext cx="112460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Goose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extensible agent that installs, runs, edits, and tests with any LLM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https://github.com/block/goose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32"/>
          <p:cNvSpPr/>
          <p:nvPr/>
        </p:nvSpPr>
        <p:spPr>
          <a:xfrm>
            <a:off x="502920" y="2660760"/>
            <a:ext cx="112460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Crush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Go terminal UI agent from Charm, multi-provider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https://github.com/charmbracelet/crush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33"/>
          <p:cNvSpPr/>
          <p:nvPr/>
        </p:nvSpPr>
        <p:spPr>
          <a:xfrm>
            <a:off x="502920" y="3465720"/>
            <a:ext cx="112460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opencode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terminal coding agent from SST, provider agnostic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https://github.com/sst/opencode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34"/>
          <p:cNvSpPr/>
          <p:nvPr/>
        </p:nvSpPr>
        <p:spPr>
          <a:xfrm>
            <a:off x="502920" y="4270320"/>
            <a:ext cx="112460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Plandex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aimed at large projects and long multi-file tasks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https://github.com/plandex-ai/plandex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35"/>
          <p:cNvSpPr/>
          <p:nvPr/>
        </p:nvSpPr>
        <p:spPr>
          <a:xfrm>
            <a:off x="502920" y="5074920"/>
            <a:ext cx="112460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Codex CLI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OpenAI's, but accepts any OpenAI-compatible provider in config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https://github.com/openai/codex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36"/>
          <p:cNvSpPr/>
          <p:nvPr/>
        </p:nvSpPr>
        <p:spPr>
          <a:xfrm>
            <a:off x="502920" y="5943600"/>
            <a:ext cx="112460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All six are open source and swap the model behind the same agent loop.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/>
          </p:nvPr>
        </p:nvSpPr>
        <p:spPr>
          <a:xfrm>
            <a:off x="609480" y="1604520"/>
            <a:ext cx="10969920" cy="397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"/>
          <p:cNvSpPr/>
          <p:nvPr/>
        </p:nvSpPr>
        <p:spPr>
          <a:xfrm>
            <a:off x="502920" y="201240"/>
            <a:ext cx="1115460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slide: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LLM-agnostic open source coding agents: editors and autonomous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7"/>
          <p:cNvSpPr/>
          <p:nvPr/>
        </p:nvSpPr>
        <p:spPr>
          <a:xfrm>
            <a:off x="502920" y="1149840"/>
            <a:ext cx="1124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Editor extensions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38"/>
          <p:cNvSpPr/>
          <p:nvPr/>
        </p:nvSpPr>
        <p:spPr>
          <a:xfrm>
            <a:off x="502920" y="1417320"/>
            <a:ext cx="112460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Cline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autonomous coding agent as SDK, IDE extension, or CLI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https://github.com/cline/cline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39"/>
          <p:cNvSpPr/>
          <p:nvPr/>
        </p:nvSpPr>
        <p:spPr>
          <a:xfrm>
            <a:off x="502920" y="2176200"/>
            <a:ext cx="112460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Roo Code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a Cline fork, adds multiple agent modes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https://github.com/RooCodeInc/Roo-Code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40"/>
          <p:cNvSpPr/>
          <p:nvPr/>
        </p:nvSpPr>
        <p:spPr>
          <a:xfrm>
            <a:off x="502920" y="2935080"/>
            <a:ext cx="112460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Kilo Code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a further fork, merges Cline and Roo features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https://github.com/Kilo-Org/kilocode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41"/>
          <p:cNvSpPr/>
          <p:nvPr/>
        </p:nvSpPr>
        <p:spPr>
          <a:xfrm>
            <a:off x="502920" y="3694320"/>
            <a:ext cx="112460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Continue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open source coding agent with pluggable model backends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https://github.com/continuedev/continue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42"/>
          <p:cNvSpPr/>
          <p:nvPr/>
        </p:nvSpPr>
        <p:spPr>
          <a:xfrm>
            <a:off x="502920" y="4572000"/>
            <a:ext cx="1124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Autonomous and research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43"/>
          <p:cNvSpPr/>
          <p:nvPr/>
        </p:nvSpPr>
        <p:spPr>
          <a:xfrm>
            <a:off x="502920" y="4983480"/>
            <a:ext cx="112460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OpenHands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full sandboxed dev agent platform, formerly OpenDevin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https://github.com/All-Hands-AI/OpenHands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44"/>
          <p:cNvSpPr/>
          <p:nvPr/>
        </p:nvSpPr>
        <p:spPr>
          <a:xfrm>
            <a:off x="502920" y="5742360"/>
            <a:ext cx="112460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9000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SWE-agent</a:t>
            </a:r>
            <a:r>
              <a:rPr lang="en-US" sz="18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takes a GitHub issue and tries to fix it, NeurIPS 2024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666666"/>
                </a:solidFill>
                <a:effectLst/>
                <a:uFillTx/>
                <a:latin typeface="Courier New"/>
              </a:rPr>
              <a:t>https://github.com/SWE-agent/SWE-agent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"/>
          <p:cNvSpPr/>
          <p:nvPr/>
        </p:nvSpPr>
        <p:spPr>
          <a:xfrm>
            <a:off x="1828800" y="914400"/>
            <a:ext cx="8000280" cy="29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Other common IDE (interactive development environments)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"/>
          <p:cNvPicPr/>
          <p:nvPr/>
        </p:nvPicPr>
        <p:blipFill>
          <a:blip r:embed="rId1"/>
          <a:stretch/>
        </p:blipFill>
        <p:spPr>
          <a:xfrm>
            <a:off x="457200" y="1371600"/>
            <a:ext cx="10602360" cy="530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"/>
          <p:cNvSpPr/>
          <p:nvPr/>
        </p:nvSpPr>
        <p:spPr>
          <a:xfrm>
            <a:off x="685800" y="228600"/>
            <a:ext cx="10743480" cy="93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VS Code super extensible, very popular, open source so often cloned and modified by other vendors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"/>
          <p:cNvPicPr/>
          <p:nvPr/>
        </p:nvPicPr>
        <p:blipFill>
          <a:blip r:embed="rId1"/>
          <a:stretch/>
        </p:blipFill>
        <p:spPr>
          <a:xfrm>
            <a:off x="457200" y="1090440"/>
            <a:ext cx="11118600" cy="553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"/>
          <p:cNvSpPr/>
          <p:nvPr/>
        </p:nvSpPr>
        <p:spPr>
          <a:xfrm>
            <a:off x="686160" y="228960"/>
            <a:ext cx="10743480" cy="85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Postiron,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VS code derivative from the makers of RStudio; better native support for R than VS Code, better Python support than RStudio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/>
          </p:nvPr>
        </p:nvSpPr>
        <p:spPr>
          <a:xfrm>
            <a:off x="609480" y="1604520"/>
            <a:ext cx="10969920" cy="397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502920" y="201240"/>
            <a:ext cx="1115460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Git: your local clone and the remote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12"/>
          <p:cNvSpPr/>
          <p:nvPr/>
        </p:nvSpPr>
        <p:spPr>
          <a:xfrm>
            <a:off x="365760" y="914400"/>
            <a:ext cx="7862760" cy="2925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595959"/>
                </a:solidFill>
                <a:effectLst/>
                <a:uFillTx/>
                <a:latin typeface="Arial"/>
              </a:rPr>
              <a:t>YOUR COMPUTER, the local clone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ounded Rectangle 13"/>
          <p:cNvSpPr/>
          <p:nvPr/>
        </p:nvSpPr>
        <p:spPr>
          <a:xfrm>
            <a:off x="640080" y="1600200"/>
            <a:ext cx="1782000" cy="21020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Working directory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The files you actually edit.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git status shows what has changed.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14"/>
          <p:cNvSpPr/>
          <p:nvPr/>
        </p:nvSpPr>
        <p:spPr>
          <a:xfrm>
            <a:off x="3406320" y="1600200"/>
            <a:ext cx="1782000" cy="21020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Staging area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Also called the index.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What you have marked to go into the next commit.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15"/>
          <p:cNvSpPr/>
          <p:nvPr/>
        </p:nvSpPr>
        <p:spPr>
          <a:xfrm>
            <a:off x="6172200" y="1600200"/>
            <a:ext cx="1782000" cy="21020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Local repository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The .git directory.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1F3B57"/>
                </a:solidFill>
                <a:effectLst/>
                <a:uFillTx/>
                <a:latin typeface="Arial"/>
              </a:rPr>
              <a:t>Full commit history, on your machine, works offline.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ounded Rectangle 16"/>
          <p:cNvSpPr/>
          <p:nvPr/>
        </p:nvSpPr>
        <p:spPr>
          <a:xfrm>
            <a:off x="9052560" y="1600200"/>
            <a:ext cx="2787840" cy="2102040"/>
          </a:xfrm>
          <a:prstGeom prst="roundRect">
            <a:avLst>
              <a:gd name="adj" fmla="val 6000"/>
            </a:avLst>
          </a:prstGeom>
          <a:solidFill>
            <a:srgbClr val="E3F1E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800" tIns="54720" rIns="109800" bIns="54720" anchor="t">
            <a:no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Remote, e.g. 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The shared copy.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2E7D32"/>
                </a:solidFill>
                <a:effectLst/>
                <a:uFillTx/>
                <a:latin typeface="Arial"/>
              </a:rPr>
              <a:t>Where collaborators, and your other machines, get the code.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Connector 13"/>
          <p:cNvCxnSpPr/>
          <p:nvPr/>
        </p:nvCxnSpPr>
        <p:spPr>
          <a:xfrm>
            <a:off x="2423160" y="3063240"/>
            <a:ext cx="983880" cy="1080"/>
          </a:xfrm>
          <a:prstGeom prst="straightConnector1">
            <a:avLst/>
          </a:prstGeom>
          <a:ln w="25400">
            <a:solidFill>
              <a:srgbClr val="595959"/>
            </a:solidFill>
            <a:round/>
            <a:tailEnd len="med" type="triangle" w="med"/>
          </a:ln>
        </p:spPr>
      </p:cxnSp>
      <p:sp>
        <p:nvSpPr>
          <p:cNvPr id="137" name="TextBox 16"/>
          <p:cNvSpPr/>
          <p:nvPr/>
        </p:nvSpPr>
        <p:spPr>
          <a:xfrm>
            <a:off x="2274480" y="2660760"/>
            <a:ext cx="12790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git add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stage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8" name="Connector 14"/>
          <p:cNvCxnSpPr/>
          <p:nvPr/>
        </p:nvCxnSpPr>
        <p:spPr>
          <a:xfrm>
            <a:off x="5189040" y="3063240"/>
            <a:ext cx="984240" cy="1080"/>
          </a:xfrm>
          <a:prstGeom prst="straightConnector1">
            <a:avLst/>
          </a:prstGeom>
          <a:ln w="25400">
            <a:solidFill>
              <a:srgbClr val="595959"/>
            </a:solidFill>
            <a:round/>
            <a:tailEnd len="med" type="triangle" w="med"/>
          </a:ln>
        </p:spPr>
      </p:cxnSp>
      <p:sp>
        <p:nvSpPr>
          <p:cNvPr id="139" name="TextBox 17"/>
          <p:cNvSpPr/>
          <p:nvPr/>
        </p:nvSpPr>
        <p:spPr>
          <a:xfrm>
            <a:off x="5040720" y="2660760"/>
            <a:ext cx="12790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git commit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record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0" name="Connector 15"/>
          <p:cNvCxnSpPr/>
          <p:nvPr/>
        </p:nvCxnSpPr>
        <p:spPr>
          <a:xfrm>
            <a:off x="7954920" y="3063240"/>
            <a:ext cx="1098720" cy="1080"/>
          </a:xfrm>
          <a:prstGeom prst="straightConnector1">
            <a:avLst/>
          </a:prstGeom>
          <a:ln w="25400">
            <a:solidFill>
              <a:srgbClr val="595959"/>
            </a:solidFill>
            <a:round/>
            <a:tailEnd len="med" type="triangle" w="med"/>
          </a:ln>
        </p:spPr>
      </p:cxnSp>
      <p:sp>
        <p:nvSpPr>
          <p:cNvPr id="141" name="TextBox 18"/>
          <p:cNvSpPr/>
          <p:nvPr/>
        </p:nvSpPr>
        <p:spPr>
          <a:xfrm>
            <a:off x="7863840" y="2660760"/>
            <a:ext cx="12790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git push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1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publish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2" name="Connector 16"/>
          <p:cNvCxnSpPr/>
          <p:nvPr/>
        </p:nvCxnSpPr>
        <p:spPr>
          <a:xfrm>
            <a:off x="10424160" y="3703320"/>
            <a:ext cx="1080" cy="824040"/>
          </a:xfrm>
          <a:prstGeom prst="straightConnector1">
            <a:avLst/>
          </a:prstGeom>
          <a:ln w="25400">
            <a:solidFill>
              <a:srgbClr val="595959"/>
            </a:solidFill>
            <a:round/>
          </a:ln>
        </p:spPr>
      </p:cxnSp>
      <p:cxnSp>
        <p:nvCxnSpPr>
          <p:cNvPr id="143" name="Connector 17"/>
          <p:cNvCxnSpPr/>
          <p:nvPr/>
        </p:nvCxnSpPr>
        <p:spPr>
          <a:xfrm flipH="1">
            <a:off x="1536120" y="4526280"/>
            <a:ext cx="8889120" cy="1080"/>
          </a:xfrm>
          <a:prstGeom prst="straightConnector1">
            <a:avLst/>
          </a:prstGeom>
          <a:ln w="25400">
            <a:solidFill>
              <a:srgbClr val="595959"/>
            </a:solidFill>
            <a:round/>
          </a:ln>
        </p:spPr>
      </p:cxnSp>
      <p:cxnSp>
        <p:nvCxnSpPr>
          <p:cNvPr id="144" name="Connector 18"/>
          <p:cNvCxnSpPr/>
          <p:nvPr/>
        </p:nvCxnSpPr>
        <p:spPr>
          <a:xfrm flipV="1">
            <a:off x="1536120" y="3840480"/>
            <a:ext cx="1080" cy="686880"/>
          </a:xfrm>
          <a:prstGeom prst="straightConnector1">
            <a:avLst/>
          </a:prstGeom>
          <a:ln w="25400">
            <a:solidFill>
              <a:srgbClr val="595959"/>
            </a:solidFill>
            <a:round/>
            <a:tailEnd len="med" type="triangle" w="med"/>
          </a:ln>
        </p:spPr>
      </p:cxnSp>
      <p:sp>
        <p:nvSpPr>
          <p:cNvPr id="145" name="TextBox 19"/>
          <p:cNvSpPr/>
          <p:nvPr/>
        </p:nvSpPr>
        <p:spPr>
          <a:xfrm>
            <a:off x="3566160" y="4142160"/>
            <a:ext cx="5119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git pull</a:t>
            </a:r>
            <a:r>
              <a:rPr lang="en-US" sz="13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bring new commits from the remote into your clone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6" name="Connector 19"/>
          <p:cNvCxnSpPr/>
          <p:nvPr/>
        </p:nvCxnSpPr>
        <p:spPr>
          <a:xfrm>
            <a:off x="11155680" y="3703320"/>
            <a:ext cx="1080" cy="1738440"/>
          </a:xfrm>
          <a:prstGeom prst="straightConnector1">
            <a:avLst/>
          </a:prstGeom>
          <a:ln w="25400">
            <a:solidFill>
              <a:srgbClr val="595959"/>
            </a:solidFill>
            <a:prstDash val="dash"/>
            <a:round/>
          </a:ln>
        </p:spPr>
      </p:cxnSp>
      <p:cxnSp>
        <p:nvCxnSpPr>
          <p:cNvPr id="147" name="Connector 20"/>
          <p:cNvCxnSpPr/>
          <p:nvPr/>
        </p:nvCxnSpPr>
        <p:spPr>
          <a:xfrm flipH="1">
            <a:off x="2743200" y="5440680"/>
            <a:ext cx="8413560" cy="1080"/>
          </a:xfrm>
          <a:prstGeom prst="straightConnector1">
            <a:avLst/>
          </a:prstGeom>
          <a:ln w="25400">
            <a:solidFill>
              <a:srgbClr val="595959"/>
            </a:solidFill>
            <a:prstDash val="dash"/>
            <a:round/>
          </a:ln>
        </p:spPr>
      </p:cxnSp>
      <p:cxnSp>
        <p:nvCxnSpPr>
          <p:cNvPr id="148" name="Connector 21"/>
          <p:cNvCxnSpPr/>
          <p:nvPr/>
        </p:nvCxnSpPr>
        <p:spPr>
          <a:xfrm flipV="1">
            <a:off x="2743200" y="3840480"/>
            <a:ext cx="1080" cy="1601280"/>
          </a:xfrm>
          <a:prstGeom prst="straightConnector1">
            <a:avLst/>
          </a:prstGeom>
          <a:ln w="25400">
            <a:solidFill>
              <a:srgbClr val="595959"/>
            </a:solidFill>
            <a:prstDash val="dash"/>
            <a:round/>
            <a:tailEnd len="med" type="triangle" w="med"/>
          </a:ln>
        </p:spPr>
      </p:cxnSp>
      <p:sp>
        <p:nvSpPr>
          <p:cNvPr id="149" name="TextBox 20"/>
          <p:cNvSpPr/>
          <p:nvPr/>
        </p:nvSpPr>
        <p:spPr>
          <a:xfrm>
            <a:off x="4937760" y="5056560"/>
            <a:ext cx="5119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300" b="1" u="none" strike="noStrike">
                <a:solidFill>
                  <a:srgbClr val="1F3B57"/>
                </a:solidFill>
                <a:effectLst/>
                <a:uFillTx/>
                <a:latin typeface="Courier New"/>
              </a:rPr>
              <a:t>git clone</a:t>
            </a:r>
            <a:r>
              <a:rPr lang="en-US" sz="1300" b="0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   once, at the start: copy the whole repository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21"/>
          <p:cNvSpPr/>
          <p:nvPr/>
        </p:nvSpPr>
        <p:spPr>
          <a:xfrm>
            <a:off x="411840" y="5790960"/>
            <a:ext cx="112460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404040"/>
                </a:solidFill>
                <a:effectLst/>
                <a:uFillTx/>
                <a:latin typeface="Arial"/>
              </a:rPr>
              <a:t>Commits are local until you push. Pull before you start work, so your clone is current because other people are pushing commits to the Remote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/>
          <p:nvPr/>
        </p:nvSpPr>
        <p:spPr>
          <a:xfrm>
            <a:off x="2514600" y="1600200"/>
            <a:ext cx="70858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"/>
          <p:cNvSpPr/>
          <p:nvPr/>
        </p:nvSpPr>
        <p:spPr>
          <a:xfrm>
            <a:off x="1373400" y="2286000"/>
            <a:ext cx="10055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slides: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compared to Python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457200" y="274320"/>
            <a:ext cx="1032840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1 · Single Values &amp; Vectors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457200" y="822960"/>
            <a:ext cx="1041984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building blocks: one value, or many values that are all the same type.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2"/>
          <p:cNvSpPr/>
          <p:nvPr/>
        </p:nvSpPr>
        <p:spPr>
          <a:xfrm>
            <a:off x="11036880" y="311040"/>
            <a:ext cx="379800" cy="3798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1560" cy="24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Shape 3"/>
          <p:cNvSpPr/>
          <p:nvPr/>
        </p:nvSpPr>
        <p:spPr>
          <a:xfrm>
            <a:off x="11494080" y="311040"/>
            <a:ext cx="379800" cy="3798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1560" cy="24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Shape 4"/>
          <p:cNvSpPr/>
          <p:nvPr/>
        </p:nvSpPr>
        <p:spPr>
          <a:xfrm>
            <a:off x="457200" y="1207080"/>
            <a:ext cx="5454720" cy="223596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"/>
          <p:cNvSpPr/>
          <p:nvPr/>
        </p:nvSpPr>
        <p:spPr>
          <a:xfrm>
            <a:off x="676800" y="1334880"/>
            <a:ext cx="5015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Single value (a “scalar”)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6"/>
          <p:cNvSpPr/>
          <p:nvPr/>
        </p:nvSpPr>
        <p:spPr>
          <a:xfrm>
            <a:off x="694800" y="1774080"/>
            <a:ext cx="398160" cy="398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2" name="Image 2" descr="preencoded.png"/>
          <p:cNvPicPr/>
          <p:nvPr/>
        </p:nvPicPr>
        <p:blipFill>
          <a:blip r:embed="rId3"/>
          <a:stretch/>
        </p:blipFill>
        <p:spPr>
          <a:xfrm>
            <a:off x="767520" y="184644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Text 7"/>
          <p:cNvSpPr/>
          <p:nvPr/>
        </p:nvSpPr>
        <p:spPr>
          <a:xfrm>
            <a:off x="1207080" y="1774080"/>
            <a:ext cx="448524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x &lt;- 3.14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8"/>
          <p:cNvSpPr/>
          <p:nvPr/>
        </p:nvSpPr>
        <p:spPr>
          <a:xfrm>
            <a:off x="694800" y="2249280"/>
            <a:ext cx="398160" cy="398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5" name="Image 3" descr="preencoded.png"/>
          <p:cNvPicPr/>
          <p:nvPr/>
        </p:nvPicPr>
        <p:blipFill>
          <a:blip r:embed="rId4"/>
          <a:stretch/>
        </p:blipFill>
        <p:spPr>
          <a:xfrm>
            <a:off x="767520" y="232200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Text 9"/>
          <p:cNvSpPr/>
          <p:nvPr/>
        </p:nvSpPr>
        <p:spPr>
          <a:xfrm>
            <a:off x="1207080" y="2249280"/>
            <a:ext cx="448524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x = 3.14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0"/>
          <p:cNvSpPr/>
          <p:nvPr/>
        </p:nvSpPr>
        <p:spPr>
          <a:xfrm>
            <a:off x="713160" y="2779920"/>
            <a:ext cx="494244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No separate scalar type in R — it’s a vector of length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1"/>
          <p:cNvSpPr/>
          <p:nvPr/>
        </p:nvSpPr>
        <p:spPr>
          <a:xfrm>
            <a:off x="6245280" y="1207080"/>
            <a:ext cx="5454720" cy="223596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2"/>
          <p:cNvSpPr/>
          <p:nvPr/>
        </p:nvSpPr>
        <p:spPr>
          <a:xfrm>
            <a:off x="6464880" y="1334880"/>
            <a:ext cx="5015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Vector — many values, one type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3"/>
          <p:cNvSpPr/>
          <p:nvPr/>
        </p:nvSpPr>
        <p:spPr>
          <a:xfrm>
            <a:off x="6483240" y="1774080"/>
            <a:ext cx="398160" cy="398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" name="Image 4" descr="preencoded.png"/>
          <p:cNvPicPr/>
          <p:nvPr/>
        </p:nvPicPr>
        <p:blipFill>
          <a:blip r:embed="rId5"/>
          <a:stretch/>
        </p:blipFill>
        <p:spPr>
          <a:xfrm>
            <a:off x="6555600" y="184644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Text 14"/>
          <p:cNvSpPr/>
          <p:nvPr/>
        </p:nvSpPr>
        <p:spPr>
          <a:xfrm>
            <a:off x="6995160" y="1774080"/>
            <a:ext cx="448524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c(10, 20, 30)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15"/>
          <p:cNvSpPr/>
          <p:nvPr/>
        </p:nvSpPr>
        <p:spPr>
          <a:xfrm>
            <a:off x="6483240" y="2249280"/>
            <a:ext cx="398160" cy="398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4" name="Image 5" descr="preencoded.png"/>
          <p:cNvPicPr/>
          <p:nvPr/>
        </p:nvPicPr>
        <p:blipFill>
          <a:blip r:embed="rId6"/>
          <a:stretch/>
        </p:blipFill>
        <p:spPr>
          <a:xfrm>
            <a:off x="6555600" y="232200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Text 16"/>
          <p:cNvSpPr/>
          <p:nvPr/>
        </p:nvSpPr>
        <p:spPr>
          <a:xfrm>
            <a:off x="6995160" y="2249280"/>
            <a:ext cx="448524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np.array([10, 20, 30])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7"/>
          <p:cNvSpPr/>
          <p:nvPr/>
        </p:nvSpPr>
        <p:spPr>
          <a:xfrm>
            <a:off x="6501240" y="2779920"/>
            <a:ext cx="494244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R’s core structure. Every element must be the same type.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8"/>
          <p:cNvSpPr/>
          <p:nvPr/>
        </p:nvSpPr>
        <p:spPr>
          <a:xfrm>
            <a:off x="457200" y="3566160"/>
            <a:ext cx="5454720" cy="223596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9"/>
          <p:cNvSpPr/>
          <p:nvPr/>
        </p:nvSpPr>
        <p:spPr>
          <a:xfrm>
            <a:off x="676800" y="3694320"/>
            <a:ext cx="5015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Named vector (an R favorite)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0"/>
          <p:cNvSpPr/>
          <p:nvPr/>
        </p:nvSpPr>
        <p:spPr>
          <a:xfrm>
            <a:off x="694800" y="4133160"/>
            <a:ext cx="398160" cy="398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" name="Image 6" descr="preencoded.png"/>
          <p:cNvPicPr/>
          <p:nvPr/>
        </p:nvPicPr>
        <p:blipFill>
          <a:blip r:embed="rId7"/>
          <a:stretch/>
        </p:blipFill>
        <p:spPr>
          <a:xfrm>
            <a:off x="767520" y="420552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 21"/>
          <p:cNvSpPr/>
          <p:nvPr/>
        </p:nvSpPr>
        <p:spPr>
          <a:xfrm>
            <a:off x="1207080" y="4133160"/>
            <a:ext cx="448524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c(a = 10, b = 20)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22"/>
          <p:cNvSpPr/>
          <p:nvPr/>
        </p:nvSpPr>
        <p:spPr>
          <a:xfrm>
            <a:off x="694800" y="4608720"/>
            <a:ext cx="398160" cy="398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3" name="Image 7" descr="preencoded.png"/>
          <p:cNvPicPr/>
          <p:nvPr/>
        </p:nvPicPr>
        <p:blipFill>
          <a:blip r:embed="rId8"/>
          <a:stretch/>
        </p:blipFill>
        <p:spPr>
          <a:xfrm>
            <a:off x="767520" y="468108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Text 23"/>
          <p:cNvSpPr/>
          <p:nvPr/>
        </p:nvSpPr>
        <p:spPr>
          <a:xfrm>
            <a:off x="1207080" y="4608720"/>
            <a:ext cx="448524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{"a": 10, "b": 20}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a dict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4"/>
          <p:cNvSpPr/>
          <p:nvPr/>
        </p:nvSpPr>
        <p:spPr>
          <a:xfrm>
            <a:off x="713160" y="5139000"/>
            <a:ext cx="494244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Each value has a label; grab it by name. Python uses a dict.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5"/>
          <p:cNvSpPr/>
          <p:nvPr/>
        </p:nvSpPr>
        <p:spPr>
          <a:xfrm>
            <a:off x="6245280" y="3566160"/>
            <a:ext cx="5454720" cy="223596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6"/>
          <p:cNvSpPr/>
          <p:nvPr/>
        </p:nvSpPr>
        <p:spPr>
          <a:xfrm>
            <a:off x="6464880" y="3694320"/>
            <a:ext cx="5015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Factor — a vector for categories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7"/>
          <p:cNvSpPr/>
          <p:nvPr/>
        </p:nvSpPr>
        <p:spPr>
          <a:xfrm>
            <a:off x="6483240" y="4133160"/>
            <a:ext cx="398160" cy="398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" name="Image 8" descr="preencoded.png"/>
          <p:cNvPicPr/>
          <p:nvPr/>
        </p:nvPicPr>
        <p:blipFill>
          <a:blip r:embed="rId9"/>
          <a:stretch/>
        </p:blipFill>
        <p:spPr>
          <a:xfrm>
            <a:off x="6555600" y="420552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Text 28"/>
          <p:cNvSpPr/>
          <p:nvPr/>
        </p:nvSpPr>
        <p:spPr>
          <a:xfrm>
            <a:off x="6995160" y="4133160"/>
            <a:ext cx="448524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factor(c("low","high"))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9"/>
          <p:cNvSpPr/>
          <p:nvPr/>
        </p:nvSpPr>
        <p:spPr>
          <a:xfrm>
            <a:off x="6483240" y="4608720"/>
            <a:ext cx="398160" cy="398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" name="Image 9" descr="preencoded.png"/>
          <p:cNvPicPr/>
          <p:nvPr/>
        </p:nvPicPr>
        <p:blipFill>
          <a:blip r:embed="rId10"/>
          <a:stretch/>
        </p:blipFill>
        <p:spPr>
          <a:xfrm>
            <a:off x="6555600" y="468108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Text 30"/>
          <p:cNvSpPr/>
          <p:nvPr/>
        </p:nvSpPr>
        <p:spPr>
          <a:xfrm>
            <a:off x="6995160" y="4608720"/>
            <a:ext cx="448524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pd.Categorical(["low"])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31"/>
          <p:cNvSpPr/>
          <p:nvPr/>
        </p:nvSpPr>
        <p:spPr>
          <a:xfrm>
            <a:off x="6501240" y="5139000"/>
            <a:ext cx="4942440" cy="55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 vector for fixed categories — e.g. treatment vs control.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32"/>
          <p:cNvSpPr/>
          <p:nvPr/>
        </p:nvSpPr>
        <p:spPr>
          <a:xfrm>
            <a:off x="457200" y="5943600"/>
            <a:ext cx="11242800" cy="471240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9525">
            <a:solidFill>
              <a:srgbClr val="E1E7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3"/>
          <p:cNvSpPr/>
          <p:nvPr/>
        </p:nvSpPr>
        <p:spPr>
          <a:xfrm>
            <a:off x="658440" y="5943600"/>
            <a:ext cx="10877040" cy="4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Basic types    </a:t>
            </a:r>
            <a:r>
              <a:rPr lang="en-US" sz="13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R: </a:t>
            </a:r>
            <a:r>
              <a:rPr lang="en-US" sz="125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numeric · integer · character · logical</a:t>
            </a:r>
            <a:r>
              <a:rPr lang="en-US" sz="13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      Python: </a:t>
            </a:r>
            <a:r>
              <a:rPr lang="en-US" sz="125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float · int · str · bool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34"/>
          <p:cNvSpPr/>
          <p:nvPr/>
        </p:nvSpPr>
        <p:spPr>
          <a:xfrm>
            <a:off x="10881360" y="6537960"/>
            <a:ext cx="8186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1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 0"/>
          <p:cNvSpPr/>
          <p:nvPr/>
        </p:nvSpPr>
        <p:spPr>
          <a:xfrm>
            <a:off x="457200" y="274320"/>
            <a:ext cx="1032840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2 · Lists, Dictionaries &amp; Arrays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"/>
          <p:cNvSpPr/>
          <p:nvPr/>
        </p:nvSpPr>
        <p:spPr>
          <a:xfrm>
            <a:off x="457200" y="822960"/>
            <a:ext cx="1041984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Mixing types, labelling items, and working with grids of numbers.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"/>
          <p:cNvSpPr/>
          <p:nvPr/>
        </p:nvSpPr>
        <p:spPr>
          <a:xfrm>
            <a:off x="11036880" y="311040"/>
            <a:ext cx="379800" cy="3798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1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1560" cy="24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Shape 3"/>
          <p:cNvSpPr/>
          <p:nvPr/>
        </p:nvSpPr>
        <p:spPr>
          <a:xfrm>
            <a:off x="11494080" y="311040"/>
            <a:ext cx="379800" cy="3798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1560" cy="24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Shape 4"/>
          <p:cNvSpPr/>
          <p:nvPr/>
        </p:nvSpPr>
        <p:spPr>
          <a:xfrm>
            <a:off x="457200" y="1207080"/>
            <a:ext cx="5299200" cy="2327400"/>
          </a:xfrm>
          <a:prstGeom prst="roundRect">
            <a:avLst>
              <a:gd name="adj" fmla="val 2353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5"/>
          <p:cNvSpPr/>
          <p:nvPr/>
        </p:nvSpPr>
        <p:spPr>
          <a:xfrm>
            <a:off x="676800" y="1334880"/>
            <a:ext cx="486036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List — a mixed bag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6"/>
          <p:cNvSpPr/>
          <p:nvPr/>
        </p:nvSpPr>
        <p:spPr>
          <a:xfrm>
            <a:off x="694800" y="1774080"/>
            <a:ext cx="398160" cy="398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2" descr="preencoded.png"/>
          <p:cNvPicPr/>
          <p:nvPr/>
        </p:nvPicPr>
        <p:blipFill>
          <a:blip r:embed="rId3"/>
          <a:stretch/>
        </p:blipFill>
        <p:spPr>
          <a:xfrm>
            <a:off x="767520" y="184644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7"/>
          <p:cNvSpPr/>
          <p:nvPr/>
        </p:nvSpPr>
        <p:spPr>
          <a:xfrm>
            <a:off x="1207080" y="1774080"/>
            <a:ext cx="43300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list(1, "two", TRUE)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8"/>
          <p:cNvSpPr/>
          <p:nvPr/>
        </p:nvSpPr>
        <p:spPr>
          <a:xfrm>
            <a:off x="694800" y="2249280"/>
            <a:ext cx="398160" cy="398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" name="Image 3" descr="preencoded.png"/>
          <p:cNvPicPr/>
          <p:nvPr/>
        </p:nvPicPr>
        <p:blipFill>
          <a:blip r:embed="rId4"/>
          <a:stretch/>
        </p:blipFill>
        <p:spPr>
          <a:xfrm>
            <a:off x="767520" y="232200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Text 9"/>
          <p:cNvSpPr/>
          <p:nvPr/>
        </p:nvSpPr>
        <p:spPr>
          <a:xfrm>
            <a:off x="1207080" y="2249280"/>
            <a:ext cx="43300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[1, "two", True]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0"/>
          <p:cNvSpPr/>
          <p:nvPr/>
        </p:nvSpPr>
        <p:spPr>
          <a:xfrm>
            <a:off x="713160" y="2779920"/>
            <a:ext cx="478728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 list can mix types — and even hold other lists inside.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457200" y="3657600"/>
            <a:ext cx="5299200" cy="2327400"/>
          </a:xfrm>
          <a:prstGeom prst="roundRect">
            <a:avLst>
              <a:gd name="adj" fmla="val 2353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2"/>
          <p:cNvSpPr/>
          <p:nvPr/>
        </p:nvSpPr>
        <p:spPr>
          <a:xfrm>
            <a:off x="676800" y="3785760"/>
            <a:ext cx="486036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Named list  /  Dictionary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3"/>
          <p:cNvSpPr/>
          <p:nvPr/>
        </p:nvSpPr>
        <p:spPr>
          <a:xfrm>
            <a:off x="694800" y="4224600"/>
            <a:ext cx="398160" cy="398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Image 4" descr="preencoded.png"/>
          <p:cNvPicPr/>
          <p:nvPr/>
        </p:nvPicPr>
        <p:blipFill>
          <a:blip r:embed="rId5"/>
          <a:stretch/>
        </p:blipFill>
        <p:spPr>
          <a:xfrm>
            <a:off x="767520" y="429696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Text 14"/>
          <p:cNvSpPr/>
          <p:nvPr/>
        </p:nvSpPr>
        <p:spPr>
          <a:xfrm>
            <a:off x="1207080" y="4224600"/>
            <a:ext cx="43300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list(name="Ada")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→ x$name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5"/>
          <p:cNvSpPr/>
          <p:nvPr/>
        </p:nvSpPr>
        <p:spPr>
          <a:xfrm>
            <a:off x="694800" y="4700160"/>
            <a:ext cx="398160" cy="398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9" name="Image 5" descr="preencoded.png"/>
          <p:cNvPicPr/>
          <p:nvPr/>
        </p:nvPicPr>
        <p:blipFill>
          <a:blip r:embed="rId6"/>
          <a:stretch/>
        </p:blipFill>
        <p:spPr>
          <a:xfrm>
            <a:off x="767520" y="477252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 16"/>
          <p:cNvSpPr/>
          <p:nvPr/>
        </p:nvSpPr>
        <p:spPr>
          <a:xfrm>
            <a:off x="1207080" y="4700160"/>
            <a:ext cx="43300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{"name":"Ada"}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→ x["name"]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7"/>
          <p:cNvSpPr/>
          <p:nvPr/>
        </p:nvSpPr>
        <p:spPr>
          <a:xfrm>
            <a:off x="713160" y="5230440"/>
            <a:ext cx="478728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Label each item. An R named list ≈ a Python dict.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8"/>
          <p:cNvSpPr/>
          <p:nvPr/>
        </p:nvSpPr>
        <p:spPr>
          <a:xfrm>
            <a:off x="5897880" y="1207080"/>
            <a:ext cx="5802120" cy="1989000"/>
          </a:xfrm>
          <a:prstGeom prst="roundRect">
            <a:avLst>
              <a:gd name="adj" fmla="val 2752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9"/>
          <p:cNvSpPr/>
          <p:nvPr/>
        </p:nvSpPr>
        <p:spPr>
          <a:xfrm>
            <a:off x="6117480" y="1334880"/>
            <a:ext cx="53632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Matrix / Array — a grid of numbers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20"/>
          <p:cNvSpPr/>
          <p:nvPr/>
        </p:nvSpPr>
        <p:spPr>
          <a:xfrm>
            <a:off x="6135480" y="1774080"/>
            <a:ext cx="398160" cy="398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" name="Image 6" descr="preencoded.png"/>
          <p:cNvPicPr/>
          <p:nvPr/>
        </p:nvPicPr>
        <p:blipFill>
          <a:blip r:embed="rId7"/>
          <a:stretch/>
        </p:blipFill>
        <p:spPr>
          <a:xfrm>
            <a:off x="6208200" y="184644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Text 21"/>
          <p:cNvSpPr/>
          <p:nvPr/>
        </p:nvSpPr>
        <p:spPr>
          <a:xfrm>
            <a:off x="6647760" y="1774080"/>
            <a:ext cx="483300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matrix(1:6, nrow=2)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22"/>
          <p:cNvSpPr/>
          <p:nvPr/>
        </p:nvSpPr>
        <p:spPr>
          <a:xfrm>
            <a:off x="6135480" y="2249280"/>
            <a:ext cx="398160" cy="398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8" name="Image 7" descr="preencoded.png"/>
          <p:cNvPicPr/>
          <p:nvPr/>
        </p:nvPicPr>
        <p:blipFill>
          <a:blip r:embed="rId8"/>
          <a:stretch/>
        </p:blipFill>
        <p:spPr>
          <a:xfrm>
            <a:off x="6208200" y="232200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Text 23"/>
          <p:cNvSpPr/>
          <p:nvPr/>
        </p:nvSpPr>
        <p:spPr>
          <a:xfrm>
            <a:off x="6647760" y="2249280"/>
            <a:ext cx="483300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np.array([[1,2,3],[4,5,6]])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24"/>
          <p:cNvSpPr/>
          <p:nvPr/>
        </p:nvSpPr>
        <p:spPr>
          <a:xfrm>
            <a:off x="6153840" y="2779920"/>
            <a:ext cx="529020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Same type, in rows × columns.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25"/>
          <p:cNvSpPr/>
          <p:nvPr/>
        </p:nvSpPr>
        <p:spPr>
          <a:xfrm>
            <a:off x="5897880" y="3319200"/>
            <a:ext cx="5802120" cy="2665800"/>
          </a:xfrm>
          <a:prstGeom prst="roundRect">
            <a:avLst>
              <a:gd name="adj" fmla="val 2055"/>
            </a:avLst>
          </a:prstGeom>
          <a:solidFill>
            <a:srgbClr val="EFF6FB"/>
          </a:solidFill>
          <a:ln w="9525">
            <a:solidFill>
              <a:srgbClr val="CFE0EE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26"/>
          <p:cNvSpPr/>
          <p:nvPr/>
        </p:nvSpPr>
        <p:spPr>
          <a:xfrm>
            <a:off x="6117480" y="3429000"/>
            <a:ext cx="53632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NumPy broadcasting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7"/>
          <p:cNvSpPr/>
          <p:nvPr/>
        </p:nvSpPr>
        <p:spPr>
          <a:xfrm>
            <a:off x="6117480" y="3822120"/>
            <a:ext cx="5363280" cy="5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When arrays have different shapes, NumPy stretches the smaller one to fit — without copying any data.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28"/>
          <p:cNvSpPr/>
          <p:nvPr/>
        </p:nvSpPr>
        <p:spPr>
          <a:xfrm>
            <a:off x="6117480" y="4617720"/>
            <a:ext cx="452880" cy="45288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9"/>
          <p:cNvSpPr/>
          <p:nvPr/>
        </p:nvSpPr>
        <p:spPr>
          <a:xfrm>
            <a:off x="6117480" y="4617720"/>
            <a:ext cx="45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30"/>
          <p:cNvSpPr/>
          <p:nvPr/>
        </p:nvSpPr>
        <p:spPr>
          <a:xfrm>
            <a:off x="6629400" y="4617720"/>
            <a:ext cx="452880" cy="45288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31"/>
          <p:cNvSpPr/>
          <p:nvPr/>
        </p:nvSpPr>
        <p:spPr>
          <a:xfrm>
            <a:off x="6629400" y="4617720"/>
            <a:ext cx="45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32"/>
          <p:cNvSpPr/>
          <p:nvPr/>
        </p:nvSpPr>
        <p:spPr>
          <a:xfrm>
            <a:off x="7141320" y="4617720"/>
            <a:ext cx="452880" cy="45288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3"/>
          <p:cNvSpPr/>
          <p:nvPr/>
        </p:nvSpPr>
        <p:spPr>
          <a:xfrm>
            <a:off x="7141320" y="4617720"/>
            <a:ext cx="45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34"/>
          <p:cNvSpPr/>
          <p:nvPr/>
        </p:nvSpPr>
        <p:spPr>
          <a:xfrm>
            <a:off x="7653600" y="4599360"/>
            <a:ext cx="3247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+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5"/>
          <p:cNvSpPr/>
          <p:nvPr/>
        </p:nvSpPr>
        <p:spPr>
          <a:xfrm>
            <a:off x="8019360" y="4617720"/>
            <a:ext cx="452880" cy="452880"/>
          </a:xfrm>
          <a:prstGeom prst="roundRect">
            <a:avLst>
              <a:gd name="adj" fmla="val 10000"/>
            </a:avLst>
          </a:prstGeom>
          <a:solidFill>
            <a:srgbClr val="FBE9CF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36"/>
          <p:cNvSpPr/>
          <p:nvPr/>
        </p:nvSpPr>
        <p:spPr>
          <a:xfrm>
            <a:off x="8019360" y="4617720"/>
            <a:ext cx="45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37"/>
          <p:cNvSpPr/>
          <p:nvPr/>
        </p:nvSpPr>
        <p:spPr>
          <a:xfrm>
            <a:off x="8531280" y="4617720"/>
            <a:ext cx="452880" cy="452880"/>
          </a:xfrm>
          <a:prstGeom prst="roundRect">
            <a:avLst>
              <a:gd name="adj" fmla="val 10000"/>
            </a:avLst>
          </a:prstGeom>
          <a:solidFill>
            <a:srgbClr val="FBE9CF">
              <a:alpha val="55000"/>
            </a:srgbClr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38"/>
          <p:cNvSpPr/>
          <p:nvPr/>
        </p:nvSpPr>
        <p:spPr>
          <a:xfrm>
            <a:off x="8531280" y="4617720"/>
            <a:ext cx="45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AA0B5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39"/>
          <p:cNvSpPr/>
          <p:nvPr/>
        </p:nvSpPr>
        <p:spPr>
          <a:xfrm>
            <a:off x="9043560" y="4617720"/>
            <a:ext cx="452880" cy="452880"/>
          </a:xfrm>
          <a:prstGeom prst="roundRect">
            <a:avLst>
              <a:gd name="adj" fmla="val 10000"/>
            </a:avLst>
          </a:prstGeom>
          <a:solidFill>
            <a:srgbClr val="FBE9CF">
              <a:alpha val="55000"/>
            </a:srgbClr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40"/>
          <p:cNvSpPr/>
          <p:nvPr/>
        </p:nvSpPr>
        <p:spPr>
          <a:xfrm>
            <a:off x="9043560" y="4617720"/>
            <a:ext cx="45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AA0B5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41"/>
          <p:cNvSpPr/>
          <p:nvPr/>
        </p:nvSpPr>
        <p:spPr>
          <a:xfrm>
            <a:off x="9555480" y="4599360"/>
            <a:ext cx="3247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=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42"/>
          <p:cNvSpPr/>
          <p:nvPr/>
        </p:nvSpPr>
        <p:spPr>
          <a:xfrm>
            <a:off x="9921240" y="4617720"/>
            <a:ext cx="452880" cy="45288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43"/>
          <p:cNvSpPr/>
          <p:nvPr/>
        </p:nvSpPr>
        <p:spPr>
          <a:xfrm>
            <a:off x="9921240" y="4617720"/>
            <a:ext cx="45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44"/>
          <p:cNvSpPr/>
          <p:nvPr/>
        </p:nvSpPr>
        <p:spPr>
          <a:xfrm>
            <a:off x="10433160" y="4617720"/>
            <a:ext cx="452880" cy="45288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45"/>
          <p:cNvSpPr/>
          <p:nvPr/>
        </p:nvSpPr>
        <p:spPr>
          <a:xfrm>
            <a:off x="10433160" y="4617720"/>
            <a:ext cx="45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46"/>
          <p:cNvSpPr/>
          <p:nvPr/>
        </p:nvSpPr>
        <p:spPr>
          <a:xfrm>
            <a:off x="10945440" y="4617720"/>
            <a:ext cx="452880" cy="45288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47"/>
          <p:cNvSpPr/>
          <p:nvPr/>
        </p:nvSpPr>
        <p:spPr>
          <a:xfrm>
            <a:off x="10945440" y="4617720"/>
            <a:ext cx="45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48"/>
          <p:cNvSpPr/>
          <p:nvPr/>
        </p:nvSpPr>
        <p:spPr>
          <a:xfrm>
            <a:off x="6117480" y="5257800"/>
            <a:ext cx="536328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np.array([1,2,3]) + 10</a:t>
            </a:r>
            <a:r>
              <a:rPr lang="en-US" sz="135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 → the 10 is added to every element.  </a:t>
            </a:r>
            <a:r>
              <a:rPr lang="en-US" sz="135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 calls this “recycling.”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49"/>
          <p:cNvSpPr/>
          <p:nvPr/>
        </p:nvSpPr>
        <p:spPr>
          <a:xfrm>
            <a:off x="10881360" y="6537960"/>
            <a:ext cx="8186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2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0"/>
          <p:cNvSpPr/>
          <p:nvPr/>
        </p:nvSpPr>
        <p:spPr>
          <a:xfrm>
            <a:off x="457200" y="274320"/>
            <a:ext cx="1032840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3 · Tables: data.frame, tibble &amp; DataFrame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457200" y="822960"/>
            <a:ext cx="1041984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Rows and columns — the format you’ll use most for real data.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2"/>
          <p:cNvSpPr/>
          <p:nvPr/>
        </p:nvSpPr>
        <p:spPr>
          <a:xfrm>
            <a:off x="11036880" y="311040"/>
            <a:ext cx="379800" cy="3798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9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1560" cy="24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Shape 3"/>
          <p:cNvSpPr/>
          <p:nvPr/>
        </p:nvSpPr>
        <p:spPr>
          <a:xfrm>
            <a:off x="11494080" y="311040"/>
            <a:ext cx="379800" cy="3798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1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1560" cy="24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 4"/>
          <p:cNvSpPr/>
          <p:nvPr/>
        </p:nvSpPr>
        <p:spPr>
          <a:xfrm>
            <a:off x="457200" y="1097280"/>
            <a:ext cx="11242800" cy="2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Every object below stores data as rows × columns, like this: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3" name="Table 0"/>
          <p:cNvGraphicFramePr/>
          <p:nvPr/>
        </p:nvGraphicFramePr>
        <p:xfrm>
          <a:off x="3840480" y="1371600"/>
          <a:ext cx="4480200" cy="131616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463040"/>
              </a:tblGrid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sample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gene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expr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TP53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5.2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EGFR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8.1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MYC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6.7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4" name="Shape 5"/>
          <p:cNvSpPr/>
          <p:nvPr/>
        </p:nvSpPr>
        <p:spPr>
          <a:xfrm>
            <a:off x="457200" y="2853000"/>
            <a:ext cx="5482080" cy="434520"/>
          </a:xfrm>
          <a:prstGeom prst="roundRect">
            <a:avLst>
              <a:gd name="adj" fmla="val 12500"/>
            </a:avLst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6"/>
          <p:cNvSpPr/>
          <p:nvPr/>
        </p:nvSpPr>
        <p:spPr>
          <a:xfrm>
            <a:off x="585360" y="2917080"/>
            <a:ext cx="306720" cy="3067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6" name="Image 2" descr="preencoded.png"/>
          <p:cNvPicPr/>
          <p:nvPr/>
        </p:nvPicPr>
        <p:blipFill>
          <a:blip r:embed="rId3"/>
          <a:stretch/>
        </p:blipFill>
        <p:spPr>
          <a:xfrm>
            <a:off x="641160" y="2972880"/>
            <a:ext cx="194760" cy="19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" name="Text 7"/>
          <p:cNvSpPr/>
          <p:nvPr/>
        </p:nvSpPr>
        <p:spPr>
          <a:xfrm>
            <a:off x="987480" y="2853000"/>
            <a:ext cx="484200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 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8"/>
          <p:cNvSpPr/>
          <p:nvPr/>
        </p:nvSpPr>
        <p:spPr>
          <a:xfrm>
            <a:off x="457200" y="3401640"/>
            <a:ext cx="5482080" cy="95580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9"/>
          <p:cNvSpPr/>
          <p:nvPr/>
        </p:nvSpPr>
        <p:spPr>
          <a:xfrm>
            <a:off x="640080" y="3493080"/>
            <a:ext cx="51163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data.frame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data.frame(gene=…)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0"/>
          <p:cNvSpPr/>
          <p:nvPr/>
        </p:nvSpPr>
        <p:spPr>
          <a:xfrm>
            <a:off x="640080" y="3904560"/>
            <a:ext cx="5116320" cy="3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Base R’s classic table; columns may differ in type.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1"/>
          <p:cNvSpPr/>
          <p:nvPr/>
        </p:nvSpPr>
        <p:spPr>
          <a:xfrm>
            <a:off x="457200" y="4471560"/>
            <a:ext cx="5482080" cy="95580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2"/>
          <p:cNvSpPr/>
          <p:nvPr/>
        </p:nvSpPr>
        <p:spPr>
          <a:xfrm>
            <a:off x="640080" y="4563000"/>
            <a:ext cx="51163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tibble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tibble(gene=…)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3"/>
          <p:cNvSpPr/>
          <p:nvPr/>
        </p:nvSpPr>
        <p:spPr>
          <a:xfrm>
            <a:off x="640080" y="4974480"/>
            <a:ext cx="5116320" cy="3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Tidyverse table — cleaner, </a:t>
            </a: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stricter, keeps text as text.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4"/>
          <p:cNvSpPr/>
          <p:nvPr/>
        </p:nvSpPr>
        <p:spPr>
          <a:xfrm>
            <a:off x="457200" y="5541120"/>
            <a:ext cx="5482080" cy="95580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5"/>
          <p:cNvSpPr/>
          <p:nvPr/>
        </p:nvSpPr>
        <p:spPr>
          <a:xfrm>
            <a:off x="640080" y="5632560"/>
            <a:ext cx="51163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data.table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data.table(gene=…)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6"/>
          <p:cNvSpPr/>
          <p:nvPr/>
        </p:nvSpPr>
        <p:spPr>
          <a:xfrm>
            <a:off x="640080" y="6044040"/>
            <a:ext cx="5116320" cy="3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Built for speed on big data: DT[i, j, by].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17"/>
          <p:cNvSpPr/>
          <p:nvPr/>
        </p:nvSpPr>
        <p:spPr>
          <a:xfrm>
            <a:off x="6217920" y="2853000"/>
            <a:ext cx="5482080" cy="434520"/>
          </a:xfrm>
          <a:prstGeom prst="roundRect">
            <a:avLst>
              <a:gd name="adj" fmla="val 12500"/>
            </a:avLst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8"/>
          <p:cNvSpPr/>
          <p:nvPr/>
        </p:nvSpPr>
        <p:spPr>
          <a:xfrm>
            <a:off x="6346080" y="2917080"/>
            <a:ext cx="306720" cy="30672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9" name="Image 3" descr="preencoded.png"/>
          <p:cNvPicPr/>
          <p:nvPr/>
        </p:nvPicPr>
        <p:blipFill>
          <a:blip r:embed="rId4"/>
          <a:stretch/>
        </p:blipFill>
        <p:spPr>
          <a:xfrm>
            <a:off x="6401880" y="2972880"/>
            <a:ext cx="194760" cy="19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Text 19"/>
          <p:cNvSpPr/>
          <p:nvPr/>
        </p:nvSpPr>
        <p:spPr>
          <a:xfrm>
            <a:off x="6748200" y="2853000"/>
            <a:ext cx="484200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 Python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20"/>
          <p:cNvSpPr/>
          <p:nvPr/>
        </p:nvSpPr>
        <p:spPr>
          <a:xfrm>
            <a:off x="6217920" y="3401640"/>
            <a:ext cx="5482080" cy="955800"/>
          </a:xfrm>
          <a:prstGeom prst="roundRect">
            <a:avLst>
              <a:gd name="adj" fmla="val 5714"/>
            </a:avLst>
          </a:prstGeom>
          <a:solidFill>
            <a:srgbClr val="FBF1E1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1"/>
          <p:cNvSpPr/>
          <p:nvPr/>
        </p:nvSpPr>
        <p:spPr>
          <a:xfrm>
            <a:off x="6400800" y="3493080"/>
            <a:ext cx="51163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pandas.DataFrame   </a:t>
            </a:r>
            <a:r>
              <a:rPr lang="en-US" sz="13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pd.DataFrame(…)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2"/>
          <p:cNvSpPr/>
          <p:nvPr/>
        </p:nvSpPr>
        <p:spPr>
          <a:xfrm>
            <a:off x="6400800" y="3904560"/>
            <a:ext cx="5116320" cy="3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everyday Python table — matches all three at left.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23"/>
          <p:cNvSpPr/>
          <p:nvPr/>
        </p:nvSpPr>
        <p:spPr>
          <a:xfrm>
            <a:off x="6217920" y="4471560"/>
            <a:ext cx="5482080" cy="955800"/>
          </a:xfrm>
          <a:prstGeom prst="roundRect">
            <a:avLst>
              <a:gd name="adj" fmla="val 5714"/>
            </a:avLst>
          </a:prstGeom>
          <a:solidFill>
            <a:srgbClr val="FBF1E1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4"/>
          <p:cNvSpPr/>
          <p:nvPr/>
        </p:nvSpPr>
        <p:spPr>
          <a:xfrm>
            <a:off x="6400800" y="4563000"/>
            <a:ext cx="51163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polars.DataFrame   </a:t>
            </a:r>
            <a:r>
              <a:rPr lang="en-US" sz="13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pl.DataFrame(…)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5"/>
          <p:cNvSpPr/>
          <p:nvPr/>
        </p:nvSpPr>
        <p:spPr>
          <a:xfrm>
            <a:off x="6400800" y="4974480"/>
            <a:ext cx="5116320" cy="3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Fast, modern — Python’s answer to R’s data.table.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26"/>
          <p:cNvSpPr/>
          <p:nvPr/>
        </p:nvSpPr>
        <p:spPr>
          <a:xfrm>
            <a:off x="6217920" y="5541120"/>
            <a:ext cx="5482080" cy="955800"/>
          </a:xfrm>
          <a:prstGeom prst="roundRect">
            <a:avLst>
              <a:gd name="adj" fmla="val 5714"/>
            </a:avLst>
          </a:prstGeom>
          <a:solidFill>
            <a:srgbClr val="FEF6E7"/>
          </a:solidFill>
          <a:ln w="9525">
            <a:solidFill>
              <a:srgbClr val="F0DDB6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27"/>
          <p:cNvSpPr/>
          <p:nvPr/>
        </p:nvSpPr>
        <p:spPr>
          <a:xfrm>
            <a:off x="6400800" y="5541120"/>
            <a:ext cx="5116320" cy="95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97E1A"/>
                </a:solidFill>
                <a:effectLst/>
                <a:uFillTx/>
                <a:latin typeface="Calibri"/>
                <a:ea typeface="Calibri"/>
              </a:rPr>
              <a:t>Rule of thumb: 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data.frame</a:t>
            </a:r>
            <a:r>
              <a:rPr lang="en-US" sz="14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/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tibble</a:t>
            </a:r>
            <a:r>
              <a:rPr lang="en-US" sz="1400" b="1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≈ </a:t>
            </a:r>
            <a:r>
              <a:rPr lang="en-US" sz="14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pandas</a:t>
            </a:r>
            <a:r>
              <a:rPr lang="en-US" sz="14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, 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data.table</a:t>
            </a:r>
            <a:r>
              <a:rPr lang="en-US" sz="1400" b="1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≈ </a:t>
            </a:r>
            <a:r>
              <a:rPr lang="en-US" sz="14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polars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28"/>
          <p:cNvSpPr/>
          <p:nvPr/>
        </p:nvSpPr>
        <p:spPr>
          <a:xfrm>
            <a:off x="10881360" y="6537960"/>
            <a:ext cx="8186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3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ext 0"/>
          <p:cNvSpPr/>
          <p:nvPr/>
        </p:nvSpPr>
        <p:spPr>
          <a:xfrm>
            <a:off x="457200" y="274320"/>
            <a:ext cx="1032840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4 · Selecting Columns &amp; Rows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"/>
          <p:cNvSpPr/>
          <p:nvPr/>
        </p:nvSpPr>
        <p:spPr>
          <a:xfrm>
            <a:off x="457200" y="822960"/>
            <a:ext cx="1041984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two most common moves — pick the columns you want, keep the rows you want.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2"/>
          <p:cNvSpPr/>
          <p:nvPr/>
        </p:nvSpPr>
        <p:spPr>
          <a:xfrm>
            <a:off x="11036880" y="311040"/>
            <a:ext cx="379800" cy="3798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3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1560" cy="24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Shape 3"/>
          <p:cNvSpPr/>
          <p:nvPr/>
        </p:nvSpPr>
        <p:spPr>
          <a:xfrm>
            <a:off x="11494080" y="311040"/>
            <a:ext cx="379800" cy="3798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5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1560" cy="24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6" name="Shape 4"/>
          <p:cNvSpPr/>
          <p:nvPr/>
        </p:nvSpPr>
        <p:spPr>
          <a:xfrm>
            <a:off x="457200" y="1280160"/>
            <a:ext cx="11242800" cy="239148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5"/>
          <p:cNvSpPr/>
          <p:nvPr/>
        </p:nvSpPr>
        <p:spPr>
          <a:xfrm>
            <a:off x="731520" y="1463040"/>
            <a:ext cx="452880" cy="45288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2" descr="preencoded.png"/>
          <p:cNvPicPr/>
          <p:nvPr/>
        </p:nvPicPr>
        <p:blipFill>
          <a:blip r:embed="rId3"/>
          <a:stretch/>
        </p:blipFill>
        <p:spPr>
          <a:xfrm>
            <a:off x="834480" y="1566000"/>
            <a:ext cx="247320" cy="24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6"/>
          <p:cNvSpPr/>
          <p:nvPr/>
        </p:nvSpPr>
        <p:spPr>
          <a:xfrm>
            <a:off x="1353240" y="1463040"/>
            <a:ext cx="1014552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columns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7"/>
          <p:cNvSpPr/>
          <p:nvPr/>
        </p:nvSpPr>
        <p:spPr>
          <a:xfrm>
            <a:off x="768240" y="2048400"/>
            <a:ext cx="398160" cy="398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1" name="Image 3" descr="preencoded.png"/>
          <p:cNvPicPr/>
          <p:nvPr/>
        </p:nvPicPr>
        <p:blipFill>
          <a:blip r:embed="rId4"/>
          <a:stretch/>
        </p:blipFill>
        <p:spPr>
          <a:xfrm>
            <a:off x="840600" y="212076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2" name="Text 8"/>
          <p:cNvSpPr/>
          <p:nvPr/>
        </p:nvSpPr>
        <p:spPr>
          <a:xfrm>
            <a:off x="1280160" y="2048400"/>
            <a:ext cx="9100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9"/>
          <p:cNvSpPr/>
          <p:nvPr/>
        </p:nvSpPr>
        <p:spPr>
          <a:xfrm>
            <a:off x="2240280" y="2048400"/>
            <a:ext cx="92311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select(gene, expr)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0"/>
          <p:cNvSpPr/>
          <p:nvPr/>
        </p:nvSpPr>
        <p:spPr>
          <a:xfrm>
            <a:off x="768240" y="2578680"/>
            <a:ext cx="398160" cy="398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5" name="Image 4" descr="preencoded.png"/>
          <p:cNvPicPr/>
          <p:nvPr/>
        </p:nvPicPr>
        <p:blipFill>
          <a:blip r:embed="rId5"/>
          <a:stretch/>
        </p:blipFill>
        <p:spPr>
          <a:xfrm>
            <a:off x="840600" y="265104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6" name="Text 11"/>
          <p:cNvSpPr/>
          <p:nvPr/>
        </p:nvSpPr>
        <p:spPr>
          <a:xfrm>
            <a:off x="1280160" y="2578680"/>
            <a:ext cx="9100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2"/>
          <p:cNvSpPr/>
          <p:nvPr/>
        </p:nvSpPr>
        <p:spPr>
          <a:xfrm>
            <a:off x="2240280" y="2578680"/>
            <a:ext cx="92311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df[["gene", "expr"]]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3"/>
          <p:cNvSpPr/>
          <p:nvPr/>
        </p:nvSpPr>
        <p:spPr>
          <a:xfrm>
            <a:off x="786240" y="3090600"/>
            <a:ext cx="10602720" cy="2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Keep only the columns you name.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4"/>
          <p:cNvSpPr/>
          <p:nvPr/>
        </p:nvSpPr>
        <p:spPr>
          <a:xfrm>
            <a:off x="786240" y="3383280"/>
            <a:ext cx="1060272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df.select("gene", "expr")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15"/>
          <p:cNvSpPr/>
          <p:nvPr/>
        </p:nvSpPr>
        <p:spPr>
          <a:xfrm>
            <a:off x="457200" y="3822120"/>
            <a:ext cx="11242800" cy="239148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16"/>
          <p:cNvSpPr/>
          <p:nvPr/>
        </p:nvSpPr>
        <p:spPr>
          <a:xfrm>
            <a:off x="731520" y="4005000"/>
            <a:ext cx="452880" cy="452880"/>
          </a:xfrm>
          <a:prstGeom prst="ellipse">
            <a:avLst/>
          </a:prstGeom>
          <a:solidFill>
            <a:srgbClr val="1F7A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2" name="Image 5" descr="preencoded.png"/>
          <p:cNvPicPr/>
          <p:nvPr/>
        </p:nvPicPr>
        <p:blipFill>
          <a:blip r:embed="rId6"/>
          <a:stretch/>
        </p:blipFill>
        <p:spPr>
          <a:xfrm>
            <a:off x="834480" y="4107960"/>
            <a:ext cx="247320" cy="24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Text 17"/>
          <p:cNvSpPr/>
          <p:nvPr/>
        </p:nvSpPr>
        <p:spPr>
          <a:xfrm>
            <a:off x="1353240" y="4005000"/>
            <a:ext cx="1014552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rows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18"/>
          <p:cNvSpPr/>
          <p:nvPr/>
        </p:nvSpPr>
        <p:spPr>
          <a:xfrm>
            <a:off x="768240" y="4590360"/>
            <a:ext cx="398160" cy="398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Image 6" descr="preencoded.png"/>
          <p:cNvPicPr/>
          <p:nvPr/>
        </p:nvPicPr>
        <p:blipFill>
          <a:blip r:embed="rId7"/>
          <a:stretch/>
        </p:blipFill>
        <p:spPr>
          <a:xfrm>
            <a:off x="840600" y="466272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Text 19"/>
          <p:cNvSpPr/>
          <p:nvPr/>
        </p:nvSpPr>
        <p:spPr>
          <a:xfrm>
            <a:off x="1280160" y="4590360"/>
            <a:ext cx="9100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20"/>
          <p:cNvSpPr/>
          <p:nvPr/>
        </p:nvSpPr>
        <p:spPr>
          <a:xfrm>
            <a:off x="2240280" y="4590360"/>
            <a:ext cx="92311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filter(expr &gt; 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21"/>
          <p:cNvSpPr/>
          <p:nvPr/>
        </p:nvSpPr>
        <p:spPr>
          <a:xfrm>
            <a:off x="768240" y="5120640"/>
            <a:ext cx="398160" cy="398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9" name="Image 7" descr="preencoded.png"/>
          <p:cNvPicPr/>
          <p:nvPr/>
        </p:nvPicPr>
        <p:blipFill>
          <a:blip r:embed="rId8"/>
          <a:stretch/>
        </p:blipFill>
        <p:spPr>
          <a:xfrm>
            <a:off x="840600" y="519300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0" name="Text 22"/>
          <p:cNvSpPr/>
          <p:nvPr/>
        </p:nvSpPr>
        <p:spPr>
          <a:xfrm>
            <a:off x="1280160" y="5120640"/>
            <a:ext cx="9100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23"/>
          <p:cNvSpPr/>
          <p:nvPr/>
        </p:nvSpPr>
        <p:spPr>
          <a:xfrm>
            <a:off x="2240280" y="5120640"/>
            <a:ext cx="92311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df[df["expr"] &gt; 6]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24"/>
          <p:cNvSpPr/>
          <p:nvPr/>
        </p:nvSpPr>
        <p:spPr>
          <a:xfrm>
            <a:off x="786240" y="5632560"/>
            <a:ext cx="10602720" cy="2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Keep only the rows that meet a condition.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5"/>
          <p:cNvSpPr/>
          <p:nvPr/>
        </p:nvSpPr>
        <p:spPr>
          <a:xfrm>
            <a:off x="786240" y="5925240"/>
            <a:ext cx="1060272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df.filter(pl.col("expr") &gt; 6)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26"/>
          <p:cNvSpPr/>
          <p:nvPr/>
        </p:nvSpPr>
        <p:spPr>
          <a:xfrm>
            <a:off x="10881360" y="6537960"/>
            <a:ext cx="8186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4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xt 0"/>
          <p:cNvSpPr/>
          <p:nvPr/>
        </p:nvSpPr>
        <p:spPr>
          <a:xfrm>
            <a:off x="457200" y="274320"/>
            <a:ext cx="1032840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5 · Adding &amp; Updating Rows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"/>
          <p:cNvSpPr/>
          <p:nvPr/>
        </p:nvSpPr>
        <p:spPr>
          <a:xfrm>
            <a:off x="457200" y="822960"/>
            <a:ext cx="1041984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Append a new observation, or change a value in an existing row.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2"/>
          <p:cNvSpPr/>
          <p:nvPr/>
        </p:nvSpPr>
        <p:spPr>
          <a:xfrm>
            <a:off x="11036880" y="311040"/>
            <a:ext cx="379800" cy="3798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8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1560" cy="24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" name="Shape 3"/>
          <p:cNvSpPr/>
          <p:nvPr/>
        </p:nvSpPr>
        <p:spPr>
          <a:xfrm>
            <a:off x="11494080" y="311040"/>
            <a:ext cx="379800" cy="3798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0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1560" cy="24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" name="Shape 4"/>
          <p:cNvSpPr/>
          <p:nvPr/>
        </p:nvSpPr>
        <p:spPr>
          <a:xfrm>
            <a:off x="457200" y="1280160"/>
            <a:ext cx="11242800" cy="239148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5"/>
          <p:cNvSpPr/>
          <p:nvPr/>
        </p:nvSpPr>
        <p:spPr>
          <a:xfrm>
            <a:off x="731520" y="1463040"/>
            <a:ext cx="452880" cy="45288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3" name="Image 2" descr="preencoded.png"/>
          <p:cNvPicPr/>
          <p:nvPr/>
        </p:nvPicPr>
        <p:blipFill>
          <a:blip r:embed="rId3"/>
          <a:stretch/>
        </p:blipFill>
        <p:spPr>
          <a:xfrm>
            <a:off x="834480" y="1566000"/>
            <a:ext cx="247320" cy="24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Text 6"/>
          <p:cNvSpPr/>
          <p:nvPr/>
        </p:nvSpPr>
        <p:spPr>
          <a:xfrm>
            <a:off x="1353240" y="1463040"/>
            <a:ext cx="1014552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Add a row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7"/>
          <p:cNvSpPr/>
          <p:nvPr/>
        </p:nvSpPr>
        <p:spPr>
          <a:xfrm>
            <a:off x="768240" y="2048400"/>
            <a:ext cx="398160" cy="398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6" name="Image 3" descr="preencoded.png"/>
          <p:cNvPicPr/>
          <p:nvPr/>
        </p:nvPicPr>
        <p:blipFill>
          <a:blip r:embed="rId4"/>
          <a:stretch/>
        </p:blipFill>
        <p:spPr>
          <a:xfrm>
            <a:off x="840600" y="212076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Text 8"/>
          <p:cNvSpPr/>
          <p:nvPr/>
        </p:nvSpPr>
        <p:spPr>
          <a:xfrm>
            <a:off x="1280160" y="2048400"/>
            <a:ext cx="9100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9"/>
          <p:cNvSpPr/>
          <p:nvPr/>
        </p:nvSpPr>
        <p:spPr>
          <a:xfrm>
            <a:off x="2240280" y="2048400"/>
            <a:ext cx="92311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add_row(sample="S4", gene="KRAS", expr=7.3)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10"/>
          <p:cNvSpPr/>
          <p:nvPr/>
        </p:nvSpPr>
        <p:spPr>
          <a:xfrm>
            <a:off x="768240" y="2578680"/>
            <a:ext cx="398160" cy="398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0" name="Image 4" descr="preencoded.png"/>
          <p:cNvPicPr/>
          <p:nvPr/>
        </p:nvPicPr>
        <p:blipFill>
          <a:blip r:embed="rId5"/>
          <a:stretch/>
        </p:blipFill>
        <p:spPr>
          <a:xfrm>
            <a:off x="840600" y="265104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Text 11"/>
          <p:cNvSpPr/>
          <p:nvPr/>
        </p:nvSpPr>
        <p:spPr>
          <a:xfrm>
            <a:off x="1280160" y="2578680"/>
            <a:ext cx="9100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2"/>
          <p:cNvSpPr/>
          <p:nvPr/>
        </p:nvSpPr>
        <p:spPr>
          <a:xfrm>
            <a:off x="2240280" y="2578680"/>
            <a:ext cx="92311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df.loc[len(df)] = ["S4", "KRAS", 7.3]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13"/>
          <p:cNvSpPr/>
          <p:nvPr/>
        </p:nvSpPr>
        <p:spPr>
          <a:xfrm>
            <a:off x="786240" y="3090600"/>
            <a:ext cx="10602720" cy="2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Append a new observation (sample S4) to the bottom.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4"/>
          <p:cNvSpPr/>
          <p:nvPr/>
        </p:nvSpPr>
        <p:spPr>
          <a:xfrm>
            <a:off x="786240" y="3383280"/>
            <a:ext cx="1060272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pl.concat([df, df_new])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15"/>
          <p:cNvSpPr/>
          <p:nvPr/>
        </p:nvSpPr>
        <p:spPr>
          <a:xfrm>
            <a:off x="457200" y="3822120"/>
            <a:ext cx="11242800" cy="239148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6"/>
          <p:cNvSpPr/>
          <p:nvPr/>
        </p:nvSpPr>
        <p:spPr>
          <a:xfrm>
            <a:off x="731520" y="4005000"/>
            <a:ext cx="452880" cy="452880"/>
          </a:xfrm>
          <a:prstGeom prst="ellipse">
            <a:avLst/>
          </a:prstGeom>
          <a:solidFill>
            <a:srgbClr val="B565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7" name="Image 5" descr="preencoded.png"/>
          <p:cNvPicPr/>
          <p:nvPr/>
        </p:nvPicPr>
        <p:blipFill>
          <a:blip r:embed="rId6"/>
          <a:stretch/>
        </p:blipFill>
        <p:spPr>
          <a:xfrm>
            <a:off x="834480" y="4107960"/>
            <a:ext cx="247320" cy="24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Text 17"/>
          <p:cNvSpPr/>
          <p:nvPr/>
        </p:nvSpPr>
        <p:spPr>
          <a:xfrm>
            <a:off x="1353240" y="4005000"/>
            <a:ext cx="1014552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Update a value in a row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18"/>
          <p:cNvSpPr/>
          <p:nvPr/>
        </p:nvSpPr>
        <p:spPr>
          <a:xfrm>
            <a:off x="768240" y="4590360"/>
            <a:ext cx="398160" cy="398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0" name="Image 6" descr="preencoded.png"/>
          <p:cNvPicPr/>
          <p:nvPr/>
        </p:nvPicPr>
        <p:blipFill>
          <a:blip r:embed="rId7"/>
          <a:stretch/>
        </p:blipFill>
        <p:spPr>
          <a:xfrm>
            <a:off x="840600" y="466272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Text 19"/>
          <p:cNvSpPr/>
          <p:nvPr/>
        </p:nvSpPr>
        <p:spPr>
          <a:xfrm>
            <a:off x="1280160" y="4590360"/>
            <a:ext cx="9100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20"/>
          <p:cNvSpPr/>
          <p:nvPr/>
        </p:nvSpPr>
        <p:spPr>
          <a:xfrm>
            <a:off x="2240280" y="4590360"/>
            <a:ext cx="92311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mutate(expr = if_else(sample=="S2", 9.0, expr))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21"/>
          <p:cNvSpPr/>
          <p:nvPr/>
        </p:nvSpPr>
        <p:spPr>
          <a:xfrm>
            <a:off x="768240" y="5120640"/>
            <a:ext cx="398160" cy="398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4" name="Image 7" descr="preencoded.png"/>
          <p:cNvPicPr/>
          <p:nvPr/>
        </p:nvPicPr>
        <p:blipFill>
          <a:blip r:embed="rId8"/>
          <a:stretch/>
        </p:blipFill>
        <p:spPr>
          <a:xfrm>
            <a:off x="840600" y="5193000"/>
            <a:ext cx="253080" cy="25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5" name="Text 22"/>
          <p:cNvSpPr/>
          <p:nvPr/>
        </p:nvSpPr>
        <p:spPr>
          <a:xfrm>
            <a:off x="1280160" y="5120640"/>
            <a:ext cx="91008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23"/>
          <p:cNvSpPr/>
          <p:nvPr/>
        </p:nvSpPr>
        <p:spPr>
          <a:xfrm>
            <a:off x="2240280" y="5120640"/>
            <a:ext cx="92311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df.loc[df["sample"] == "S2", "expr"] = 9.0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24"/>
          <p:cNvSpPr/>
          <p:nvPr/>
        </p:nvSpPr>
        <p:spPr>
          <a:xfrm>
            <a:off x="786240" y="5632560"/>
            <a:ext cx="10602720" cy="2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Change a cell where a condition holds (set S2’s expr to 9.0).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25"/>
          <p:cNvSpPr/>
          <p:nvPr/>
        </p:nvSpPr>
        <p:spPr>
          <a:xfrm>
            <a:off x="786240" y="5925240"/>
            <a:ext cx="1060272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25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df.with_columns(pl.when(pl.col("sample")=="S2").then(9.0).otherwise(pl.col("expr")).alias("expr"))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26"/>
          <p:cNvSpPr/>
          <p:nvPr/>
        </p:nvSpPr>
        <p:spPr>
          <a:xfrm>
            <a:off x="10881360" y="6537960"/>
            <a:ext cx="8186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5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Text 0"/>
          <p:cNvSpPr/>
          <p:nvPr/>
        </p:nvSpPr>
        <p:spPr>
          <a:xfrm>
            <a:off x="457200" y="274320"/>
            <a:ext cx="1032840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Backup Slides: The Older Base R Way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"/>
          <p:cNvSpPr/>
          <p:nvPr/>
        </p:nvSpPr>
        <p:spPr>
          <a:xfrm>
            <a:off x="457200" y="822960"/>
            <a:ext cx="1041984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Same operations without the tidyverse — worth recognizing in older code.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2"/>
          <p:cNvSpPr/>
          <p:nvPr/>
        </p:nvSpPr>
        <p:spPr>
          <a:xfrm>
            <a:off x="11036880" y="311040"/>
            <a:ext cx="379800" cy="3798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3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1560" cy="24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4" name="Shape 3"/>
          <p:cNvSpPr/>
          <p:nvPr/>
        </p:nvSpPr>
        <p:spPr>
          <a:xfrm>
            <a:off x="11494080" y="311040"/>
            <a:ext cx="379800" cy="3798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5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1560" cy="24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Shape 4"/>
          <p:cNvSpPr/>
          <p:nvPr/>
        </p:nvSpPr>
        <p:spPr>
          <a:xfrm>
            <a:off x="10104120" y="841320"/>
            <a:ext cx="910080" cy="306720"/>
          </a:xfrm>
          <a:prstGeom prst="roundRect">
            <a:avLst>
              <a:gd name="adj" fmla="val 14706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5"/>
          <p:cNvSpPr/>
          <p:nvPr/>
        </p:nvSpPr>
        <p:spPr>
          <a:xfrm>
            <a:off x="10104120" y="841320"/>
            <a:ext cx="91008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BACKUP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6"/>
          <p:cNvSpPr/>
          <p:nvPr/>
        </p:nvSpPr>
        <p:spPr>
          <a:xfrm>
            <a:off x="457200" y="1298520"/>
            <a:ext cx="11242800" cy="121644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7"/>
          <p:cNvSpPr/>
          <p:nvPr/>
        </p:nvSpPr>
        <p:spPr>
          <a:xfrm>
            <a:off x="731520" y="1698480"/>
            <a:ext cx="416160" cy="416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0" name="Image 2" descr="preencoded.png"/>
          <p:cNvPicPr/>
          <p:nvPr/>
        </p:nvPicPr>
        <p:blipFill>
          <a:blip r:embed="rId3"/>
          <a:stretch/>
        </p:blipFill>
        <p:spPr>
          <a:xfrm>
            <a:off x="807120" y="1774080"/>
            <a:ext cx="264960" cy="26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Text 8"/>
          <p:cNvSpPr/>
          <p:nvPr/>
        </p:nvSpPr>
        <p:spPr>
          <a:xfrm>
            <a:off x="1325880" y="1417320"/>
            <a:ext cx="1014552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columns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9"/>
          <p:cNvSpPr/>
          <p:nvPr/>
        </p:nvSpPr>
        <p:spPr>
          <a:xfrm>
            <a:off x="1325880" y="1755720"/>
            <a:ext cx="101455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df[, c("gene", </a:t>
            </a: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"expr")]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0"/>
          <p:cNvSpPr/>
          <p:nvPr/>
        </p:nvSpPr>
        <p:spPr>
          <a:xfrm>
            <a:off x="1325880" y="2167200"/>
            <a:ext cx="1014552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Add drop=FALSE to guarantee it stays a data.frame.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1"/>
          <p:cNvSpPr/>
          <p:nvPr/>
        </p:nvSpPr>
        <p:spPr>
          <a:xfrm>
            <a:off x="457200" y="2629080"/>
            <a:ext cx="11242800" cy="121644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12"/>
          <p:cNvSpPr/>
          <p:nvPr/>
        </p:nvSpPr>
        <p:spPr>
          <a:xfrm>
            <a:off x="731520" y="3029040"/>
            <a:ext cx="416160" cy="416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6" name="Image 3" descr="preencoded.png"/>
          <p:cNvPicPr/>
          <p:nvPr/>
        </p:nvPicPr>
        <p:blipFill>
          <a:blip r:embed="rId4"/>
          <a:stretch/>
        </p:blipFill>
        <p:spPr>
          <a:xfrm>
            <a:off x="807120" y="3104640"/>
            <a:ext cx="264960" cy="26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7" name="Text 13"/>
          <p:cNvSpPr/>
          <p:nvPr/>
        </p:nvSpPr>
        <p:spPr>
          <a:xfrm>
            <a:off x="1325880" y="2747880"/>
            <a:ext cx="1014552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rows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4"/>
          <p:cNvSpPr/>
          <p:nvPr/>
        </p:nvSpPr>
        <p:spPr>
          <a:xfrm>
            <a:off x="1325880" y="3086280"/>
            <a:ext cx="101455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df[df$expr &gt; 6, 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5"/>
          <p:cNvSpPr/>
          <p:nvPr/>
        </p:nvSpPr>
        <p:spPr>
          <a:xfrm>
            <a:off x="1325880" y="3497760"/>
            <a:ext cx="1014552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Mind the trailing comma — it means “all columns.”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16"/>
          <p:cNvSpPr/>
          <p:nvPr/>
        </p:nvSpPr>
        <p:spPr>
          <a:xfrm>
            <a:off x="457200" y="3959280"/>
            <a:ext cx="11242800" cy="121644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17"/>
          <p:cNvSpPr/>
          <p:nvPr/>
        </p:nvSpPr>
        <p:spPr>
          <a:xfrm>
            <a:off x="731520" y="4359240"/>
            <a:ext cx="416160" cy="416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2" name="Image 4" descr="preencoded.png"/>
          <p:cNvPicPr/>
          <p:nvPr/>
        </p:nvPicPr>
        <p:blipFill>
          <a:blip r:embed="rId5"/>
          <a:stretch/>
        </p:blipFill>
        <p:spPr>
          <a:xfrm>
            <a:off x="807120" y="4435200"/>
            <a:ext cx="264960" cy="26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3" name="Text 18"/>
          <p:cNvSpPr/>
          <p:nvPr/>
        </p:nvSpPr>
        <p:spPr>
          <a:xfrm>
            <a:off x="1325880" y="4078080"/>
            <a:ext cx="1014552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Add a row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9"/>
          <p:cNvSpPr/>
          <p:nvPr/>
        </p:nvSpPr>
        <p:spPr>
          <a:xfrm>
            <a:off x="1325880" y="4416480"/>
            <a:ext cx="101455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rbind(df, data.frame(sample="S4", gene="KRAS", expr=7.3))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0"/>
          <p:cNvSpPr/>
          <p:nvPr/>
        </p:nvSpPr>
        <p:spPr>
          <a:xfrm>
            <a:off x="1325880" y="4827960"/>
            <a:ext cx="1014552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Column names and types must line up.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21"/>
          <p:cNvSpPr/>
          <p:nvPr/>
        </p:nvSpPr>
        <p:spPr>
          <a:xfrm>
            <a:off x="457200" y="5289840"/>
            <a:ext cx="11242800" cy="121644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22"/>
          <p:cNvSpPr/>
          <p:nvPr/>
        </p:nvSpPr>
        <p:spPr>
          <a:xfrm>
            <a:off x="731520" y="5689800"/>
            <a:ext cx="416160" cy="416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8" name="Image 5" descr="preencoded.png"/>
          <p:cNvPicPr/>
          <p:nvPr/>
        </p:nvPicPr>
        <p:blipFill>
          <a:blip r:embed="rId6"/>
          <a:stretch/>
        </p:blipFill>
        <p:spPr>
          <a:xfrm>
            <a:off x="807120" y="5765400"/>
            <a:ext cx="264960" cy="26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9" name="Text 23"/>
          <p:cNvSpPr/>
          <p:nvPr/>
        </p:nvSpPr>
        <p:spPr>
          <a:xfrm>
            <a:off x="1325880" y="5408640"/>
            <a:ext cx="1014552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Update a value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24"/>
          <p:cNvSpPr/>
          <p:nvPr/>
        </p:nvSpPr>
        <p:spPr>
          <a:xfrm>
            <a:off x="1325880" y="5747040"/>
            <a:ext cx="1014552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df$expr[df$sample == "S2"] &lt;- 9.0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5"/>
          <p:cNvSpPr/>
          <p:nvPr/>
        </p:nvSpPr>
        <p:spPr>
          <a:xfrm>
            <a:off x="1325880" y="6158520"/>
            <a:ext cx="1014552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Edits the data frame in place.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6"/>
          <p:cNvSpPr/>
          <p:nvPr/>
        </p:nvSpPr>
        <p:spPr>
          <a:xfrm>
            <a:off x="10881360" y="6537960"/>
            <a:ext cx="8186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6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4189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2026-06-19T18:59:37Z</dcterms:created>
  <dc:creator>Steven Rozen</dc:creator>
  <dc:description/>
  <dc:language>en-US</dc:language>
  <cp:lastModifiedBy/>
  <dcterms:modified xsi:type="dcterms:W3CDTF">2026-08-03T10:38:38Z</dcterms:modified>
  <cp:revision>78</cp:revision>
  <dc:subject>PptxGenJS Presentation</dc:subject>
  <dc:title>R vs Python Data Types — for beginners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On-screen Show (16:9)</vt:lpwstr>
  </property>
  <property fmtid="{D5CDD505-2E9C-101B-9397-08002B2CF9AE}" pid="4" name="Slides">
    <vt:i4>6</vt:i4>
  </property>
</Properties>
</file>