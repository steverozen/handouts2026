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3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slides/slide29.xml" ContentType="application/vnd.openxmlformats-officedocument.presentationml.slide+xml"/>
  <Override PartName="/ppt/slides/slide27.xml" ContentType="application/vnd.openxmlformats-officedocument.presentationml.slide+xml"/>
  <Override PartName="/ppt/slides/slide26.xml" ContentType="application/vnd.openxmlformats-officedocument.presentationml.slide+xml"/>
  <Override PartName="/ppt/slides/slide14.xml" ContentType="application/vnd.openxmlformats-officedocument.presentationml.slide+xml"/>
  <Override PartName="/ppt/slides/slide6.xml" ContentType="application/vnd.openxmlformats-officedocument.presentationml.slide+xml"/>
  <Override PartName="/ppt/slides/slide15.xml" ContentType="application/vnd.openxmlformats-officedocument.presentationml.slide+xml"/>
  <Override PartName="/ppt/slides/slide7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5.xml" ContentType="application/vnd.openxmlformats-officedocument.presentationml.slide+xml"/>
  <Override PartName="/ppt/slides/slide22.xml" ContentType="application/vnd.openxmlformats-officedocument.presentationml.slide+xml"/>
  <Override PartName="/ppt/slides/slide25.xml" ContentType="application/vnd.openxmlformats-officedocument.presentationml.slide+xml"/>
  <Override PartName="/ppt/slides/slide21.xml" ContentType="application/vnd.openxmlformats-officedocument.presentationml.slide+xml"/>
  <Override PartName="/ppt/slides/slide34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6.xml" ContentType="application/vnd.openxmlformats-officedocument.presentationml.slide+xml"/>
  <Override PartName="/ppt/slides/slide18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38.xml" ContentType="application/vnd.openxmlformats-officedocument.presentationml.slide+xml"/>
  <Override PartName="/ppt/slides/slide4.xml" ContentType="application/vnd.openxmlformats-officedocument.presentationml.slide+xml"/>
  <Override PartName="/ppt/slides/slide9.xml" ContentType="application/vnd.openxmlformats-officedocument.presentationml.slide+xml"/>
  <Override PartName="/ppt/slides/slide37.xml" ContentType="application/vnd.openxmlformats-officedocument.presentationml.slide+xml"/>
  <Override PartName="/ppt/slides/slide24.xml" ContentType="application/vnd.openxmlformats-officedocument.presentationml.slide+xml"/>
  <Override PartName="/ppt/slides/slide32.xml" ContentType="application/vnd.openxmlformats-officedocument.presentationml.slide+xml"/>
  <Override PartName="/ppt/slides/slide31.xml" ContentType="application/vnd.openxmlformats-officedocument.presentationml.slide+xml"/>
  <Override PartName="/ppt/slides/slide39.xml" ContentType="application/vnd.openxmlformats-officedocument.presentationml.slide+xml"/>
  <Override PartName="/ppt/slides/slide19.xml" ContentType="application/vnd.openxmlformats-officedocument.presentationml.slide+xml"/>
  <Override PartName="/ppt/slides/slide13.xml" ContentType="application/vnd.openxmlformats-officedocument.presentationml.slide+xml"/>
  <Override PartName="/ppt/slides/slide11.xml" ContentType="application/vnd.openxmlformats-officedocument.presentationml.slide+xml"/>
  <Override PartName="/ppt/slides/slide28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17.xml" ContentType="application/vnd.openxmlformats-officedocument.presentationml.slide+xml"/>
  <Override PartName="/ppt/slides/slide10.xml" ContentType="application/vnd.openxmlformats-officedocument.presentationml.slide+xml"/>
  <Override PartName="/ppt/slides/slide23.xml" ContentType="application/vnd.openxmlformats-officedocument.presentationml.slide+xml"/>
  <Override PartName="/ppt/slides/slide2.xml" ContentType="application/vnd.openxmlformats-officedocument.presentationml.slide+xml"/>
  <Override PartName="/ppt/slides/slide8.xml" ContentType="application/vnd.openxmlformats-officedocument.presentationml.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9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93" r:id="rId41"/>
    <p:sldId id="294" r:id="rId42"/>
  </p:sldIdLst>
  <p:sldSz cx="12192000" cy="6858000"/>
  <p:notesSz cx="6858000" cy="12192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slide" Target="slides/slide28.xml"/><Relationship Id="rId32" Type="http://schemas.openxmlformats.org/officeDocument/2006/relationships/slide" Target="slides/slide29.xml"/><Relationship Id="rId33" Type="http://schemas.openxmlformats.org/officeDocument/2006/relationships/slide" Target="slides/slide30.xml"/><Relationship Id="rId34" Type="http://schemas.openxmlformats.org/officeDocument/2006/relationships/slide" Target="slides/slide31.xml"/><Relationship Id="rId35" Type="http://schemas.openxmlformats.org/officeDocument/2006/relationships/slide" Target="slides/slide32.xml"/><Relationship Id="rId36" Type="http://schemas.openxmlformats.org/officeDocument/2006/relationships/slide" Target="slides/slide33.xml"/><Relationship Id="rId37" Type="http://schemas.openxmlformats.org/officeDocument/2006/relationships/slide" Target="slides/slide34.xml"/><Relationship Id="rId38" Type="http://schemas.openxmlformats.org/officeDocument/2006/relationships/slide" Target="slides/slide35.xml"/><Relationship Id="rId39" Type="http://schemas.openxmlformats.org/officeDocument/2006/relationships/slide" Target="slides/slide36.xml"/><Relationship Id="rId40" Type="http://schemas.openxmlformats.org/officeDocument/2006/relationships/slide" Target="slides/slide37.xml"/><Relationship Id="rId41" Type="http://schemas.openxmlformats.org/officeDocument/2006/relationships/slide" Target="slides/slide38.xml"/><Relationship Id="rId42" Type="http://schemas.openxmlformats.org/officeDocument/2006/relationships/slide" Target="slides/slide39.xml"/><Relationship Id="rId43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3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sldImg"/>
          </p:nvPr>
        </p:nvSpPr>
        <p:spPr>
          <a:xfrm>
            <a:off x="0" y="76428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move the slide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notes 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dt" idx="1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ftr" idx="2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6"/>
          <p:cNvSpPr>
            <a:spLocks noGrp="1"/>
          </p:cNvSpPr>
          <p:nvPr>
            <p:ph type="sldNum" idx="3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4BE5AF38-BEBE-4370-BA69-063702EAE38C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34.xml.rels><?xml version="1.0" encoding="UTF-8"?>
<Relationships xmlns="http://schemas.openxmlformats.org/package/2006/relationships"><Relationship Id="rId1" Type="http://schemas.openxmlformats.org/officeDocument/2006/relationships/slide" Target="../slides/slide34.xml"/><Relationship Id="rId2" Type="http://schemas.openxmlformats.org/officeDocument/2006/relationships/notesMaster" Target="../notesMasters/notesMaster1.xml"/>
</Relationships>
</file>

<file path=ppt/notesSlides/_rels/notesSlide35.xml.rels><?xml version="1.0" encoding="UTF-8"?>
<Relationships xmlns="http://schemas.openxmlformats.org/package/2006/relationships"><Relationship Id="rId1" Type="http://schemas.openxmlformats.org/officeDocument/2006/relationships/slide" Target="../slides/slide35.xml"/><Relationship Id="rId2" Type="http://schemas.openxmlformats.org/officeDocument/2006/relationships/notesMaster" Target="../notesMasters/notesMaster1.xml"/>
</Relationships>
</file>

<file path=ppt/notesSlides/_rels/notesSlide36.xml.rels><?xml version="1.0" encoding="UTF-8"?>
<Relationships xmlns="http://schemas.openxmlformats.org/package/2006/relationships"><Relationship Id="rId1" Type="http://schemas.openxmlformats.org/officeDocument/2006/relationships/slide" Target="../slides/slide36.xml"/><Relationship Id="rId2" Type="http://schemas.openxmlformats.org/officeDocument/2006/relationships/notesMaster" Target="../notesMasters/notesMaster1.xml"/>
</Relationships>
</file>

<file path=ppt/notesSlides/_rels/notesSlide37.xml.rels><?xml version="1.0" encoding="UTF-8"?>
<Relationships xmlns="http://schemas.openxmlformats.org/package/2006/relationships"><Relationship Id="rId1" Type="http://schemas.openxmlformats.org/officeDocument/2006/relationships/slide" Target="../slides/slide37.xml"/><Relationship Id="rId2" Type="http://schemas.openxmlformats.org/officeDocument/2006/relationships/notesMaster" Target="../notesMasters/notesMaster1.xml"/>
</Relationships>
</file>

<file path=ppt/notesSlides/_rels/notesSlide38.xml.rels><?xml version="1.0" encoding="UTF-8"?>
<Relationships xmlns="http://schemas.openxmlformats.org/package/2006/relationships"><Relationship Id="rId1" Type="http://schemas.openxmlformats.org/officeDocument/2006/relationships/slide" Target="../slides/slide38.xml"/><Relationship Id="rId2" Type="http://schemas.openxmlformats.org/officeDocument/2006/relationships/notesMaster" Target="../notesMasters/notesMaster1.xml"/>
</Relationships>
</file>

<file path=ppt/notesSlides/_rels/notesSlide39.xml.rels><?xml version="1.0" encoding="UTF-8"?>
<Relationships xmlns="http://schemas.openxmlformats.org/package/2006/relationships"><Relationship Id="rId1" Type="http://schemas.openxmlformats.org/officeDocument/2006/relationships/slide" Target="../slides/slide39.xml"/><Relationship Id="rId2" Type="http://schemas.openxmlformats.org/officeDocument/2006/relationships/notesMaster" Target="../notesMasters/notesMaster1.xml"/>
</Relationship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2080" cy="3081960"/>
          </a:xfrm>
          <a:prstGeom prst="rect">
            <a:avLst/>
          </a:prstGeom>
          <a:ln w="0">
            <a:noFill/>
          </a:ln>
        </p:spPr>
      </p:sp>
      <p:sp>
        <p:nvSpPr>
          <p:cNvPr id="39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2080" cy="35960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5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67480" cy="45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30E04DA0-57AB-470E-8490-B00FAF5A8C3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2080" cy="3081960"/>
          </a:xfrm>
          <a:prstGeom prst="rect">
            <a:avLst/>
          </a:prstGeom>
          <a:ln w="0">
            <a:noFill/>
          </a:ln>
        </p:spPr>
      </p:sp>
      <p:sp>
        <p:nvSpPr>
          <p:cNvPr id="39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2080" cy="35960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8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67480" cy="45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3EBAD597-4E2C-45B7-ADEB-874FD581E02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2080" cy="3081960"/>
          </a:xfrm>
          <a:prstGeom prst="rect">
            <a:avLst/>
          </a:prstGeom>
          <a:ln w="0">
            <a:noFill/>
          </a:ln>
        </p:spPr>
      </p:sp>
      <p:sp>
        <p:nvSpPr>
          <p:cNvPr id="40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2080" cy="35960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1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67480" cy="45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84FE8206-CF40-483E-ADEC-8B06E2ECB3F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2080" cy="3081960"/>
          </a:xfrm>
          <a:prstGeom prst="rect">
            <a:avLst/>
          </a:prstGeom>
          <a:ln w="0">
            <a:noFill/>
          </a:ln>
        </p:spPr>
      </p:sp>
      <p:sp>
        <p:nvSpPr>
          <p:cNvPr id="40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2080" cy="35960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4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67480" cy="45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1D255D33-5383-4BCD-8455-AD05E86A5DC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2080" cy="3081960"/>
          </a:xfrm>
          <a:prstGeom prst="rect">
            <a:avLst/>
          </a:prstGeom>
          <a:ln w="0">
            <a:noFill/>
          </a:ln>
        </p:spPr>
      </p:sp>
      <p:sp>
        <p:nvSpPr>
          <p:cNvPr id="40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2080" cy="35960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7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67480" cy="45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A9765DAF-75E0-41CD-A9E8-F2AA4AFD4B52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2080" cy="3081960"/>
          </a:xfrm>
          <a:prstGeom prst="rect">
            <a:avLst/>
          </a:prstGeom>
          <a:ln w="0">
            <a:noFill/>
          </a:ln>
        </p:spPr>
      </p:sp>
      <p:sp>
        <p:nvSpPr>
          <p:cNvPr id="40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2080" cy="35960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0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67480" cy="45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DA66998E-50D6-4C73-8D87-9BF4F6A46AD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DEFAUL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708480"/>
            <a:ext cx="10969920" cy="27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0280" cy="3975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0280" cy="1142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format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0280" cy="3975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2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2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2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2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2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2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2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2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2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2.xml"/>
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slideLayout" Target="../slideLayouts/slideLayout2.xml"/>
</Relationships>
</file>

<file path=ppt/slides/_rels/slide3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4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image" Target="../media/image14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3.png"/><Relationship Id="rId6" Type="http://schemas.openxmlformats.org/officeDocument/2006/relationships/image" Target="../media/image14.png"/><Relationship Id="rId7" Type="http://schemas.openxmlformats.org/officeDocument/2006/relationships/image" Target="../media/image13.png"/><Relationship Id="rId8" Type="http://schemas.openxmlformats.org/officeDocument/2006/relationships/image" Target="../media/image14.png"/><Relationship Id="rId9" Type="http://schemas.openxmlformats.org/officeDocument/2006/relationships/image" Target="../media/image13.png"/><Relationship Id="rId10" Type="http://schemas.openxmlformats.org/officeDocument/2006/relationships/image" Target="../media/image14.png"/><Relationship Id="rId11" Type="http://schemas.openxmlformats.org/officeDocument/2006/relationships/slideLayout" Target="../slideLayouts/slideLayout2.xml"/><Relationship Id="rId12" Type="http://schemas.openxmlformats.org/officeDocument/2006/relationships/notesSlide" Target="../notesSlides/notesSlide34.xml"/>
</Relationships>
</file>

<file path=ppt/slides/_rels/slide35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image" Target="../media/image14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3.png"/><Relationship Id="rId6" Type="http://schemas.openxmlformats.org/officeDocument/2006/relationships/image" Target="../media/image14.png"/><Relationship Id="rId7" Type="http://schemas.openxmlformats.org/officeDocument/2006/relationships/image" Target="../media/image13.png"/><Relationship Id="rId8" Type="http://schemas.openxmlformats.org/officeDocument/2006/relationships/image" Target="../media/image14.pn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35.xml"/>
</Relationships>
</file>

<file path=ppt/slides/_rels/slide36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image" Target="../media/image14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36.xml"/>
</Relationships>
</file>

<file path=ppt/slides/_rels/slide37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image" Target="../media/image14.png"/><Relationship Id="rId3" Type="http://schemas.openxmlformats.org/officeDocument/2006/relationships/image" Target="../media/image15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Relationship Id="rId6" Type="http://schemas.openxmlformats.org/officeDocument/2006/relationships/image" Target="../media/image16.png"/><Relationship Id="rId7" Type="http://schemas.openxmlformats.org/officeDocument/2006/relationships/image" Target="../media/image13.png"/><Relationship Id="rId8" Type="http://schemas.openxmlformats.org/officeDocument/2006/relationships/image" Target="../media/image14.pn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37.xml"/>
</Relationships>
</file>

<file path=ppt/slides/_rels/slide38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image" Target="../media/image14.png"/><Relationship Id="rId3" Type="http://schemas.openxmlformats.org/officeDocument/2006/relationships/image" Target="../media/image17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Relationship Id="rId6" Type="http://schemas.openxmlformats.org/officeDocument/2006/relationships/image" Target="../media/image18.png"/><Relationship Id="rId7" Type="http://schemas.openxmlformats.org/officeDocument/2006/relationships/image" Target="../media/image13.png"/><Relationship Id="rId8" Type="http://schemas.openxmlformats.org/officeDocument/2006/relationships/image" Target="../media/image14.pn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38.xml"/>
</Relationships>
</file>

<file path=ppt/slides/_rels/slide39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image" Target="../media/image14.png"/><Relationship Id="rId3" Type="http://schemas.openxmlformats.org/officeDocument/2006/relationships/image" Target="../media/image13.png"/><Relationship Id="rId4" Type="http://schemas.openxmlformats.org/officeDocument/2006/relationships/image" Target="../media/image13.png"/><Relationship Id="rId5" Type="http://schemas.openxmlformats.org/officeDocument/2006/relationships/image" Target="../media/image13.png"/><Relationship Id="rId6" Type="http://schemas.openxmlformats.org/officeDocument/2006/relationships/image" Target="../media/image13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3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33;p27"/>
          <p:cNvSpPr/>
          <p:nvPr/>
        </p:nvSpPr>
        <p:spPr>
          <a:xfrm>
            <a:off x="914400" y="460080"/>
            <a:ext cx="8504640" cy="117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7680" tIns="33840" rIns="67680" bIns="33840" anchor="t">
            <a:noAutofit/>
          </a:bodyPr>
          <a:p>
            <a:pPr>
              <a:lnSpc>
                <a:spcPct val="90000"/>
              </a:lnSpc>
              <a:tabLst>
                <a:tab pos="0" algn="l"/>
              </a:tabLst>
            </a:pPr>
            <a:r>
              <a:rPr lang="en" sz="32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A gentle bioinformatics on-ramp: 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  <a:tabLst>
                <a:tab pos="0" algn="l"/>
              </a:tabLst>
            </a:pPr>
            <a:r>
              <a:rPr lang="en" sz="32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R, python, bash, IDEs, AI coding </a:t>
            </a:r>
            <a:r>
              <a:rPr lang="en" sz="32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agents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  <a:spcBef>
                <a:spcPts val="499"/>
              </a:spcBef>
              <a:tabLst>
                <a:tab pos="0" algn="l"/>
              </a:tabLst>
            </a:pP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Google Shape;134;p27"/>
          <p:cNvSpPr/>
          <p:nvPr/>
        </p:nvSpPr>
        <p:spPr>
          <a:xfrm>
            <a:off x="987120" y="1600200"/>
            <a:ext cx="3123720" cy="109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7680" tIns="33840" rIns="67680" bIns="33840" anchor="t">
            <a:noAutofit/>
          </a:bodyPr>
          <a:p>
            <a:pPr>
              <a:lnSpc>
                <a:spcPct val="90000"/>
              </a:lnSpc>
              <a:tabLst>
                <a:tab pos="0" algn="l"/>
              </a:tabLst>
            </a:pPr>
            <a:r>
              <a:rPr lang="en" sz="21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August 3, 2026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  <a:spcBef>
                <a:spcPts val="499"/>
              </a:spcBef>
              <a:tabLst>
                <a:tab pos="0" algn="l"/>
              </a:tabLst>
            </a:pPr>
            <a:r>
              <a:rPr lang="en" sz="21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Steve Rozen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  <a:spcBef>
                <a:spcPts val="499"/>
              </a:spcBef>
              <a:tabLst>
                <a:tab pos="0" algn="l"/>
              </a:tabLst>
            </a:pPr>
            <a:r>
              <a:rPr lang="en" sz="21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steverozen [at] pm.me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  <a:spcBef>
                <a:spcPts val="499"/>
              </a:spcBef>
              <a:tabLst>
                <a:tab pos="0" algn="l"/>
              </a:tabLst>
            </a:pPr>
            <a:r>
              <a:rPr lang="en" sz="21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sr110 [at] duke.edu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  <a:spcBef>
                <a:spcPts val="499"/>
              </a:spcBef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"/>
          <p:cNvSpPr/>
          <p:nvPr/>
        </p:nvSpPr>
        <p:spPr>
          <a:xfrm>
            <a:off x="924840" y="3521160"/>
            <a:ext cx="5247000" cy="127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https://tinyurl.com/47vvh447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5" name=""/>
          <p:cNvPicPr/>
          <p:nvPr/>
        </p:nvPicPr>
        <p:blipFill>
          <a:blip r:embed="rId1"/>
          <a:stretch/>
        </p:blipFill>
        <p:spPr>
          <a:xfrm>
            <a:off x="7086600" y="2743200"/>
            <a:ext cx="3283560" cy="32835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"/>
          <p:cNvSpPr/>
          <p:nvPr/>
        </p:nvSpPr>
        <p:spPr>
          <a:xfrm>
            <a:off x="685800" y="914400"/>
            <a:ext cx="10971360" cy="6062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Workshop objectives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Provide hands-on orientation on computational infrastructure needed for bioinformatics today: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RStudio and R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Bash (the Linux command shell)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Directories and files and file location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Python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Using an HPC (high performance computing) cluster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Moving large files around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Using agentic coding agents effectively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"/>
          <p:cNvSpPr/>
          <p:nvPr/>
        </p:nvSpPr>
        <p:spPr>
          <a:xfrm>
            <a:off x="914400" y="685800"/>
            <a:ext cx="10513800" cy="155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 and RStudio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Starting RStudio in “OnDemand”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"/>
          <p:cNvSpPr/>
          <p:nvPr/>
        </p:nvSpPr>
        <p:spPr>
          <a:xfrm>
            <a:off x="914400" y="457200"/>
            <a:ext cx="77688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Using 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RStudio 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from 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OnDemand 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or from 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your laptop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9" name=""/>
          <p:cNvPicPr/>
          <p:nvPr/>
        </p:nvPicPr>
        <p:blipFill>
          <a:blip r:embed="rId1"/>
          <a:stretch/>
        </p:blipFill>
        <p:spPr>
          <a:xfrm>
            <a:off x="256320" y="276840"/>
            <a:ext cx="11754000" cy="63208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"/>
          <p:cNvPicPr/>
          <p:nvPr/>
        </p:nvPicPr>
        <p:blipFill>
          <a:blip r:embed="rId1"/>
          <a:stretch/>
        </p:blipFill>
        <p:spPr>
          <a:xfrm>
            <a:off x="243000" y="276840"/>
            <a:ext cx="11754000" cy="63208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"/>
          <p:cNvPicPr/>
          <p:nvPr/>
        </p:nvPicPr>
        <p:blipFill>
          <a:blip r:embed="rId1"/>
          <a:stretch/>
        </p:blipFill>
        <p:spPr>
          <a:xfrm>
            <a:off x="243000" y="117000"/>
            <a:ext cx="11754000" cy="66409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"/>
          <p:cNvPicPr/>
          <p:nvPr/>
        </p:nvPicPr>
        <p:blipFill>
          <a:blip r:embed="rId1"/>
          <a:stretch/>
        </p:blipFill>
        <p:spPr>
          <a:xfrm>
            <a:off x="243000" y="117000"/>
            <a:ext cx="11754000" cy="66409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"/>
          <p:cNvPicPr/>
          <p:nvPr/>
        </p:nvPicPr>
        <p:blipFill>
          <a:blip r:embed="rId1"/>
          <a:stretch/>
        </p:blipFill>
        <p:spPr>
          <a:xfrm>
            <a:off x="228600" y="228600"/>
            <a:ext cx="11592000" cy="62049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Box 1"/>
          <p:cNvSpPr/>
          <p:nvPr/>
        </p:nvSpPr>
        <p:spPr>
          <a:xfrm>
            <a:off x="502920" y="255960"/>
            <a:ext cx="11154240" cy="48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spcAft>
                <a:spcPts val="201"/>
              </a:spcAft>
            </a:pP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How OnDemand starts an RStudio session on the HPC cluster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Rounded Rectangle 2"/>
          <p:cNvSpPr/>
          <p:nvPr/>
        </p:nvSpPr>
        <p:spPr>
          <a:xfrm>
            <a:off x="365760" y="1005840"/>
            <a:ext cx="3519000" cy="507348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 w="15875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09800" tIns="54720" rIns="109800" bIns="54720" anchor="t">
            <a:noAutofit/>
          </a:bodyPr>
          <a:p>
            <a:pPr algn="ctr">
              <a:lnSpc>
                <a:spcPct val="100000"/>
              </a:lnSpc>
              <a:spcAft>
                <a:spcPts val="201"/>
              </a:spcAft>
            </a:pPr>
            <a:r>
              <a:rPr lang="en-US" sz="1600" b="1" u="none" strike="noStrike">
                <a:solidFill>
                  <a:srgbClr val="595959"/>
                </a:solidFill>
                <a:effectLst/>
                <a:uFillTx/>
                <a:latin typeface="Arial"/>
              </a:rPr>
              <a:t>YOUR LAPTOP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Rounded Rectangle 3"/>
          <p:cNvSpPr/>
          <p:nvPr/>
        </p:nvSpPr>
        <p:spPr>
          <a:xfrm>
            <a:off x="640080" y="1572840"/>
            <a:ext cx="2970360" cy="1324440"/>
          </a:xfrm>
          <a:prstGeom prst="roundRect">
            <a:avLst>
              <a:gd name="adj" fmla="val 6000"/>
            </a:avLst>
          </a:prstGeom>
          <a:solidFill>
            <a:srgbClr val="DEEAF6"/>
          </a:solidFill>
          <a:ln w="19050">
            <a:solidFill>
              <a:srgbClr val="2E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09800" tIns="54720" rIns="109800" bIns="54720" anchor="t">
            <a:noAutofit/>
          </a:bodyPr>
          <a:p>
            <a:pPr>
              <a:lnSpc>
                <a:spcPct val="100000"/>
              </a:lnSpc>
              <a:spcAft>
                <a:spcPts val="201"/>
              </a:spcAft>
            </a:pPr>
            <a:r>
              <a:rPr lang="en-US" sz="1600" b="1" u="none" strike="noStrike">
                <a:solidFill>
                  <a:srgbClr val="1F3B57"/>
                </a:solidFill>
                <a:effectLst/>
                <a:uFillTx/>
                <a:latin typeface="Arial"/>
              </a:rPr>
              <a:t>Browser tab 1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201"/>
              </a:spcAft>
            </a:pPr>
            <a:r>
              <a:rPr lang="en-US" sz="1200" b="0" u="none" strike="noStrike">
                <a:solidFill>
                  <a:srgbClr val="1F3B57"/>
                </a:solidFill>
                <a:effectLst/>
                <a:uFillTx/>
                <a:latin typeface="Arial"/>
              </a:rPr>
              <a:t>cgbs.cgu.edu.tw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201"/>
              </a:spcAft>
            </a:pPr>
            <a:r>
              <a:rPr lang="en-US" sz="1200" b="0" u="none" strike="noStrike">
                <a:solidFill>
                  <a:srgbClr val="1F3B57"/>
                </a:solidFill>
                <a:effectLst/>
                <a:uFillTx/>
                <a:latin typeface="Arial"/>
              </a:rPr>
              <a:t>Interactive Apps → </a:t>
            </a:r>
            <a:r>
              <a:rPr lang="en-US" sz="1300" b="0" u="none" strike="noStrike">
                <a:solidFill>
                  <a:srgbClr val="1F3B57"/>
                </a:solidFill>
                <a:effectLst/>
                <a:uFillTx/>
                <a:latin typeface="Arial"/>
              </a:rPr>
              <a:t>RStudio</a:t>
            </a:r>
            <a:r>
              <a:rPr lang="en-US" sz="1200" b="0" u="none" strike="noStrike">
                <a:solidFill>
                  <a:srgbClr val="1F3B57"/>
                </a:solidFill>
                <a:effectLst/>
                <a:uFillTx/>
                <a:latin typeface="Arial"/>
              </a:rPr>
              <a:t> Server: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201"/>
              </a:spcAft>
            </a:pPr>
            <a:r>
              <a:rPr lang="en-US" sz="1200" b="0" u="none" strike="noStrike">
                <a:solidFill>
                  <a:srgbClr val="1F3B57"/>
                </a:solidFill>
                <a:effectLst/>
                <a:uFillTx/>
                <a:latin typeface="Arial"/>
              </a:rPr>
              <a:t>choose hours, cores, memory, Launch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Rounded Rectangle 4"/>
          <p:cNvSpPr/>
          <p:nvPr/>
        </p:nvSpPr>
        <p:spPr>
          <a:xfrm>
            <a:off x="640080" y="4160520"/>
            <a:ext cx="2970360" cy="1690200"/>
          </a:xfrm>
          <a:prstGeom prst="roundRect">
            <a:avLst>
              <a:gd name="adj" fmla="val 6000"/>
            </a:avLst>
          </a:prstGeom>
          <a:solidFill>
            <a:srgbClr val="E3F1E4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09800" tIns="54720" rIns="109800" bIns="54720" anchor="t">
            <a:noAutofit/>
          </a:bodyPr>
          <a:p>
            <a:pPr>
              <a:lnSpc>
                <a:spcPct val="100000"/>
              </a:lnSpc>
              <a:spcAft>
                <a:spcPts val="201"/>
              </a:spcAft>
            </a:pPr>
            <a:r>
              <a:rPr lang="en-US" sz="1600" b="1" u="none" strike="noStrike">
                <a:solidFill>
                  <a:srgbClr val="2E7D32"/>
                </a:solidFill>
                <a:effectLst/>
                <a:uFillTx/>
                <a:latin typeface="Arial"/>
              </a:rPr>
              <a:t>Browser tab 2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201"/>
              </a:spcAft>
            </a:pPr>
            <a:r>
              <a:rPr lang="en-US" sz="1200" b="0" u="none" strike="noStrike">
                <a:solidFill>
                  <a:srgbClr val="2E7D32"/>
                </a:solidFill>
                <a:effectLst/>
                <a:uFillTx/>
                <a:latin typeface="Arial"/>
              </a:rPr>
              <a:t>The RStudio Server interface: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201"/>
              </a:spcAft>
            </a:pPr>
            <a:r>
              <a:rPr lang="en-US" sz="1200" b="0" u="none" strike="noStrike">
                <a:solidFill>
                  <a:srgbClr val="2E7D32"/>
                </a:solidFill>
                <a:effectLst/>
                <a:uFillTx/>
                <a:latin typeface="Arial"/>
              </a:rPr>
              <a:t>console, editor, plots, files.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201"/>
              </a:spcAft>
            </a:pPr>
            <a:r>
              <a:rPr lang="en-US" sz="1200" b="0" u="none" strike="noStrike">
                <a:solidFill>
                  <a:srgbClr val="2E7D32"/>
                </a:solidFill>
                <a:effectLst/>
                <a:uFillTx/>
                <a:latin typeface="Arial"/>
              </a:rPr>
              <a:t>Looks like desktop RStudio, but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201"/>
              </a:spcAft>
            </a:pPr>
            <a:r>
              <a:rPr lang="en-US" sz="1200" b="0" u="none" strike="noStrike">
                <a:solidFill>
                  <a:srgbClr val="2E7D32"/>
                </a:solidFill>
                <a:effectLst/>
                <a:uFillTx/>
                <a:latin typeface="Arial"/>
              </a:rPr>
              <a:t>every keystroke runs on the node.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Rounded Rectangle 5"/>
          <p:cNvSpPr/>
          <p:nvPr/>
        </p:nvSpPr>
        <p:spPr>
          <a:xfrm>
            <a:off x="4526280" y="1005840"/>
            <a:ext cx="7268040" cy="507348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 w="15875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09800" tIns="54720" rIns="109800" bIns="54720" anchor="t">
            <a:noAutofit/>
          </a:bodyPr>
          <a:p>
            <a:pPr algn="ctr">
              <a:lnSpc>
                <a:spcPct val="100000"/>
              </a:lnSpc>
              <a:spcAft>
                <a:spcPts val="201"/>
              </a:spcAft>
            </a:pPr>
            <a:r>
              <a:rPr lang="en-US" sz="1600" b="1" u="none" strike="noStrike">
                <a:solidFill>
                  <a:srgbClr val="595959"/>
                </a:solidFill>
                <a:effectLst/>
                <a:uFillTx/>
                <a:latin typeface="Arial"/>
              </a:rPr>
              <a:t>HPC CLUSTER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Rounded Rectangle 6"/>
          <p:cNvSpPr/>
          <p:nvPr/>
        </p:nvSpPr>
        <p:spPr>
          <a:xfrm>
            <a:off x="4800600" y="1572840"/>
            <a:ext cx="3061800" cy="1324440"/>
          </a:xfrm>
          <a:prstGeom prst="roundRect">
            <a:avLst>
              <a:gd name="adj" fmla="val 6000"/>
            </a:avLst>
          </a:prstGeom>
          <a:solidFill>
            <a:srgbClr val="DEEAF6"/>
          </a:solidFill>
          <a:ln w="19050">
            <a:solidFill>
              <a:srgbClr val="2E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09800" tIns="54720" rIns="109800" bIns="54720" anchor="t">
            <a:noAutofit/>
          </a:bodyPr>
          <a:p>
            <a:pPr>
              <a:lnSpc>
                <a:spcPct val="100000"/>
              </a:lnSpc>
              <a:spcAft>
                <a:spcPts val="201"/>
              </a:spcAft>
            </a:pPr>
            <a:r>
              <a:rPr lang="en-US" sz="1600" b="1" u="none" strike="noStrike">
                <a:solidFill>
                  <a:srgbClr val="1F3B57"/>
                </a:solidFill>
                <a:effectLst/>
                <a:uFillTx/>
                <a:latin typeface="Arial"/>
              </a:rPr>
              <a:t>Login or designated node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201"/>
              </a:spcAft>
            </a:pPr>
            <a:r>
              <a:rPr lang="en-US" sz="1200" b="0" u="none" strike="noStrike">
                <a:solidFill>
                  <a:srgbClr val="1F3B57"/>
                </a:solidFill>
                <a:effectLst/>
                <a:uFillTx/>
                <a:latin typeface="Arial"/>
              </a:rPr>
              <a:t>Open OnDemand web server.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201"/>
              </a:spcAft>
            </a:pPr>
            <a:r>
              <a:rPr lang="en-US" sz="1200" b="0" u="none" strike="noStrike">
                <a:solidFill>
                  <a:srgbClr val="1F3B57"/>
                </a:solidFill>
                <a:effectLst/>
                <a:uFillTx/>
                <a:latin typeface="Arial"/>
              </a:rPr>
              <a:t>Turns your form into a SLURM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201"/>
              </a:spcAft>
            </a:pPr>
            <a:r>
              <a:rPr lang="en-US" sz="1200" b="0" u="none" strike="noStrike">
                <a:solidFill>
                  <a:srgbClr val="1F3B57"/>
                </a:solidFill>
                <a:effectLst/>
                <a:uFillTx/>
                <a:latin typeface="Arial"/>
              </a:rPr>
              <a:t>job and proxies traffic later.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Rounded Rectangle 7"/>
          <p:cNvSpPr/>
          <p:nvPr/>
        </p:nvSpPr>
        <p:spPr>
          <a:xfrm>
            <a:off x="8412480" y="1572840"/>
            <a:ext cx="3107520" cy="1324440"/>
          </a:xfrm>
          <a:prstGeom prst="roundRect">
            <a:avLst>
              <a:gd name="adj" fmla="val 6000"/>
            </a:avLst>
          </a:prstGeom>
          <a:solidFill>
            <a:srgbClr val="FDECDD"/>
          </a:solidFill>
          <a:ln w="19050">
            <a:solidFill>
              <a:srgbClr val="C05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09800" tIns="54720" rIns="109800" bIns="54720" anchor="t">
            <a:noAutofit/>
          </a:bodyPr>
          <a:p>
            <a:pPr>
              <a:lnSpc>
                <a:spcPct val="100000"/>
              </a:lnSpc>
              <a:spcAft>
                <a:spcPts val="201"/>
              </a:spcAft>
            </a:pPr>
            <a:r>
              <a:rPr lang="en-US" sz="1400" b="1" u="none" strike="noStrike">
                <a:solidFill>
                  <a:srgbClr val="C05500"/>
                </a:solidFill>
                <a:effectLst/>
                <a:uFillTx/>
                <a:latin typeface="Arial"/>
              </a:rPr>
              <a:t>SLURM scheduler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201"/>
              </a:spcAft>
            </a:pPr>
            <a:r>
              <a:rPr lang="en-US" sz="1200" b="0" u="none" strike="noStrike">
                <a:solidFill>
                  <a:srgbClr val="C05500"/>
                </a:solidFill>
                <a:effectLst/>
                <a:uFillTx/>
                <a:latin typeface="Arial"/>
              </a:rPr>
              <a:t>Queues the job, waits for a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201"/>
              </a:spcAft>
            </a:pPr>
            <a:r>
              <a:rPr lang="en-US" sz="1200" b="0" u="none" strike="noStrike">
                <a:solidFill>
                  <a:srgbClr val="C05500"/>
                </a:solidFill>
                <a:effectLst/>
                <a:uFillTx/>
                <a:latin typeface="Arial"/>
              </a:rPr>
              <a:t>node with free cores and RAM,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201"/>
              </a:spcAft>
            </a:pPr>
            <a:r>
              <a:rPr lang="en-US" sz="1200" b="0" u="none" strike="noStrike">
                <a:solidFill>
                  <a:srgbClr val="C05500"/>
                </a:solidFill>
                <a:effectLst/>
                <a:uFillTx/>
                <a:latin typeface="Arial"/>
              </a:rPr>
              <a:t>then dispatches it.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Rounded Rectangle 8"/>
          <p:cNvSpPr/>
          <p:nvPr/>
        </p:nvSpPr>
        <p:spPr>
          <a:xfrm>
            <a:off x="4800600" y="3703320"/>
            <a:ext cx="6719400" cy="2147400"/>
          </a:xfrm>
          <a:prstGeom prst="roundRect">
            <a:avLst>
              <a:gd name="adj" fmla="val 6000"/>
            </a:avLst>
          </a:prstGeom>
          <a:solidFill>
            <a:srgbClr val="E3F1E4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09800" tIns="54720" rIns="109800" bIns="54720" anchor="t">
            <a:noAutofit/>
          </a:bodyPr>
          <a:p>
            <a:pPr>
              <a:lnSpc>
                <a:spcPct val="100000"/>
              </a:lnSpc>
              <a:spcAft>
                <a:spcPts val="201"/>
              </a:spcAft>
            </a:pPr>
            <a:r>
              <a:rPr lang="en-US" sz="1600" b="1" u="none" strike="noStrike">
                <a:solidFill>
                  <a:srgbClr val="2E7D32"/>
                </a:solidFill>
                <a:effectLst/>
                <a:uFillTx/>
                <a:latin typeface="Arial"/>
              </a:rPr>
              <a:t>Compute node (e.g. node07)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Rounded Rectangle 9"/>
          <p:cNvSpPr/>
          <p:nvPr/>
        </p:nvSpPr>
        <p:spPr>
          <a:xfrm>
            <a:off x="5074920" y="4224600"/>
            <a:ext cx="6170760" cy="146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09800" tIns="54720" rIns="109800" bIns="54720" anchor="t">
            <a:noAutofit/>
          </a:bodyPr>
          <a:p>
            <a:pPr>
              <a:lnSpc>
                <a:spcPct val="100000"/>
              </a:lnSpc>
              <a:spcAft>
                <a:spcPts val="201"/>
              </a:spcAft>
            </a:pPr>
            <a:r>
              <a:rPr lang="en-US" sz="1600" b="1" u="none" strike="noStrike">
                <a:solidFill>
                  <a:srgbClr val="2E7D32"/>
                </a:solidFill>
                <a:effectLst/>
                <a:uFillTx/>
                <a:latin typeface="Arial"/>
              </a:rPr>
              <a:t>Container (Apptainer / Singularity)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201"/>
              </a:spcAft>
            </a:pPr>
            <a:r>
              <a:rPr lang="en-US" sz="1200" b="0" u="none" strike="noStrike">
                <a:solidFill>
                  <a:srgbClr val="2E7D32"/>
                </a:solidFill>
                <a:effectLst/>
                <a:uFillTx/>
                <a:latin typeface="Arial"/>
              </a:rPr>
              <a:t>rserver process + R + your packages, running as you,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201"/>
              </a:spcAft>
            </a:pPr>
            <a:r>
              <a:rPr lang="en-US" sz="1200" b="0" u="none" strike="noStrike">
                <a:solidFill>
                  <a:srgbClr val="2E7D32"/>
                </a:solidFill>
                <a:effectLst/>
                <a:uFillTx/>
                <a:latin typeface="Arial"/>
              </a:rPr>
              <a:t>with your home directory and project files mounted.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201"/>
              </a:spcAft>
            </a:pPr>
            <a:r>
              <a:rPr lang="en-US" sz="1200" b="0" u="none" strike="noStrike">
                <a:solidFill>
                  <a:srgbClr val="2E7D32"/>
                </a:solidFill>
                <a:effectLst/>
                <a:uFillTx/>
                <a:latin typeface="Arial"/>
              </a:rPr>
              <a:t>Listens on a private port on this node only.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33" name="Connector 7"/>
          <p:cNvCxnSpPr/>
          <p:nvPr/>
        </p:nvCxnSpPr>
        <p:spPr>
          <a:xfrm>
            <a:off x="3639240" y="1993320"/>
            <a:ext cx="1135080" cy="1440"/>
          </a:xfrm>
          <a:prstGeom prst="straightConnector1">
            <a:avLst/>
          </a:prstGeom>
          <a:ln w="31750">
            <a:solidFill>
              <a:srgbClr val="2E74B5"/>
            </a:solidFill>
            <a:round/>
            <a:tailEnd len="med" type="triangle" w="med"/>
          </a:ln>
        </p:spPr>
      </p:cxnSp>
      <p:sp>
        <p:nvSpPr>
          <p:cNvPr id="34" name="Oval 6"/>
          <p:cNvSpPr/>
          <p:nvPr/>
        </p:nvSpPr>
        <p:spPr>
          <a:xfrm>
            <a:off x="3913560" y="1645920"/>
            <a:ext cx="291240" cy="291240"/>
          </a:xfrm>
          <a:prstGeom prst="ellipse">
            <a:avLst/>
          </a:prstGeom>
          <a:solidFill>
            <a:srgbClr val="2E74B5"/>
          </a:solidFill>
          <a:ln>
            <a:solidFill>
              <a:srgbClr val="2E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  <a:spcAft>
                <a:spcPts val="201"/>
              </a:spcAf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1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" name="TextBox 9"/>
          <p:cNvSpPr/>
          <p:nvPr/>
        </p:nvSpPr>
        <p:spPr>
          <a:xfrm>
            <a:off x="3291840" y="1280160"/>
            <a:ext cx="1918800" cy="301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>
              <a:lnSpc>
                <a:spcPct val="100000"/>
              </a:lnSpc>
              <a:spcAft>
                <a:spcPts val="201"/>
              </a:spcAft>
            </a:pPr>
            <a:r>
              <a:rPr lang="en-US" sz="1400" b="0" u="none" strike="noStrike">
                <a:solidFill>
                  <a:srgbClr val="2E74B5"/>
                </a:solidFill>
                <a:effectLst/>
                <a:uFillTx/>
                <a:latin typeface="Arial"/>
              </a:rPr>
              <a:t>request session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36" name="Connector 8"/>
          <p:cNvCxnSpPr/>
          <p:nvPr/>
        </p:nvCxnSpPr>
        <p:spPr>
          <a:xfrm>
            <a:off x="7881840" y="2230920"/>
            <a:ext cx="504360" cy="1440"/>
          </a:xfrm>
          <a:prstGeom prst="straightConnector1">
            <a:avLst/>
          </a:prstGeom>
          <a:ln w="31750">
            <a:solidFill>
              <a:srgbClr val="2E74B5"/>
            </a:solidFill>
            <a:round/>
            <a:tailEnd len="med" type="triangle" w="med"/>
          </a:ln>
        </p:spPr>
      </p:cxnSp>
      <p:sp>
        <p:nvSpPr>
          <p:cNvPr id="37" name="Oval 7"/>
          <p:cNvSpPr/>
          <p:nvPr/>
        </p:nvSpPr>
        <p:spPr>
          <a:xfrm>
            <a:off x="7973640" y="2395800"/>
            <a:ext cx="291240" cy="291240"/>
          </a:xfrm>
          <a:prstGeom prst="ellipse">
            <a:avLst/>
          </a:prstGeom>
          <a:solidFill>
            <a:srgbClr val="C05500"/>
          </a:solidFill>
          <a:ln>
            <a:solidFill>
              <a:srgbClr val="C05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  <a:spcAft>
                <a:spcPts val="201"/>
              </a:spcAf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2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38" name="Connector 9"/>
          <p:cNvCxnSpPr/>
          <p:nvPr/>
        </p:nvCxnSpPr>
        <p:spPr>
          <a:xfrm>
            <a:off x="9966960" y="2926080"/>
            <a:ext cx="1440" cy="750960"/>
          </a:xfrm>
          <a:prstGeom prst="straightConnector1">
            <a:avLst/>
          </a:prstGeom>
          <a:ln w="31750">
            <a:solidFill>
              <a:srgbClr val="C05500"/>
            </a:solidFill>
            <a:round/>
            <a:tailEnd len="med" type="triangle" w="med"/>
          </a:ln>
        </p:spPr>
      </p:cxnSp>
      <p:sp>
        <p:nvSpPr>
          <p:cNvPr id="39" name="Oval 8"/>
          <p:cNvSpPr/>
          <p:nvPr/>
        </p:nvSpPr>
        <p:spPr>
          <a:xfrm>
            <a:off x="10058400" y="3154680"/>
            <a:ext cx="291240" cy="291240"/>
          </a:xfrm>
          <a:prstGeom prst="ellipse">
            <a:avLst/>
          </a:prstGeom>
          <a:solidFill>
            <a:srgbClr val="C05500"/>
          </a:solidFill>
          <a:ln>
            <a:solidFill>
              <a:srgbClr val="C05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  <a:spcAft>
                <a:spcPts val="201"/>
              </a:spcAf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3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" name="TextBox 10"/>
          <p:cNvSpPr/>
          <p:nvPr/>
        </p:nvSpPr>
        <p:spPr>
          <a:xfrm>
            <a:off x="6949440" y="3127320"/>
            <a:ext cx="301608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>
              <a:lnSpc>
                <a:spcPct val="100000"/>
              </a:lnSpc>
              <a:spcAft>
                <a:spcPts val="201"/>
              </a:spcAft>
            </a:pPr>
            <a:r>
              <a:rPr lang="en-US" sz="1600" b="0" u="none" strike="noStrike">
                <a:solidFill>
                  <a:srgbClr val="C05500"/>
                </a:solidFill>
                <a:effectLst/>
                <a:uFillTx/>
                <a:latin typeface="Arial"/>
              </a:rPr>
              <a:t>start container on a node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41" name="Connector 10"/>
          <p:cNvCxnSpPr/>
          <p:nvPr/>
        </p:nvCxnSpPr>
        <p:spPr>
          <a:xfrm flipH="1">
            <a:off x="3639240" y="2651760"/>
            <a:ext cx="1135080" cy="1440"/>
          </a:xfrm>
          <a:prstGeom prst="straightConnector1">
            <a:avLst/>
          </a:prstGeom>
          <a:ln w="31750">
            <a:solidFill>
              <a:srgbClr val="2E74B5"/>
            </a:solidFill>
            <a:round/>
            <a:tailEnd len="med" type="triangle" w="med"/>
          </a:ln>
        </p:spPr>
      </p:cxnSp>
      <p:sp>
        <p:nvSpPr>
          <p:cNvPr id="42" name="Oval 9"/>
          <p:cNvSpPr/>
          <p:nvPr/>
        </p:nvSpPr>
        <p:spPr>
          <a:xfrm>
            <a:off x="3913560" y="2788920"/>
            <a:ext cx="291240" cy="291240"/>
          </a:xfrm>
          <a:prstGeom prst="ellipse">
            <a:avLst/>
          </a:prstGeom>
          <a:solidFill>
            <a:srgbClr val="2E74B5"/>
          </a:solidFill>
          <a:ln>
            <a:solidFill>
              <a:srgbClr val="2E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  <a:spcAft>
                <a:spcPts val="201"/>
              </a:spcAf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4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" name="TextBox 11"/>
          <p:cNvSpPr/>
          <p:nvPr/>
        </p:nvSpPr>
        <p:spPr>
          <a:xfrm>
            <a:off x="3063240" y="3090600"/>
            <a:ext cx="2376000" cy="301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>
              <a:lnSpc>
                <a:spcPct val="100000"/>
              </a:lnSpc>
              <a:spcAft>
                <a:spcPts val="201"/>
              </a:spcAft>
            </a:pPr>
            <a:r>
              <a:rPr lang="en-US" sz="1400" b="0" u="none" strike="noStrike">
                <a:solidFill>
                  <a:srgbClr val="2E74B5"/>
                </a:solidFill>
                <a:effectLst/>
                <a:uFillTx/>
                <a:latin typeface="Arial"/>
              </a:rPr>
              <a:t>session ready + URL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44" name="Connector 11"/>
          <p:cNvCxnSpPr/>
          <p:nvPr/>
        </p:nvCxnSpPr>
        <p:spPr>
          <a:xfrm>
            <a:off x="2121120" y="2926080"/>
            <a:ext cx="1440" cy="1208160"/>
          </a:xfrm>
          <a:prstGeom prst="straightConnector1">
            <a:avLst/>
          </a:prstGeom>
          <a:ln w="31750">
            <a:solidFill>
              <a:srgbClr val="2E7D32"/>
            </a:solidFill>
            <a:round/>
            <a:tailEnd len="med" type="triangle" w="med"/>
          </a:ln>
        </p:spPr>
      </p:cxnSp>
      <p:sp>
        <p:nvSpPr>
          <p:cNvPr id="45" name="TextBox 12"/>
          <p:cNvSpPr/>
          <p:nvPr/>
        </p:nvSpPr>
        <p:spPr>
          <a:xfrm>
            <a:off x="2240280" y="2994120"/>
            <a:ext cx="1598760" cy="105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spcAft>
                <a:spcPts val="201"/>
              </a:spcAft>
            </a:pPr>
            <a:r>
              <a:rPr lang="en-US" sz="1500" b="1" u="none" strike="noStrike">
                <a:solidFill>
                  <a:srgbClr val="2E7D32"/>
                </a:solidFill>
                <a:effectLst/>
                <a:uFillTx/>
                <a:latin typeface="Arial"/>
              </a:rPr>
              <a:t>You click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201"/>
              </a:spcAft>
            </a:pPr>
            <a:r>
              <a:rPr lang="en-US" sz="1500" b="1" u="none" strike="noStrike">
                <a:solidFill>
                  <a:srgbClr val="2E7D32"/>
                </a:solidFill>
                <a:effectLst/>
                <a:uFillTx/>
                <a:latin typeface="Arial"/>
              </a:rPr>
              <a:t>“Connect to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201"/>
              </a:spcAft>
            </a:pPr>
            <a:r>
              <a:rPr lang="en-US" sz="1500" b="1" u="none" strike="noStrike">
                <a:solidFill>
                  <a:srgbClr val="2E7D32"/>
                </a:solidFill>
                <a:effectLst/>
                <a:uFillTx/>
                <a:latin typeface="Arial"/>
              </a:rPr>
              <a:t>RStudio Server”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46" name="Connector 12"/>
          <p:cNvCxnSpPr/>
          <p:nvPr/>
        </p:nvCxnSpPr>
        <p:spPr>
          <a:xfrm>
            <a:off x="3639240" y="4983480"/>
            <a:ext cx="1391400" cy="1440"/>
          </a:xfrm>
          <a:prstGeom prst="straightConnector1">
            <a:avLst/>
          </a:prstGeom>
          <a:ln w="31750">
            <a:solidFill>
              <a:srgbClr val="2E7D32"/>
            </a:solidFill>
            <a:round/>
            <a:headEnd len="med" type="triangle" w="med"/>
            <a:tailEnd len="med" type="triangle" w="med"/>
          </a:ln>
        </p:spPr>
      </p:cxnSp>
      <p:sp>
        <p:nvSpPr>
          <p:cNvPr id="47" name="Oval 10"/>
          <p:cNvSpPr/>
          <p:nvPr/>
        </p:nvSpPr>
        <p:spPr>
          <a:xfrm>
            <a:off x="4206240" y="5074920"/>
            <a:ext cx="291240" cy="291240"/>
          </a:xfrm>
          <a:prstGeom prst="ellipse">
            <a:avLst/>
          </a:prstGeom>
          <a:solidFill>
            <a:srgbClr val="2E7D32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  <a:spcAft>
                <a:spcPts val="201"/>
              </a:spcAf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5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" name="TextBox 13"/>
          <p:cNvSpPr/>
          <p:nvPr/>
        </p:nvSpPr>
        <p:spPr>
          <a:xfrm>
            <a:off x="3611880" y="4382280"/>
            <a:ext cx="146160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>
              <a:lnSpc>
                <a:spcPct val="100000"/>
              </a:lnSpc>
              <a:spcAft>
                <a:spcPts val="201"/>
              </a:spcAft>
            </a:pPr>
            <a:r>
              <a:rPr lang="en-US" sz="1500" b="0" u="none" strike="noStrike">
                <a:solidFill>
                  <a:srgbClr val="2E7D32"/>
                </a:solidFill>
                <a:effectLst/>
                <a:uFillTx/>
                <a:latin typeface="Arial"/>
              </a:rPr>
              <a:t>proxied via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TextBox 14"/>
          <p:cNvSpPr/>
          <p:nvPr/>
        </p:nvSpPr>
        <p:spPr>
          <a:xfrm>
            <a:off x="3611880" y="4664520"/>
            <a:ext cx="1461600" cy="301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>
              <a:lnSpc>
                <a:spcPct val="100000"/>
              </a:lnSpc>
              <a:spcAft>
                <a:spcPts val="201"/>
              </a:spcAft>
            </a:pPr>
            <a:r>
              <a:rPr lang="en-US" sz="1400" b="0" u="none" strike="noStrike">
                <a:solidFill>
                  <a:srgbClr val="2E7D32"/>
                </a:solidFill>
                <a:effectLst/>
                <a:uFillTx/>
                <a:latin typeface="Arial"/>
              </a:rPr>
              <a:t>the login node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TextBox 15"/>
          <p:cNvSpPr/>
          <p:nvPr/>
        </p:nvSpPr>
        <p:spPr>
          <a:xfrm>
            <a:off x="365760" y="6217920"/>
            <a:ext cx="113371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spcAft>
                <a:spcPts val="201"/>
              </a:spcAft>
            </a:pPr>
            <a:r>
              <a:rPr lang="en-US" sz="1800" b="0" u="none" strike="noStrike">
                <a:solidFill>
                  <a:srgbClr val="404040"/>
                </a:solidFill>
                <a:effectLst/>
                <a:uFillTx/>
                <a:latin typeface="Arial"/>
              </a:rPr>
              <a:t>Nothing is installed on your laptop. The browser is just a window onto R running on a cluster node.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TextBox 5"/>
          <p:cNvSpPr/>
          <p:nvPr/>
        </p:nvSpPr>
        <p:spPr>
          <a:xfrm>
            <a:off x="502920" y="201240"/>
            <a:ext cx="11154240" cy="48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spcAft>
                <a:spcPts val="201"/>
              </a:spcAft>
            </a:pP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 cluster: a login node, many compute nodes, and SLURM in between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Rounded Rectangle 10"/>
          <p:cNvSpPr/>
          <p:nvPr/>
        </p:nvSpPr>
        <p:spPr>
          <a:xfrm>
            <a:off x="274320" y="2499840"/>
            <a:ext cx="1924200" cy="1598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09800" tIns="54720" rIns="109800" bIns="54720" anchor="t">
            <a:noAutofit/>
          </a:bodyPr>
          <a:p>
            <a:pPr>
              <a:lnSpc>
                <a:spcPct val="100000"/>
              </a:lnSpc>
              <a:spcAft>
                <a:spcPts val="201"/>
              </a:spcAft>
            </a:pPr>
            <a:r>
              <a:rPr lang="en-US" sz="1800" b="1" u="none" strike="noStrike">
                <a:solidFill>
                  <a:srgbClr val="595959"/>
                </a:solidFill>
                <a:effectLst/>
                <a:uFillTx/>
                <a:latin typeface="Arial"/>
              </a:rPr>
              <a:t>Your laptop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201"/>
              </a:spcAft>
            </a:pPr>
            <a:r>
              <a:rPr lang="en-US" sz="1600" b="0" u="none" strike="noStrike">
                <a:solidFill>
                  <a:srgbClr val="595959"/>
                </a:solidFill>
                <a:effectLst/>
                <a:uFillTx/>
                <a:latin typeface="Arial"/>
              </a:rPr>
              <a:t>ssh, or the OnDemand web page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53" name="Connector 3"/>
          <p:cNvCxnSpPr/>
          <p:nvPr/>
        </p:nvCxnSpPr>
        <p:spPr>
          <a:xfrm>
            <a:off x="2199960" y="3299760"/>
            <a:ext cx="401400" cy="1440"/>
          </a:xfrm>
          <a:prstGeom prst="straightConnector1">
            <a:avLst/>
          </a:prstGeom>
          <a:ln w="25400">
            <a:solidFill>
              <a:srgbClr val="595959"/>
            </a:solidFill>
            <a:round/>
            <a:tailEnd len="med" type="triangle" w="med"/>
          </a:ln>
        </p:spPr>
      </p:cxnSp>
      <p:sp>
        <p:nvSpPr>
          <p:cNvPr id="54" name="Rounded Rectangle 11"/>
          <p:cNvSpPr/>
          <p:nvPr/>
        </p:nvSpPr>
        <p:spPr>
          <a:xfrm>
            <a:off x="2350080" y="1100160"/>
            <a:ext cx="9566280" cy="419868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 w="15875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09800" tIns="54720" rIns="109800" bIns="54720" anchor="t">
            <a:noAutofit/>
          </a:bodyPr>
          <a:p>
            <a:pPr algn="ctr">
              <a:lnSpc>
                <a:spcPct val="100000"/>
              </a:lnSpc>
              <a:spcAft>
                <a:spcPts val="201"/>
              </a:spcAft>
            </a:pPr>
            <a:r>
              <a:rPr lang="en-US" sz="1800" b="1" u="none" strike="noStrike">
                <a:solidFill>
                  <a:srgbClr val="595959"/>
                </a:solidFill>
                <a:effectLst/>
                <a:uFillTx/>
                <a:latin typeface="Arial"/>
              </a:rPr>
              <a:t>HPC CLUSTER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Rounded Rectangle 17"/>
          <p:cNvSpPr/>
          <p:nvPr/>
        </p:nvSpPr>
        <p:spPr>
          <a:xfrm>
            <a:off x="2599920" y="1599840"/>
            <a:ext cx="3298680" cy="2998440"/>
          </a:xfrm>
          <a:prstGeom prst="roundRect">
            <a:avLst>
              <a:gd name="adj" fmla="val 6000"/>
            </a:avLst>
          </a:prstGeom>
          <a:solidFill>
            <a:srgbClr val="DEEAF6"/>
          </a:solidFill>
          <a:ln w="19050">
            <a:solidFill>
              <a:srgbClr val="2E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09800" tIns="54720" rIns="109800" bIns="54720" anchor="t">
            <a:noAutofit/>
          </a:bodyPr>
          <a:p>
            <a:pPr>
              <a:lnSpc>
                <a:spcPct val="100000"/>
              </a:lnSpc>
              <a:spcAft>
                <a:spcPts val="201"/>
              </a:spcAft>
            </a:pPr>
            <a:r>
              <a:rPr lang="en-US" sz="1800" b="1" u="none" strike="noStrike">
                <a:solidFill>
                  <a:srgbClr val="1F3B57"/>
                </a:solidFill>
                <a:effectLst/>
                <a:uFillTx/>
                <a:latin typeface="Arial"/>
              </a:rPr>
              <a:t>Login node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201"/>
              </a:spcAft>
            </a:pPr>
            <a:r>
              <a:rPr lang="en-US" sz="1600" b="0" u="none" strike="noStrike">
                <a:solidFill>
                  <a:srgbClr val="1F3B57"/>
                </a:solidFill>
                <a:effectLst/>
                <a:uFillTx/>
                <a:latin typeface="Arial"/>
              </a:rPr>
              <a:t>Where you land when you log in.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201"/>
              </a:spcAft>
            </a:pPr>
            <a:r>
              <a:rPr lang="en-US" sz="1600" b="0" u="none" strike="noStrike">
                <a:solidFill>
                  <a:srgbClr val="1F3B57"/>
                </a:solidFill>
                <a:effectLst/>
                <a:uFillTx/>
                <a:latin typeface="Arial"/>
              </a:rPr>
              <a:t>Edit scripts, move files, submit jobs, run tiny tests.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201"/>
              </a:spcAft>
            </a:pPr>
            <a:r>
              <a:rPr lang="en-US" sz="1600" b="0" u="none" strike="noStrike">
                <a:solidFill>
                  <a:srgbClr val="1F3B57"/>
                </a:solidFill>
                <a:effectLst/>
                <a:uFillTx/>
                <a:latin typeface="Arial"/>
              </a:rPr>
              <a:t>Shared by everyone logged in, so do not run a real analysis here.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Rounded Rectangle 18"/>
          <p:cNvSpPr/>
          <p:nvPr/>
        </p:nvSpPr>
        <p:spPr>
          <a:xfrm>
            <a:off x="6149880" y="1599840"/>
            <a:ext cx="2948400" cy="2998440"/>
          </a:xfrm>
          <a:prstGeom prst="roundRect">
            <a:avLst>
              <a:gd name="adj" fmla="val 6000"/>
            </a:avLst>
          </a:prstGeom>
          <a:solidFill>
            <a:srgbClr val="FDECDD"/>
          </a:solidFill>
          <a:ln w="19050">
            <a:solidFill>
              <a:srgbClr val="C05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09800" tIns="54720" rIns="109800" bIns="54720" anchor="t">
            <a:noAutofit/>
          </a:bodyPr>
          <a:p>
            <a:pPr>
              <a:lnSpc>
                <a:spcPct val="100000"/>
              </a:lnSpc>
              <a:spcAft>
                <a:spcPts val="201"/>
              </a:spcAft>
            </a:pPr>
            <a:r>
              <a:rPr lang="en-US" sz="1800" b="1" u="none" strike="noStrike">
                <a:solidFill>
                  <a:srgbClr val="C05500"/>
                </a:solidFill>
                <a:effectLst/>
                <a:uFillTx/>
                <a:latin typeface="Arial"/>
              </a:rPr>
              <a:t>SLURM scheduler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201"/>
              </a:spcAft>
            </a:pPr>
            <a:r>
              <a:rPr lang="en-US" sz="1600" b="0" u="none" strike="noStrike">
                <a:solidFill>
                  <a:srgbClr val="C05500"/>
                </a:solidFill>
                <a:effectLst/>
                <a:uFillTx/>
                <a:latin typeface="Arial"/>
              </a:rPr>
              <a:t>Holds the queue of waiting jobs.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201"/>
              </a:spcAft>
            </a:pPr>
            <a:r>
              <a:rPr lang="en-US" sz="1600" b="0" u="none" strike="noStrike">
                <a:solidFill>
                  <a:srgbClr val="C05500"/>
                </a:solidFill>
                <a:effectLst/>
                <a:uFillTx/>
                <a:latin typeface="Arial"/>
              </a:rPr>
              <a:t>Each job says how many cores, how much memory, and how long it needs.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201"/>
              </a:spcAft>
            </a:pPr>
            <a:r>
              <a:rPr lang="en-US" sz="1600" b="0" u="none" strike="noStrike">
                <a:solidFill>
                  <a:srgbClr val="C05500"/>
                </a:solidFill>
                <a:effectLst/>
                <a:uFillTx/>
                <a:latin typeface="Arial"/>
              </a:rPr>
              <a:t>SLURM finds a node with room, starts the job there, enforces those limits, and frees the node when it ends.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TextBox 6"/>
          <p:cNvSpPr/>
          <p:nvPr/>
        </p:nvSpPr>
        <p:spPr>
          <a:xfrm>
            <a:off x="9249840" y="1239840"/>
            <a:ext cx="254844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>
              <a:lnSpc>
                <a:spcPct val="100000"/>
              </a:lnSpc>
              <a:spcAft>
                <a:spcPts val="201"/>
              </a:spcAft>
            </a:pPr>
            <a:r>
              <a:rPr lang="en-US" sz="1600" b="1" u="none" strike="noStrike">
                <a:solidFill>
                  <a:srgbClr val="2E7D32"/>
                </a:solidFill>
                <a:effectLst/>
                <a:uFillTx/>
                <a:latin typeface="Arial"/>
              </a:rPr>
              <a:t>Compute nodes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Rounded Rectangle 19"/>
          <p:cNvSpPr/>
          <p:nvPr/>
        </p:nvSpPr>
        <p:spPr>
          <a:xfrm>
            <a:off x="9249840" y="1599840"/>
            <a:ext cx="2548440" cy="698400"/>
          </a:xfrm>
          <a:prstGeom prst="roundRect">
            <a:avLst>
              <a:gd name="adj" fmla="val 6000"/>
            </a:avLst>
          </a:prstGeom>
          <a:solidFill>
            <a:srgbClr val="E3F1E4"/>
          </a:solidFill>
          <a:ln w="15875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09800" tIns="54720" rIns="109800" bIns="54720" anchor="ctr">
            <a:noAutofit/>
          </a:bodyPr>
          <a:p>
            <a:pPr algn="ctr">
              <a:lnSpc>
                <a:spcPct val="100000"/>
              </a:lnSpc>
              <a:spcAft>
                <a:spcPts val="201"/>
              </a:spcAft>
            </a:pPr>
            <a:r>
              <a:rPr lang="en-US" sz="1600" b="1" u="none" strike="noStrike">
                <a:solidFill>
                  <a:srgbClr val="2E7D32"/>
                </a:solidFill>
                <a:effectLst/>
                <a:uFillTx/>
                <a:latin typeface="Arial"/>
              </a:rPr>
              <a:t>node01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201"/>
              </a:spcAft>
            </a:pPr>
            <a:r>
              <a:rPr lang="en-US" sz="1600" b="1" u="none" strike="noStrike">
                <a:solidFill>
                  <a:srgbClr val="2E7D32"/>
                </a:solidFill>
                <a:effectLst/>
                <a:uFillTx/>
                <a:latin typeface="Arial"/>
              </a:rPr>
              <a:t>4 cores, 16 GB, busy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Rounded Rectangle 20"/>
          <p:cNvSpPr/>
          <p:nvPr/>
        </p:nvSpPr>
        <p:spPr>
          <a:xfrm>
            <a:off x="9249840" y="2400120"/>
            <a:ext cx="2548440" cy="698400"/>
          </a:xfrm>
          <a:prstGeom prst="roundRect">
            <a:avLst>
              <a:gd name="adj" fmla="val 6000"/>
            </a:avLst>
          </a:prstGeom>
          <a:solidFill>
            <a:srgbClr val="E3F1E4"/>
          </a:solidFill>
          <a:ln w="15875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09800" tIns="54720" rIns="109800" bIns="54720" anchor="ctr">
            <a:noAutofit/>
          </a:bodyPr>
          <a:p>
            <a:pPr algn="ctr">
              <a:lnSpc>
                <a:spcPct val="100000"/>
              </a:lnSpc>
              <a:spcAft>
                <a:spcPts val="201"/>
              </a:spcAft>
            </a:pPr>
            <a:r>
              <a:rPr lang="en-US" sz="1600" b="1" u="none" strike="noStrike">
                <a:solidFill>
                  <a:srgbClr val="2E7D32"/>
                </a:solidFill>
                <a:effectLst/>
                <a:uFillTx/>
                <a:latin typeface="Arial"/>
              </a:rPr>
              <a:t>node02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201"/>
              </a:spcAft>
            </a:pPr>
            <a:r>
              <a:rPr lang="en-US" sz="1600" b="1" u="none" strike="noStrike">
                <a:solidFill>
                  <a:srgbClr val="2E7D32"/>
                </a:solidFill>
                <a:effectLst/>
                <a:uFillTx/>
                <a:latin typeface="Arial"/>
              </a:rPr>
              <a:t>4 cores, 16 GB, busy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Rounded Rectangle 21"/>
          <p:cNvSpPr/>
          <p:nvPr/>
        </p:nvSpPr>
        <p:spPr>
          <a:xfrm>
            <a:off x="9249840" y="3200040"/>
            <a:ext cx="2548440" cy="698400"/>
          </a:xfrm>
          <a:prstGeom prst="roundRect">
            <a:avLst>
              <a:gd name="adj" fmla="val 6000"/>
            </a:avLst>
          </a:prstGeom>
          <a:solidFill>
            <a:srgbClr val="E3F1E4"/>
          </a:solidFill>
          <a:ln w="15875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09800" tIns="54720" rIns="109800" bIns="54720" anchor="ctr">
            <a:noAutofit/>
          </a:bodyPr>
          <a:p>
            <a:pPr algn="ctr">
              <a:lnSpc>
                <a:spcPct val="100000"/>
              </a:lnSpc>
              <a:spcAft>
                <a:spcPts val="201"/>
              </a:spcAft>
            </a:pPr>
            <a:r>
              <a:rPr lang="en-US" sz="1600" b="1" u="none" strike="noStrike">
                <a:solidFill>
                  <a:srgbClr val="2E7D32"/>
                </a:solidFill>
                <a:effectLst/>
                <a:uFillTx/>
                <a:latin typeface="Arial"/>
              </a:rPr>
              <a:t>node03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201"/>
              </a:spcAft>
            </a:pPr>
            <a:r>
              <a:rPr lang="en-US" sz="1600" b="1" u="none" strike="noStrike">
                <a:solidFill>
                  <a:srgbClr val="2E7D32"/>
                </a:solidFill>
                <a:effectLst/>
                <a:uFillTx/>
                <a:latin typeface="Arial"/>
              </a:rPr>
              <a:t>4 cores, 16 GB, free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Rounded Rectangle 22"/>
          <p:cNvSpPr/>
          <p:nvPr/>
        </p:nvSpPr>
        <p:spPr>
          <a:xfrm>
            <a:off x="9249840" y="3999960"/>
            <a:ext cx="2548440" cy="698400"/>
          </a:xfrm>
          <a:prstGeom prst="roundRect">
            <a:avLst>
              <a:gd name="adj" fmla="val 6000"/>
            </a:avLst>
          </a:prstGeom>
          <a:solidFill>
            <a:srgbClr val="E3F1E4"/>
          </a:solidFill>
          <a:ln w="15875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09800" tIns="54720" rIns="109800" bIns="54720" anchor="ctr">
            <a:noAutofit/>
          </a:bodyPr>
          <a:p>
            <a:pPr algn="ctr">
              <a:lnSpc>
                <a:spcPct val="100000"/>
              </a:lnSpc>
              <a:spcAft>
                <a:spcPts val="201"/>
              </a:spcAft>
            </a:pPr>
            <a:r>
              <a:rPr lang="en-US" sz="1600" b="1" u="none" strike="noStrike">
                <a:solidFill>
                  <a:srgbClr val="2E7D32"/>
                </a:solidFill>
                <a:effectLst/>
                <a:uFillTx/>
                <a:latin typeface="Arial"/>
              </a:rPr>
              <a:t>node04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201"/>
              </a:spcAft>
            </a:pPr>
            <a:r>
              <a:rPr lang="en-US" sz="1600" b="1" u="none" strike="noStrike">
                <a:solidFill>
                  <a:srgbClr val="2E7D32"/>
                </a:solidFill>
                <a:effectLst/>
                <a:uFillTx/>
                <a:latin typeface="Arial"/>
              </a:rPr>
              <a:t>4 cores, 16 GB, free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62" name="Connector 5"/>
          <p:cNvCxnSpPr/>
          <p:nvPr/>
        </p:nvCxnSpPr>
        <p:spPr>
          <a:xfrm>
            <a:off x="5899680" y="3299760"/>
            <a:ext cx="251640" cy="1440"/>
          </a:xfrm>
          <a:prstGeom prst="straightConnector1">
            <a:avLst/>
          </a:prstGeom>
          <a:ln w="25400">
            <a:solidFill>
              <a:srgbClr val="C05500"/>
            </a:solidFill>
            <a:round/>
            <a:tailEnd len="med" type="triangle" w="med"/>
          </a:ln>
        </p:spPr>
      </p:cxnSp>
      <p:sp>
        <p:nvSpPr>
          <p:cNvPr id="63" name="TextBox 7"/>
          <p:cNvSpPr/>
          <p:nvPr/>
        </p:nvSpPr>
        <p:spPr>
          <a:xfrm>
            <a:off x="3899880" y="5450040"/>
            <a:ext cx="339840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>
              <a:lnSpc>
                <a:spcPct val="100000"/>
              </a:lnSpc>
              <a:spcAft>
                <a:spcPts val="201"/>
              </a:spcAft>
            </a:pPr>
            <a:r>
              <a:rPr lang="en-US" sz="1600" b="0" u="none" strike="noStrike">
                <a:solidFill>
                  <a:srgbClr val="C05500"/>
                </a:solidFill>
                <a:effectLst/>
                <a:uFillTx/>
                <a:latin typeface="Arial"/>
              </a:rPr>
              <a:t>you submit a job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64" name="Connector 6"/>
          <p:cNvCxnSpPr/>
          <p:nvPr/>
        </p:nvCxnSpPr>
        <p:spPr>
          <a:xfrm>
            <a:off x="9099720" y="3299760"/>
            <a:ext cx="151560" cy="1440"/>
          </a:xfrm>
          <a:prstGeom prst="straightConnector1">
            <a:avLst/>
          </a:prstGeom>
          <a:ln w="25400">
            <a:solidFill>
              <a:srgbClr val="2E7D32"/>
            </a:solidFill>
            <a:round/>
            <a:tailEnd len="med" type="triangle" w="med"/>
          </a:ln>
        </p:spPr>
      </p:cxnSp>
      <p:sp>
        <p:nvSpPr>
          <p:cNvPr id="65" name="TextBox 8"/>
          <p:cNvSpPr/>
          <p:nvPr/>
        </p:nvSpPr>
        <p:spPr>
          <a:xfrm>
            <a:off x="7300080" y="5450040"/>
            <a:ext cx="379872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>
              <a:lnSpc>
                <a:spcPct val="100000"/>
              </a:lnSpc>
              <a:spcAft>
                <a:spcPts val="201"/>
              </a:spcAft>
            </a:pPr>
            <a:r>
              <a:rPr lang="en-US" sz="1600" b="0" u="none" strike="noStrike">
                <a:solidFill>
                  <a:srgbClr val="2E7D32"/>
                </a:solidFill>
                <a:effectLst/>
                <a:uFillTx/>
                <a:latin typeface="Arial"/>
              </a:rPr>
              <a:t>SLURM places it on a free node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22"/>
          <p:cNvSpPr/>
          <p:nvPr/>
        </p:nvSpPr>
        <p:spPr>
          <a:xfrm>
            <a:off x="502920" y="201240"/>
            <a:ext cx="11154240" cy="48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spcAft>
                <a:spcPts val="201"/>
              </a:spcAft>
            </a:pP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Everyday SLURM commands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TextBox 23"/>
          <p:cNvSpPr/>
          <p:nvPr/>
        </p:nvSpPr>
        <p:spPr>
          <a:xfrm>
            <a:off x="502920" y="1249920"/>
            <a:ext cx="1124568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90000" bIns="0" anchor="t">
            <a:spAutoFit/>
          </a:bodyPr>
          <a:p>
            <a:pPr>
              <a:lnSpc>
                <a:spcPct val="100000"/>
              </a:lnSpc>
            </a:pPr>
            <a:r>
              <a:rPr lang="en-US" sz="2000" b="1" u="none" strike="noStrike">
                <a:solidFill>
                  <a:srgbClr val="1F3B57"/>
                </a:solidFill>
                <a:effectLst/>
                <a:uFillTx/>
                <a:latin typeface="Courier New"/>
              </a:rPr>
              <a:t>sbatch job.sh</a:t>
            </a:r>
            <a:r>
              <a:rPr lang="en-US" sz="2000" b="0" u="none" strike="noStrike">
                <a:solidFill>
                  <a:srgbClr val="404040"/>
                </a:solidFill>
                <a:effectLst/>
                <a:uFillTx/>
                <a:latin typeface="Arial"/>
              </a:rPr>
              <a:t>   submit a batch script to the queue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TextBox 24"/>
          <p:cNvSpPr/>
          <p:nvPr/>
        </p:nvSpPr>
        <p:spPr>
          <a:xfrm>
            <a:off x="502920" y="1869840"/>
            <a:ext cx="1124568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90000" bIns="0" anchor="t">
            <a:spAutoFit/>
          </a:bodyPr>
          <a:p>
            <a:pPr>
              <a:lnSpc>
                <a:spcPct val="100000"/>
              </a:lnSpc>
            </a:pPr>
            <a:r>
              <a:rPr lang="en-US" sz="2000" b="1" u="none" strike="noStrike">
                <a:solidFill>
                  <a:srgbClr val="1F3B57"/>
                </a:solidFill>
                <a:effectLst/>
                <a:uFillTx/>
                <a:latin typeface="Courier New"/>
              </a:rPr>
              <a:t>squeue -u $USER</a:t>
            </a:r>
            <a:r>
              <a:rPr lang="en-US" sz="2000" b="0" u="none" strike="noStrike">
                <a:solidFill>
                  <a:srgbClr val="404040"/>
                </a:solidFill>
                <a:effectLst/>
                <a:uFillTx/>
                <a:latin typeface="Arial"/>
              </a:rPr>
              <a:t>   list your pending and running jobs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TextBox 25"/>
          <p:cNvSpPr/>
          <p:nvPr/>
        </p:nvSpPr>
        <p:spPr>
          <a:xfrm>
            <a:off x="502920" y="2490120"/>
            <a:ext cx="1124568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90000" bIns="0" anchor="t">
            <a:spAutoFit/>
          </a:bodyPr>
          <a:p>
            <a:pPr>
              <a:lnSpc>
                <a:spcPct val="100000"/>
              </a:lnSpc>
            </a:pPr>
            <a:r>
              <a:rPr lang="en-US" sz="2000" b="1" u="none" strike="noStrike">
                <a:solidFill>
                  <a:srgbClr val="1F3B57"/>
                </a:solidFill>
                <a:effectLst/>
                <a:uFillTx/>
                <a:latin typeface="Courier New"/>
              </a:rPr>
              <a:t>scancel 12345</a:t>
            </a:r>
            <a:r>
              <a:rPr lang="en-US" sz="2000" b="0" u="none" strike="noStrike">
                <a:solidFill>
                  <a:srgbClr val="404040"/>
                </a:solidFill>
                <a:effectLst/>
                <a:uFillTx/>
                <a:latin typeface="Arial"/>
              </a:rPr>
              <a:t>   kill a job, by its job ID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TextBox 26"/>
          <p:cNvSpPr/>
          <p:nvPr/>
        </p:nvSpPr>
        <p:spPr>
          <a:xfrm>
            <a:off x="502920" y="3110040"/>
            <a:ext cx="1124568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90000" bIns="0" anchor="t">
            <a:spAutoFit/>
          </a:bodyPr>
          <a:p>
            <a:pPr>
              <a:lnSpc>
                <a:spcPct val="100000"/>
              </a:lnSpc>
            </a:pPr>
            <a:r>
              <a:rPr lang="en-US" sz="2000" b="1" u="none" strike="noStrike">
                <a:solidFill>
                  <a:srgbClr val="1F3B57"/>
                </a:solidFill>
                <a:effectLst/>
                <a:uFillTx/>
                <a:latin typeface="Courier New"/>
              </a:rPr>
              <a:t>srun --pty bash</a:t>
            </a:r>
            <a:r>
              <a:rPr lang="en-US" sz="2000" b="0" u="none" strike="noStrike">
                <a:solidFill>
                  <a:srgbClr val="404040"/>
                </a:solidFill>
                <a:effectLst/>
                <a:uFillTx/>
                <a:latin typeface="Arial"/>
              </a:rPr>
              <a:t>   grab an interactive shell on a compute node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TextBox 27"/>
          <p:cNvSpPr/>
          <p:nvPr/>
        </p:nvSpPr>
        <p:spPr>
          <a:xfrm>
            <a:off x="502920" y="3729960"/>
            <a:ext cx="1124568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90000" bIns="0" anchor="t">
            <a:spAutoFit/>
          </a:bodyPr>
          <a:p>
            <a:pPr>
              <a:lnSpc>
                <a:spcPct val="100000"/>
              </a:lnSpc>
            </a:pPr>
            <a:r>
              <a:rPr lang="en-US" sz="2000" b="1" u="none" strike="noStrike">
                <a:solidFill>
                  <a:srgbClr val="1F3B57"/>
                </a:solidFill>
                <a:effectLst/>
                <a:uFillTx/>
                <a:latin typeface="Courier New"/>
              </a:rPr>
              <a:t>sinfo</a:t>
            </a:r>
            <a:r>
              <a:rPr lang="en-US" sz="2000" b="0" u="none" strike="noStrike">
                <a:solidFill>
                  <a:srgbClr val="404040"/>
                </a:solidFill>
                <a:effectLst/>
                <a:uFillTx/>
                <a:latin typeface="Arial"/>
              </a:rPr>
              <a:t>   which partitions and nodes exist, and which are idle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TextBox 28"/>
          <p:cNvSpPr/>
          <p:nvPr/>
        </p:nvSpPr>
        <p:spPr>
          <a:xfrm>
            <a:off x="502920" y="4349880"/>
            <a:ext cx="1124568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90000" bIns="0" anchor="t">
            <a:spAutoFit/>
          </a:bodyPr>
          <a:p>
            <a:pPr>
              <a:lnSpc>
                <a:spcPct val="100000"/>
              </a:lnSpc>
            </a:pPr>
            <a:r>
              <a:rPr lang="en-US" sz="2000" b="1" u="none" strike="noStrike">
                <a:solidFill>
                  <a:srgbClr val="1F3B57"/>
                </a:solidFill>
                <a:effectLst/>
                <a:uFillTx/>
                <a:latin typeface="Courier New"/>
              </a:rPr>
              <a:t>sacct -j 12345</a:t>
            </a:r>
            <a:r>
              <a:rPr lang="en-US" sz="2000" b="0" u="none" strike="noStrike">
                <a:solidFill>
                  <a:srgbClr val="404040"/>
                </a:solidFill>
                <a:effectLst/>
                <a:uFillTx/>
                <a:latin typeface="Arial"/>
              </a:rPr>
              <a:t>   after the fact: did it finish, what did it use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TextBox 29"/>
          <p:cNvSpPr/>
          <p:nvPr/>
        </p:nvSpPr>
        <p:spPr>
          <a:xfrm>
            <a:off x="502920" y="5150160"/>
            <a:ext cx="11245680" cy="93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spcAft>
                <a:spcPts val="201"/>
              </a:spcAft>
            </a:pPr>
            <a:r>
              <a:rPr lang="en-US" sz="1800" b="1" u="none" strike="noStrike">
                <a:solidFill>
                  <a:srgbClr val="404040"/>
                </a:solidFill>
                <a:effectLst/>
                <a:uFillTx/>
                <a:latin typeface="Arial"/>
              </a:rPr>
              <a:t>A job is a request, not a command: cores, memory, and wall-clock time.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201"/>
              </a:spcAft>
            </a:pPr>
            <a:r>
              <a:rPr lang="en-US" sz="1800" b="0" u="none" strike="noStrike">
                <a:solidFill>
                  <a:srgbClr val="404040"/>
                </a:solidFill>
                <a:effectLst/>
                <a:uFillTx/>
                <a:latin typeface="Arial"/>
              </a:rPr>
              <a:t>Ask for more than you need and you wait longer in the queue. Ask for less and SLURM kills the job when it runs over. Your RStudio jobs here get 4 cores and 16 GB.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"/>
          <p:cNvPicPr/>
          <p:nvPr/>
        </p:nvPicPr>
        <p:blipFill>
          <a:blip r:embed="rId1"/>
          <a:stretch/>
        </p:blipFill>
        <p:spPr>
          <a:xfrm>
            <a:off x="228600" y="228600"/>
            <a:ext cx="11592000" cy="6204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5" name=""/>
          <p:cNvSpPr/>
          <p:nvPr/>
        </p:nvSpPr>
        <p:spPr>
          <a:xfrm>
            <a:off x="241560" y="4862160"/>
            <a:ext cx="5700960" cy="130932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2000" b="0" u="none" strike="noStrike">
                <a:solidFill>
                  <a:srgbClr val="FF00FF"/>
                </a:solidFill>
                <a:effectLst/>
                <a:uFillTx/>
                <a:latin typeface="Arial"/>
              </a:rPr>
              <a:t>This is the “console”, running an R programming language interpreter in a “read-eval-print loop”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000" b="0" u="none" strike="noStrike">
                <a:solidFill>
                  <a:srgbClr val="FF00FF"/>
                </a:solidFill>
                <a:effectLst/>
                <a:uFillTx/>
                <a:latin typeface="Arial"/>
              </a:rPr>
              <a:t>Steve show examples, participants try it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"/>
          <p:cNvPicPr/>
          <p:nvPr/>
        </p:nvPicPr>
        <p:blipFill>
          <a:blip r:embed="rId1"/>
          <a:stretch/>
        </p:blipFill>
        <p:spPr>
          <a:xfrm>
            <a:off x="228600" y="228600"/>
            <a:ext cx="11592000" cy="6204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7" name=""/>
          <p:cNvSpPr/>
          <p:nvPr/>
        </p:nvSpPr>
        <p:spPr>
          <a:xfrm>
            <a:off x="230400" y="1600200"/>
            <a:ext cx="5254920" cy="69948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2000" b="0" u="none" strike="noStrike">
                <a:solidFill>
                  <a:srgbClr val="FF00FF"/>
                </a:solidFill>
                <a:effectLst/>
                <a:uFillTx/>
                <a:latin typeface="Arial"/>
              </a:rPr>
              <a:t>This is the context of a file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000" b="0" u="none" strike="noStrike">
                <a:solidFill>
                  <a:srgbClr val="FF00FF"/>
                </a:solidFill>
                <a:effectLst/>
                <a:uFillTx/>
                <a:latin typeface="Arial"/>
              </a:rPr>
              <a:t>Steve show examples, participants try it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" name=""/>
          <p:cNvPicPr/>
          <p:nvPr/>
        </p:nvPicPr>
        <p:blipFill>
          <a:blip r:embed="rId1"/>
          <a:stretch/>
        </p:blipFill>
        <p:spPr>
          <a:xfrm>
            <a:off x="228600" y="228600"/>
            <a:ext cx="11592000" cy="6204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9" name=""/>
          <p:cNvSpPr/>
          <p:nvPr/>
        </p:nvSpPr>
        <p:spPr>
          <a:xfrm>
            <a:off x="6631200" y="4114800"/>
            <a:ext cx="5254920" cy="10044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2000" b="0" u="none" strike="noStrike">
                <a:solidFill>
                  <a:srgbClr val="FF00FF"/>
                </a:solidFill>
                <a:effectLst/>
                <a:uFillTx/>
                <a:latin typeface="Arial"/>
              </a:rPr>
              <a:t>This is a file browser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000" b="0" u="none" strike="noStrike">
                <a:solidFill>
                  <a:srgbClr val="FF00FF"/>
                </a:solidFill>
                <a:effectLst/>
                <a:uFillTx/>
                <a:latin typeface="Arial"/>
              </a:rPr>
              <a:t>Steve show examples, including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000" b="0" u="none" strike="noStrike">
                <a:solidFill>
                  <a:srgbClr val="FF00FF"/>
                </a:solidFill>
                <a:effectLst/>
                <a:uFillTx/>
                <a:latin typeface="Arial"/>
              </a:rPr>
              <a:t>opening files etc; participants try it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"/>
          <p:cNvSpPr/>
          <p:nvPr/>
        </p:nvSpPr>
        <p:spPr>
          <a:xfrm>
            <a:off x="1371600" y="1143000"/>
            <a:ext cx="9142920" cy="545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Show some R statements in 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 read-eval-print loop: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Assignment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Numeric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Character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Logical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Vectors are 1</a:t>
            </a:r>
            <a:r>
              <a:rPr lang="en-US" sz="1800" b="0" u="none" strike="noStrike" baseline="33000">
                <a:solidFill>
                  <a:srgbClr val="000000"/>
                </a:solidFill>
                <a:effectLst/>
                <a:uFillTx/>
                <a:latin typeface="Arial"/>
              </a:rPr>
              <a:t>st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class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Libraries/packages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How to find packages (CRAN, 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BioCondutor, github etc)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Working the console 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(completion, arrow up)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Go to cheat sheet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https://</a:t>
            </a: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rstudio.github.io/</a:t>
            </a: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cheatsheets/base-</a:t>
            </a: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r.pdf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"/>
          <p:cNvSpPr/>
          <p:nvPr/>
        </p:nvSpPr>
        <p:spPr>
          <a:xfrm>
            <a:off x="1371600" y="1371600"/>
            <a:ext cx="6399720" cy="338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Create an R file and source it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Write a function that adds 2 numbers; show error adding two strings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Next: tutorial on navigating between console, terminal, and file browser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" name=""/>
          <p:cNvPicPr/>
          <p:nvPr/>
        </p:nvPicPr>
        <p:blipFill>
          <a:blip r:embed="rId1"/>
          <a:stretch/>
        </p:blipFill>
        <p:spPr>
          <a:xfrm>
            <a:off x="105120" y="525240"/>
            <a:ext cx="10146960" cy="5785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3" name=""/>
          <p:cNvSpPr/>
          <p:nvPr/>
        </p:nvSpPr>
        <p:spPr>
          <a:xfrm>
            <a:off x="105120" y="5029200"/>
            <a:ext cx="2054520" cy="911520"/>
          </a:xfrm>
          <a:prstGeom prst="rect">
            <a:avLst/>
          </a:prstGeom>
          <a:noFill/>
          <a:ln w="54720">
            <a:solidFill>
              <a:srgbClr val="FF00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17360" tIns="72360" rIns="117360" bIns="7236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"/>
          <p:cNvSpPr/>
          <p:nvPr/>
        </p:nvSpPr>
        <p:spPr>
          <a:xfrm>
            <a:off x="2286000" y="5373000"/>
            <a:ext cx="4111920" cy="130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2000" b="0" u="none" strike="noStrike">
                <a:solidFill>
                  <a:srgbClr val="FF00FF"/>
                </a:solidFill>
                <a:effectLst/>
                <a:uFillTx/>
                <a:latin typeface="Arial"/>
              </a:rPr>
              <a:t>What folder am I in?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000" b="0" u="none" strike="noStrike">
                <a:solidFill>
                  <a:srgbClr val="FF00FF"/>
                </a:solidFill>
                <a:effectLst/>
                <a:uFillTx/>
                <a:latin typeface="Arial"/>
              </a:rPr>
              <a:t>getwd – get working </a:t>
            </a:r>
            <a:r>
              <a:rPr lang="en-US" sz="2000" b="0" u="none" strike="noStrike">
                <a:solidFill>
                  <a:srgbClr val="FF00FF"/>
                </a:solidFill>
                <a:effectLst/>
                <a:uFillTx/>
                <a:latin typeface="Arial"/>
              </a:rPr>
              <a:t>directory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000" b="0" u="none" strike="noStrike">
                <a:solidFill>
                  <a:srgbClr val="FF00FF"/>
                </a:solidFill>
                <a:effectLst/>
                <a:uFillTx/>
                <a:latin typeface="Arial"/>
              </a:rPr>
              <a:t>R function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"/>
          <p:cNvPicPr/>
          <p:nvPr/>
        </p:nvPicPr>
        <p:blipFill>
          <a:blip r:embed="rId1"/>
          <a:stretch/>
        </p:blipFill>
        <p:spPr>
          <a:xfrm>
            <a:off x="25920" y="576360"/>
            <a:ext cx="10055520" cy="5574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6" name=""/>
          <p:cNvSpPr/>
          <p:nvPr/>
        </p:nvSpPr>
        <p:spPr>
          <a:xfrm>
            <a:off x="105480" y="5029200"/>
            <a:ext cx="2054520" cy="911520"/>
          </a:xfrm>
          <a:prstGeom prst="rect">
            <a:avLst/>
          </a:prstGeom>
          <a:noFill/>
          <a:ln w="54720">
            <a:solidFill>
              <a:srgbClr val="FF00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17360" tIns="72360" rIns="117360" bIns="7236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"/>
          <p:cNvSpPr/>
          <p:nvPr/>
        </p:nvSpPr>
        <p:spPr>
          <a:xfrm>
            <a:off x="2286000" y="4800600"/>
            <a:ext cx="4111920" cy="130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2000" b="0" u="none" strike="noStrike">
                <a:solidFill>
                  <a:srgbClr val="FF00FF"/>
                </a:solidFill>
                <a:effectLst/>
                <a:uFillTx/>
                <a:latin typeface="Arial"/>
              </a:rPr>
              <a:t>setwd(“src”) = 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000" b="0" u="none" strike="noStrike">
                <a:solidFill>
                  <a:srgbClr val="FF00FF"/>
                </a:solidFill>
                <a:effectLst/>
                <a:uFillTx/>
                <a:latin typeface="Arial"/>
              </a:rPr>
              <a:t>Set working directory src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000" b="0" u="none" strike="noStrike">
                <a:solidFill>
                  <a:srgbClr val="FF00FF"/>
                </a:solidFill>
                <a:effectLst/>
                <a:uFillTx/>
                <a:latin typeface="Arial"/>
              </a:rPr>
              <a:t>Then getwd – get working directory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"/>
          <p:cNvSpPr/>
          <p:nvPr/>
        </p:nvSpPr>
        <p:spPr>
          <a:xfrm>
            <a:off x="7315200" y="4034160"/>
            <a:ext cx="411192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2000" b="0" u="none" strike="noStrike">
                <a:solidFill>
                  <a:srgbClr val="FF00FF"/>
                </a:solidFill>
                <a:effectLst/>
                <a:uFillTx/>
                <a:latin typeface="Arial"/>
              </a:rPr>
              <a:t>But no change here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"/>
          <p:cNvPicPr/>
          <p:nvPr/>
        </p:nvPicPr>
        <p:blipFill>
          <a:blip r:embed="rId1"/>
          <a:stretch/>
        </p:blipFill>
        <p:spPr>
          <a:xfrm>
            <a:off x="25920" y="576360"/>
            <a:ext cx="10055520" cy="5574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0" name=""/>
          <p:cNvSpPr/>
          <p:nvPr/>
        </p:nvSpPr>
        <p:spPr>
          <a:xfrm>
            <a:off x="105480" y="5029200"/>
            <a:ext cx="2054520" cy="911520"/>
          </a:xfrm>
          <a:prstGeom prst="rect">
            <a:avLst/>
          </a:prstGeom>
          <a:noFill/>
          <a:ln w="54720">
            <a:solidFill>
              <a:srgbClr val="FF00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17360" tIns="72360" rIns="117360" bIns="7236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"/>
          <p:cNvSpPr/>
          <p:nvPr/>
        </p:nvSpPr>
        <p:spPr>
          <a:xfrm>
            <a:off x="2286000" y="4800600"/>
            <a:ext cx="4111920" cy="130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2000" b="0" u="none" strike="noStrike">
                <a:solidFill>
                  <a:srgbClr val="FF00FF"/>
                </a:solidFill>
                <a:effectLst/>
                <a:uFillTx/>
                <a:latin typeface="Arial"/>
              </a:rPr>
              <a:t>setwd(“src”) = 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000" b="0" u="none" strike="noStrike">
                <a:solidFill>
                  <a:srgbClr val="FF00FF"/>
                </a:solidFill>
                <a:effectLst/>
                <a:uFillTx/>
                <a:latin typeface="Arial"/>
              </a:rPr>
              <a:t>Set working </a:t>
            </a:r>
            <a:r>
              <a:rPr lang="en-US" sz="2000" b="0" u="none" strike="noStrike">
                <a:solidFill>
                  <a:srgbClr val="FF00FF"/>
                </a:solidFill>
                <a:effectLst/>
                <a:uFillTx/>
                <a:latin typeface="Arial"/>
              </a:rPr>
              <a:t>directory src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000" b="0" u="none" strike="noStrike">
                <a:solidFill>
                  <a:srgbClr val="FF00FF"/>
                </a:solidFill>
                <a:effectLst/>
                <a:uFillTx/>
                <a:latin typeface="Arial"/>
              </a:rPr>
              <a:t>Then getwd – get </a:t>
            </a:r>
            <a:r>
              <a:rPr lang="en-US" sz="2000" b="0" u="none" strike="noStrike">
                <a:solidFill>
                  <a:srgbClr val="FF00FF"/>
                </a:solidFill>
                <a:effectLst/>
                <a:uFillTx/>
                <a:latin typeface="Arial"/>
              </a:rPr>
              <a:t>working directory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"/>
          <p:cNvSpPr/>
          <p:nvPr/>
        </p:nvSpPr>
        <p:spPr>
          <a:xfrm>
            <a:off x="7315200" y="4034160"/>
            <a:ext cx="411192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2000" b="0" u="none" strike="noStrike">
                <a:solidFill>
                  <a:srgbClr val="FF00FF"/>
                </a:solidFill>
                <a:effectLst/>
                <a:uFillTx/>
                <a:latin typeface="Arial"/>
              </a:rPr>
              <a:t>But no change here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"/>
          <p:cNvSpPr/>
          <p:nvPr/>
        </p:nvSpPr>
        <p:spPr>
          <a:xfrm>
            <a:off x="914400" y="804960"/>
            <a:ext cx="911520" cy="335160"/>
          </a:xfrm>
          <a:prstGeom prst="rect">
            <a:avLst/>
          </a:prstGeom>
          <a:noFill/>
          <a:ln w="54720">
            <a:solidFill>
              <a:srgbClr val="FF00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17360" tIns="72360" rIns="117360" bIns="7236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"/>
          <p:cNvPicPr/>
          <p:nvPr/>
        </p:nvPicPr>
        <p:blipFill>
          <a:blip r:embed="rId1"/>
          <a:stretch/>
        </p:blipFill>
        <p:spPr>
          <a:xfrm>
            <a:off x="25920" y="576360"/>
            <a:ext cx="10055520" cy="5574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5" name=""/>
          <p:cNvSpPr/>
          <p:nvPr/>
        </p:nvSpPr>
        <p:spPr>
          <a:xfrm>
            <a:off x="5943600" y="2971800"/>
            <a:ext cx="911520" cy="335160"/>
          </a:xfrm>
          <a:prstGeom prst="rect">
            <a:avLst/>
          </a:prstGeom>
          <a:noFill/>
          <a:ln w="54720">
            <a:solidFill>
              <a:srgbClr val="FF00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17360" tIns="72360" rIns="117360" bIns="7236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"/>
          <p:cNvSpPr/>
          <p:nvPr/>
        </p:nvSpPr>
        <p:spPr>
          <a:xfrm>
            <a:off x="6400800" y="4034160"/>
            <a:ext cx="4111920" cy="130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2000" b="0" u="none" strike="noStrike">
                <a:solidFill>
                  <a:srgbClr val="FF00FF"/>
                </a:solidFill>
                <a:effectLst/>
                <a:uFillTx/>
                <a:latin typeface="Arial"/>
              </a:rPr>
              <a:t>Show how to create new folder / navigate in the files tab, and then  make that the working directory </a:t>
            </a:r>
            <a:r>
              <a:rPr lang="en-US" sz="2000" b="0" u="none" strike="noStrike">
                <a:solidFill>
                  <a:srgbClr val="FF00FF"/>
                </a:solidFill>
                <a:effectLst/>
                <a:uFillTx/>
                <a:latin typeface="Arial"/>
              </a:rPr>
              <a:t>in the R console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" name=""/>
          <p:cNvPicPr/>
          <p:nvPr/>
        </p:nvPicPr>
        <p:blipFill>
          <a:blip r:embed="rId1"/>
          <a:stretch/>
        </p:blipFill>
        <p:spPr>
          <a:xfrm>
            <a:off x="243000" y="117000"/>
            <a:ext cx="11754000" cy="6640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8" name=""/>
          <p:cNvSpPr/>
          <p:nvPr/>
        </p:nvSpPr>
        <p:spPr>
          <a:xfrm>
            <a:off x="1828800" y="2743200"/>
            <a:ext cx="411192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2000" b="0" u="none" strike="noStrike">
                <a:solidFill>
                  <a:srgbClr val="FF00FF"/>
                </a:solidFill>
                <a:effectLst/>
                <a:uFillTx/>
                <a:latin typeface="Arial"/>
              </a:rPr>
              <a:t>continue with orientation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"/>
          <p:cNvSpPr/>
          <p:nvPr/>
        </p:nvSpPr>
        <p:spPr>
          <a:xfrm>
            <a:off x="2286000" y="1574280"/>
            <a:ext cx="4111920" cy="100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2000" b="0" u="none" strike="noStrike">
                <a:solidFill>
                  <a:srgbClr val="FF00FF"/>
                </a:solidFill>
                <a:effectLst/>
                <a:uFillTx/>
                <a:latin typeface="Arial"/>
              </a:rPr>
              <a:t>What folder am I in (pwd – print working directory) bash function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"/>
          <p:cNvSpPr/>
          <p:nvPr/>
        </p:nvSpPr>
        <p:spPr>
          <a:xfrm>
            <a:off x="228600" y="1143000"/>
            <a:ext cx="2054520" cy="911520"/>
          </a:xfrm>
          <a:prstGeom prst="rect">
            <a:avLst/>
          </a:prstGeom>
          <a:noFill/>
          <a:ln w="54720">
            <a:solidFill>
              <a:srgbClr val="FF00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17360" tIns="72360" rIns="117360" bIns="7236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"/>
          <p:cNvSpPr/>
          <p:nvPr/>
        </p:nvSpPr>
        <p:spPr>
          <a:xfrm>
            <a:off x="1371600" y="1371600"/>
            <a:ext cx="9829800" cy="1014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3000" b="0" u="none" strike="noStrike">
                <a:solidFill>
                  <a:srgbClr val="000000"/>
                </a:solidFill>
                <a:effectLst/>
                <a:highlight>
                  <a:srgbClr val="FF00FF"/>
                </a:highlight>
                <a:uFillTx/>
                <a:latin typeface="Arial"/>
              </a:rPr>
              <a:t>SLIDE NEEDS WORK</a:t>
            </a:r>
            <a:r>
              <a:rPr lang="en-US" sz="3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Create a file (e.g. 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3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write.csv(mtcars, file=’myfile.csv’)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3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) in the test folder and open it in the editor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3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setwd(“~/test/”) so that the current working directory is ~/test/, then source your file.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3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data.table, data.frame, tibble, selecting rows, columns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3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View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3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Tidyr select rows, select columns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3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"/>
          <p:cNvSpPr/>
          <p:nvPr/>
        </p:nvSpPr>
        <p:spPr>
          <a:xfrm>
            <a:off x="685800" y="286560"/>
            <a:ext cx="10741680" cy="453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Bash examples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Directories, ls, cd, pwd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Commands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Cheat sheet at https://github.com/RehanSaeed/Bash-Cheat-Sheet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Environment variables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PATH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Scripts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Executable bits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AI coding agents use bash a lot and can help with oddities of common unix commands and bash syntax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→ Demo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"/>
          <p:cNvSpPr/>
          <p:nvPr/>
        </p:nvSpPr>
        <p:spPr>
          <a:xfrm>
            <a:off x="1143000" y="931680"/>
            <a:ext cx="9600120" cy="295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Python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Different vocabulary and grammar, similar underlying concepts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/usr/bin/python3.12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def add(a, b):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print(a + b)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"/>
          <p:cNvSpPr/>
          <p:nvPr/>
        </p:nvSpPr>
        <p:spPr>
          <a:xfrm>
            <a:off x="914400" y="914400"/>
            <a:ext cx="10286280" cy="575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Agentic coding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Bash command “what python 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interpreters are available to 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me”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Bash command “Summarize 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CPU load, RAM usage, and 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number of users on each node 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in the cluster”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 and pyton example: </a:t>
            </a: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write the R mtcars table </a:t>
            </a: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to disk as a tsv file, then </a:t>
            </a: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write and test  1 python </a:t>
            </a: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script read the data from </a:t>
            </a: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disk and create a png </a:t>
            </a: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showing mpg vs hp; test </a:t>
            </a: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and run the script, then </a:t>
            </a: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display the 2 plots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curl -fsSL 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https://opencode.ai/install | 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bash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opencode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Use “Nemotron 3 Ultra Free 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Opencode Zen” (pretty limited 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free tier)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PlaceHolder 1"/>
          <p:cNvSpPr>
            <a:spLocks noGrp="1"/>
          </p:cNvSpPr>
          <p:nvPr>
            <p:ph/>
          </p:nvPr>
        </p:nvSpPr>
        <p:spPr>
          <a:xfrm>
            <a:off x="609480" y="1604520"/>
            <a:ext cx="10969920" cy="3974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spcBef>
                <a:spcPts val="1417"/>
              </a:spcBef>
              <a:buNone/>
            </a:pP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6" name="TextBox 4"/>
          <p:cNvSpPr/>
          <p:nvPr/>
        </p:nvSpPr>
        <p:spPr>
          <a:xfrm>
            <a:off x="502920" y="201240"/>
            <a:ext cx="11154600" cy="39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90000" bIns="0" anchor="t">
            <a:spAutoFit/>
          </a:bodyPr>
          <a:p>
            <a:pPr>
              <a:lnSpc>
                <a:spcPct val="100000"/>
              </a:lnSpc>
            </a:pP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Reference Slide: LLM-agnostic open source coding agents: terminal first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TextBox 30"/>
          <p:cNvSpPr/>
          <p:nvPr/>
        </p:nvSpPr>
        <p:spPr>
          <a:xfrm>
            <a:off x="502920" y="1051560"/>
            <a:ext cx="11246040" cy="48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90000" bIns="0" anchor="t">
            <a:spAutoFit/>
          </a:bodyPr>
          <a:p>
            <a:pPr>
              <a:lnSpc>
                <a:spcPct val="100000"/>
              </a:lnSpc>
            </a:pPr>
            <a:r>
              <a:rPr lang="en-US" sz="1800" b="1" u="none" strike="noStrike">
                <a:solidFill>
                  <a:srgbClr val="1F3B57"/>
                </a:solidFill>
                <a:effectLst/>
                <a:uFillTx/>
                <a:latin typeface="Arial"/>
              </a:rPr>
              <a:t>Aider</a:t>
            </a:r>
            <a:r>
              <a:rPr lang="en-US" sz="1800" b="0" u="none" strike="noStrike">
                <a:solidFill>
                  <a:srgbClr val="404040"/>
                </a:solidFill>
                <a:effectLst/>
                <a:uFillTx/>
                <a:latin typeface="Arial"/>
              </a:rPr>
              <a:t>   terminal AI pair programming, any model via LiteLLM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400" b="0" u="none" strike="noStrike">
                <a:solidFill>
                  <a:srgbClr val="666666"/>
                </a:solidFill>
                <a:effectLst/>
                <a:uFillTx/>
                <a:latin typeface="Courier New"/>
              </a:rPr>
              <a:t>https://github.com/Aider-AI/aider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TextBox 31"/>
          <p:cNvSpPr/>
          <p:nvPr/>
        </p:nvSpPr>
        <p:spPr>
          <a:xfrm>
            <a:off x="502920" y="1856160"/>
            <a:ext cx="11246040" cy="48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90000" bIns="0" anchor="t">
            <a:spAutoFit/>
          </a:bodyPr>
          <a:p>
            <a:pPr>
              <a:lnSpc>
                <a:spcPct val="100000"/>
              </a:lnSpc>
            </a:pPr>
            <a:r>
              <a:rPr lang="en-US" sz="1800" b="1" u="none" strike="noStrike">
                <a:solidFill>
                  <a:srgbClr val="1F3B57"/>
                </a:solidFill>
                <a:effectLst/>
                <a:uFillTx/>
                <a:latin typeface="Arial"/>
              </a:rPr>
              <a:t>Goose</a:t>
            </a:r>
            <a:r>
              <a:rPr lang="en-US" sz="1800" b="0" u="none" strike="noStrike">
                <a:solidFill>
                  <a:srgbClr val="404040"/>
                </a:solidFill>
                <a:effectLst/>
                <a:uFillTx/>
                <a:latin typeface="Arial"/>
              </a:rPr>
              <a:t>   extensible agent that installs, runs, edits, and tests with any LLM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400" b="0" u="none" strike="noStrike">
                <a:solidFill>
                  <a:srgbClr val="666666"/>
                </a:solidFill>
                <a:effectLst/>
                <a:uFillTx/>
                <a:latin typeface="Courier New"/>
              </a:rPr>
              <a:t>https://github.com/block/goose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TextBox 32"/>
          <p:cNvSpPr/>
          <p:nvPr/>
        </p:nvSpPr>
        <p:spPr>
          <a:xfrm>
            <a:off x="502920" y="2660760"/>
            <a:ext cx="11246040" cy="48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90000" bIns="0" anchor="t">
            <a:spAutoFit/>
          </a:bodyPr>
          <a:p>
            <a:pPr>
              <a:lnSpc>
                <a:spcPct val="100000"/>
              </a:lnSpc>
            </a:pPr>
            <a:r>
              <a:rPr lang="en-US" sz="1800" b="1" u="none" strike="noStrike">
                <a:solidFill>
                  <a:srgbClr val="1F3B57"/>
                </a:solidFill>
                <a:effectLst/>
                <a:uFillTx/>
                <a:latin typeface="Arial"/>
              </a:rPr>
              <a:t>Crush</a:t>
            </a:r>
            <a:r>
              <a:rPr lang="en-US" sz="1800" b="0" u="none" strike="noStrike">
                <a:solidFill>
                  <a:srgbClr val="404040"/>
                </a:solidFill>
                <a:effectLst/>
                <a:uFillTx/>
                <a:latin typeface="Arial"/>
              </a:rPr>
              <a:t>   Go terminal UI agent from Charm, multi-provider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400" b="0" u="none" strike="noStrike">
                <a:solidFill>
                  <a:srgbClr val="666666"/>
                </a:solidFill>
                <a:effectLst/>
                <a:uFillTx/>
                <a:latin typeface="Courier New"/>
              </a:rPr>
              <a:t>https://github.com/charmbracelet/crush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TextBox 33"/>
          <p:cNvSpPr/>
          <p:nvPr/>
        </p:nvSpPr>
        <p:spPr>
          <a:xfrm>
            <a:off x="502920" y="3465720"/>
            <a:ext cx="11246040" cy="48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90000" bIns="0" anchor="t">
            <a:spAutoFit/>
          </a:bodyPr>
          <a:p>
            <a:pPr>
              <a:lnSpc>
                <a:spcPct val="100000"/>
              </a:lnSpc>
            </a:pPr>
            <a:r>
              <a:rPr lang="en-US" sz="1800" b="1" u="none" strike="noStrike">
                <a:solidFill>
                  <a:srgbClr val="1F3B57"/>
                </a:solidFill>
                <a:effectLst/>
                <a:uFillTx/>
                <a:latin typeface="Arial"/>
              </a:rPr>
              <a:t>opencode</a:t>
            </a:r>
            <a:r>
              <a:rPr lang="en-US" sz="1800" b="0" u="none" strike="noStrike">
                <a:solidFill>
                  <a:srgbClr val="404040"/>
                </a:solidFill>
                <a:effectLst/>
                <a:uFillTx/>
                <a:latin typeface="Arial"/>
              </a:rPr>
              <a:t>   terminal coding agent from SST, provider agnostic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400" b="0" u="none" strike="noStrike">
                <a:solidFill>
                  <a:srgbClr val="666666"/>
                </a:solidFill>
                <a:effectLst/>
                <a:uFillTx/>
                <a:latin typeface="Courier New"/>
              </a:rPr>
              <a:t>https://github.com/sst/opencode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TextBox 34"/>
          <p:cNvSpPr/>
          <p:nvPr/>
        </p:nvSpPr>
        <p:spPr>
          <a:xfrm>
            <a:off x="502920" y="4270320"/>
            <a:ext cx="11246040" cy="48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90000" bIns="0" anchor="t">
            <a:spAutoFit/>
          </a:bodyPr>
          <a:p>
            <a:pPr>
              <a:lnSpc>
                <a:spcPct val="100000"/>
              </a:lnSpc>
            </a:pPr>
            <a:r>
              <a:rPr lang="en-US" sz="1800" b="1" u="none" strike="noStrike">
                <a:solidFill>
                  <a:srgbClr val="1F3B57"/>
                </a:solidFill>
                <a:effectLst/>
                <a:uFillTx/>
                <a:latin typeface="Arial"/>
              </a:rPr>
              <a:t>Plandex</a:t>
            </a:r>
            <a:r>
              <a:rPr lang="en-US" sz="1800" b="0" u="none" strike="noStrike">
                <a:solidFill>
                  <a:srgbClr val="404040"/>
                </a:solidFill>
                <a:effectLst/>
                <a:uFillTx/>
                <a:latin typeface="Arial"/>
              </a:rPr>
              <a:t>   aimed at large projects and long multi-file tasks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400" b="0" u="none" strike="noStrike">
                <a:solidFill>
                  <a:srgbClr val="666666"/>
                </a:solidFill>
                <a:effectLst/>
                <a:uFillTx/>
                <a:latin typeface="Courier New"/>
              </a:rPr>
              <a:t>https://github.com/plandex-ai/plandex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TextBox 35"/>
          <p:cNvSpPr/>
          <p:nvPr/>
        </p:nvSpPr>
        <p:spPr>
          <a:xfrm>
            <a:off x="502920" y="5074920"/>
            <a:ext cx="11246040" cy="48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90000" bIns="0" anchor="t">
            <a:spAutoFit/>
          </a:bodyPr>
          <a:p>
            <a:pPr>
              <a:lnSpc>
                <a:spcPct val="100000"/>
              </a:lnSpc>
            </a:pPr>
            <a:r>
              <a:rPr lang="en-US" sz="1800" b="1" u="none" strike="noStrike">
                <a:solidFill>
                  <a:srgbClr val="1F3B57"/>
                </a:solidFill>
                <a:effectLst/>
                <a:uFillTx/>
                <a:latin typeface="Arial"/>
              </a:rPr>
              <a:t>Codex CLI</a:t>
            </a:r>
            <a:r>
              <a:rPr lang="en-US" sz="1800" b="0" u="none" strike="noStrike">
                <a:solidFill>
                  <a:srgbClr val="404040"/>
                </a:solidFill>
                <a:effectLst/>
                <a:uFillTx/>
                <a:latin typeface="Arial"/>
              </a:rPr>
              <a:t>   OpenAI's, but accepts any OpenAI-compatible provider in config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400" b="0" u="none" strike="noStrike">
                <a:solidFill>
                  <a:srgbClr val="666666"/>
                </a:solidFill>
                <a:effectLst/>
                <a:uFillTx/>
                <a:latin typeface="Courier New"/>
              </a:rPr>
              <a:t>https://github.com/openai/codex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TextBox 36"/>
          <p:cNvSpPr/>
          <p:nvPr/>
        </p:nvSpPr>
        <p:spPr>
          <a:xfrm>
            <a:off x="502920" y="5943600"/>
            <a:ext cx="11246040" cy="24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9000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404040"/>
                </a:solidFill>
                <a:effectLst/>
                <a:uFillTx/>
                <a:latin typeface="Arial"/>
              </a:rPr>
              <a:t>All six are open source and swap the model behind the same agent loop.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PlaceHolder 1"/>
          <p:cNvSpPr>
            <a:spLocks noGrp="1"/>
          </p:cNvSpPr>
          <p:nvPr>
            <p:ph/>
          </p:nvPr>
        </p:nvSpPr>
        <p:spPr>
          <a:xfrm>
            <a:off x="609480" y="1604520"/>
            <a:ext cx="10969920" cy="3974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spcBef>
                <a:spcPts val="1417"/>
              </a:spcBef>
              <a:buNone/>
            </a:pP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5" name="TextBox 2"/>
          <p:cNvSpPr/>
          <p:nvPr/>
        </p:nvSpPr>
        <p:spPr>
          <a:xfrm>
            <a:off x="502920" y="201240"/>
            <a:ext cx="11154600" cy="79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90000" bIns="0" anchor="t">
            <a:spAutoFit/>
          </a:bodyPr>
          <a:p>
            <a:pPr>
              <a:lnSpc>
                <a:spcPct val="100000"/>
              </a:lnSpc>
            </a:pP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Reference slide: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LLM-agnostic open source coding agents: editors and autonomous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TextBox 37"/>
          <p:cNvSpPr/>
          <p:nvPr/>
        </p:nvSpPr>
        <p:spPr>
          <a:xfrm>
            <a:off x="502920" y="1149840"/>
            <a:ext cx="11246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90000" bIns="0" anchor="t">
            <a:spAutoFit/>
          </a:bodyPr>
          <a:p>
            <a:pPr>
              <a:lnSpc>
                <a:spcPct val="100000"/>
              </a:lnSpc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Editor extensions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TextBox 38"/>
          <p:cNvSpPr/>
          <p:nvPr/>
        </p:nvSpPr>
        <p:spPr>
          <a:xfrm>
            <a:off x="502920" y="1417320"/>
            <a:ext cx="11246040" cy="48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90000" bIns="0" anchor="t">
            <a:spAutoFit/>
          </a:bodyPr>
          <a:p>
            <a:pPr>
              <a:lnSpc>
                <a:spcPct val="100000"/>
              </a:lnSpc>
            </a:pPr>
            <a:r>
              <a:rPr lang="en-US" sz="1800" b="1" u="none" strike="noStrike">
                <a:solidFill>
                  <a:srgbClr val="1F3B57"/>
                </a:solidFill>
                <a:effectLst/>
                <a:uFillTx/>
                <a:latin typeface="Arial"/>
              </a:rPr>
              <a:t>Cline</a:t>
            </a:r>
            <a:r>
              <a:rPr lang="en-US" sz="1800" b="0" u="none" strike="noStrike">
                <a:solidFill>
                  <a:srgbClr val="404040"/>
                </a:solidFill>
                <a:effectLst/>
                <a:uFillTx/>
                <a:latin typeface="Arial"/>
              </a:rPr>
              <a:t>   autonomous coding agent as SDK, IDE extension, or CLI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400" b="0" u="none" strike="noStrike">
                <a:solidFill>
                  <a:srgbClr val="666666"/>
                </a:solidFill>
                <a:effectLst/>
                <a:uFillTx/>
                <a:latin typeface="Courier New"/>
              </a:rPr>
              <a:t>https://github.com/cline/cline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TextBox 39"/>
          <p:cNvSpPr/>
          <p:nvPr/>
        </p:nvSpPr>
        <p:spPr>
          <a:xfrm>
            <a:off x="502920" y="2176200"/>
            <a:ext cx="11246040" cy="48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90000" bIns="0" anchor="t">
            <a:spAutoFit/>
          </a:bodyPr>
          <a:p>
            <a:pPr>
              <a:lnSpc>
                <a:spcPct val="100000"/>
              </a:lnSpc>
            </a:pPr>
            <a:r>
              <a:rPr lang="en-US" sz="1800" b="1" u="none" strike="noStrike">
                <a:solidFill>
                  <a:srgbClr val="1F3B57"/>
                </a:solidFill>
                <a:effectLst/>
                <a:uFillTx/>
                <a:latin typeface="Arial"/>
              </a:rPr>
              <a:t>Roo Code</a:t>
            </a:r>
            <a:r>
              <a:rPr lang="en-US" sz="1800" b="0" u="none" strike="noStrike">
                <a:solidFill>
                  <a:srgbClr val="404040"/>
                </a:solidFill>
                <a:effectLst/>
                <a:uFillTx/>
                <a:latin typeface="Arial"/>
              </a:rPr>
              <a:t>   a Cline fork, adds multiple agent modes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400" b="0" u="none" strike="noStrike">
                <a:solidFill>
                  <a:srgbClr val="666666"/>
                </a:solidFill>
                <a:effectLst/>
                <a:uFillTx/>
                <a:latin typeface="Courier New"/>
              </a:rPr>
              <a:t>https://github.com/RooCodeInc/Roo-Code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TextBox 40"/>
          <p:cNvSpPr/>
          <p:nvPr/>
        </p:nvSpPr>
        <p:spPr>
          <a:xfrm>
            <a:off x="502920" y="2935080"/>
            <a:ext cx="11246040" cy="48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90000" bIns="0" anchor="t">
            <a:spAutoFit/>
          </a:bodyPr>
          <a:p>
            <a:pPr>
              <a:lnSpc>
                <a:spcPct val="100000"/>
              </a:lnSpc>
            </a:pPr>
            <a:r>
              <a:rPr lang="en-US" sz="1800" b="1" u="none" strike="noStrike">
                <a:solidFill>
                  <a:srgbClr val="1F3B57"/>
                </a:solidFill>
                <a:effectLst/>
                <a:uFillTx/>
                <a:latin typeface="Arial"/>
              </a:rPr>
              <a:t>Kilo Code</a:t>
            </a:r>
            <a:r>
              <a:rPr lang="en-US" sz="1800" b="0" u="none" strike="noStrike">
                <a:solidFill>
                  <a:srgbClr val="404040"/>
                </a:solidFill>
                <a:effectLst/>
                <a:uFillTx/>
                <a:latin typeface="Arial"/>
              </a:rPr>
              <a:t>   a further fork, merges Cline and Roo features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400" b="0" u="none" strike="noStrike">
                <a:solidFill>
                  <a:srgbClr val="666666"/>
                </a:solidFill>
                <a:effectLst/>
                <a:uFillTx/>
                <a:latin typeface="Courier New"/>
              </a:rPr>
              <a:t>https://github.com/Kilo-Org/kilocode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TextBox 41"/>
          <p:cNvSpPr/>
          <p:nvPr/>
        </p:nvSpPr>
        <p:spPr>
          <a:xfrm>
            <a:off x="502920" y="3694320"/>
            <a:ext cx="11246040" cy="48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90000" bIns="0" anchor="t">
            <a:spAutoFit/>
          </a:bodyPr>
          <a:p>
            <a:pPr>
              <a:lnSpc>
                <a:spcPct val="100000"/>
              </a:lnSpc>
            </a:pPr>
            <a:r>
              <a:rPr lang="en-US" sz="1800" b="1" u="none" strike="noStrike">
                <a:solidFill>
                  <a:srgbClr val="1F3B57"/>
                </a:solidFill>
                <a:effectLst/>
                <a:uFillTx/>
                <a:latin typeface="Arial"/>
              </a:rPr>
              <a:t>Continue</a:t>
            </a:r>
            <a:r>
              <a:rPr lang="en-US" sz="1800" b="0" u="none" strike="noStrike">
                <a:solidFill>
                  <a:srgbClr val="404040"/>
                </a:solidFill>
                <a:effectLst/>
                <a:uFillTx/>
                <a:latin typeface="Arial"/>
              </a:rPr>
              <a:t>   open source coding agent with pluggable model backends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400" b="0" u="none" strike="noStrike">
                <a:solidFill>
                  <a:srgbClr val="666666"/>
                </a:solidFill>
                <a:effectLst/>
                <a:uFillTx/>
                <a:latin typeface="Courier New"/>
              </a:rPr>
              <a:t>https://github.com/continuedev/continue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TextBox 42"/>
          <p:cNvSpPr/>
          <p:nvPr/>
        </p:nvSpPr>
        <p:spPr>
          <a:xfrm>
            <a:off x="502920" y="4572000"/>
            <a:ext cx="11246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90000" bIns="0" anchor="t">
            <a:spAutoFit/>
          </a:bodyPr>
          <a:p>
            <a:pPr>
              <a:lnSpc>
                <a:spcPct val="100000"/>
              </a:lnSpc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Autonomous and research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TextBox 43"/>
          <p:cNvSpPr/>
          <p:nvPr/>
        </p:nvSpPr>
        <p:spPr>
          <a:xfrm>
            <a:off x="502920" y="4983480"/>
            <a:ext cx="11246040" cy="48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90000" bIns="0" anchor="t">
            <a:spAutoFit/>
          </a:bodyPr>
          <a:p>
            <a:pPr>
              <a:lnSpc>
                <a:spcPct val="100000"/>
              </a:lnSpc>
            </a:pPr>
            <a:r>
              <a:rPr lang="en-US" sz="1800" b="1" u="none" strike="noStrike">
                <a:solidFill>
                  <a:srgbClr val="1F3B57"/>
                </a:solidFill>
                <a:effectLst/>
                <a:uFillTx/>
                <a:latin typeface="Arial"/>
              </a:rPr>
              <a:t>OpenHands</a:t>
            </a:r>
            <a:r>
              <a:rPr lang="en-US" sz="1800" b="0" u="none" strike="noStrike">
                <a:solidFill>
                  <a:srgbClr val="404040"/>
                </a:solidFill>
                <a:effectLst/>
                <a:uFillTx/>
                <a:latin typeface="Arial"/>
              </a:rPr>
              <a:t>   full sandboxed dev agent platform, formerly OpenDevin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400" b="0" u="none" strike="noStrike">
                <a:solidFill>
                  <a:srgbClr val="666666"/>
                </a:solidFill>
                <a:effectLst/>
                <a:uFillTx/>
                <a:latin typeface="Courier New"/>
              </a:rPr>
              <a:t>https://github.com/All-Hands-AI/OpenHands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TextBox 44"/>
          <p:cNvSpPr/>
          <p:nvPr/>
        </p:nvSpPr>
        <p:spPr>
          <a:xfrm>
            <a:off x="502920" y="5742360"/>
            <a:ext cx="11246040" cy="48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90000" bIns="0" anchor="t">
            <a:spAutoFit/>
          </a:bodyPr>
          <a:p>
            <a:pPr>
              <a:lnSpc>
                <a:spcPct val="100000"/>
              </a:lnSpc>
            </a:pPr>
            <a:r>
              <a:rPr lang="en-US" sz="1800" b="1" u="none" strike="noStrike">
                <a:solidFill>
                  <a:srgbClr val="1F3B57"/>
                </a:solidFill>
                <a:effectLst/>
                <a:uFillTx/>
                <a:latin typeface="Arial"/>
              </a:rPr>
              <a:t>SWE-agent</a:t>
            </a:r>
            <a:r>
              <a:rPr lang="en-US" sz="1800" b="0" u="none" strike="noStrike">
                <a:solidFill>
                  <a:srgbClr val="404040"/>
                </a:solidFill>
                <a:effectLst/>
                <a:uFillTx/>
                <a:latin typeface="Arial"/>
              </a:rPr>
              <a:t>   takes a GitHub issue and tries to fix it, NeurIPS 2024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400" b="0" u="none" strike="noStrike">
                <a:solidFill>
                  <a:srgbClr val="666666"/>
                </a:solidFill>
                <a:effectLst/>
                <a:uFillTx/>
                <a:latin typeface="Courier New"/>
              </a:rPr>
              <a:t>https://github.com/SWE-agent/SWE-agent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"/>
          <p:cNvSpPr/>
          <p:nvPr/>
        </p:nvSpPr>
        <p:spPr>
          <a:xfrm>
            <a:off x="1828800" y="914400"/>
            <a:ext cx="8000280" cy="297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4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Other common IDE (interactive development environments)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" name=""/>
          <p:cNvPicPr/>
          <p:nvPr/>
        </p:nvPicPr>
        <p:blipFill>
          <a:blip r:embed="rId1"/>
          <a:stretch/>
        </p:blipFill>
        <p:spPr>
          <a:xfrm>
            <a:off x="457200" y="1371600"/>
            <a:ext cx="10602360" cy="5308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6" name=""/>
          <p:cNvSpPr/>
          <p:nvPr/>
        </p:nvSpPr>
        <p:spPr>
          <a:xfrm>
            <a:off x="685800" y="228600"/>
            <a:ext cx="10743480" cy="93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3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VS Code super extensible, very popular, open source so often cloned and modified by other vendors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7" name=""/>
          <p:cNvPicPr/>
          <p:nvPr/>
        </p:nvPicPr>
        <p:blipFill>
          <a:blip r:embed="rId1"/>
          <a:stretch/>
        </p:blipFill>
        <p:spPr>
          <a:xfrm>
            <a:off x="457200" y="1090440"/>
            <a:ext cx="11118600" cy="5538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8" name=""/>
          <p:cNvSpPr/>
          <p:nvPr/>
        </p:nvSpPr>
        <p:spPr>
          <a:xfrm>
            <a:off x="686160" y="228960"/>
            <a:ext cx="10743480" cy="854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3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Postiron,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 VS code derivative from the makers of RStudio; better native support for R than VS Code, better Python support than RStudio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PlaceHolder 1"/>
          <p:cNvSpPr>
            <a:spLocks noGrp="1"/>
          </p:cNvSpPr>
          <p:nvPr>
            <p:ph/>
          </p:nvPr>
        </p:nvSpPr>
        <p:spPr>
          <a:xfrm>
            <a:off x="609480" y="1604520"/>
            <a:ext cx="10969920" cy="3974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spcBef>
                <a:spcPts val="1417"/>
              </a:spcBef>
              <a:buNone/>
            </a:pP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0" name="TextBox 3"/>
          <p:cNvSpPr/>
          <p:nvPr/>
        </p:nvSpPr>
        <p:spPr>
          <a:xfrm>
            <a:off x="502920" y="201240"/>
            <a:ext cx="11154600" cy="39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Git: your local clone and the remote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Rounded Rectangle 12"/>
          <p:cNvSpPr/>
          <p:nvPr/>
        </p:nvSpPr>
        <p:spPr>
          <a:xfrm>
            <a:off x="365760" y="914400"/>
            <a:ext cx="7862760" cy="292500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 w="1905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09800" tIns="54720" rIns="109800" bIns="54720" anchor="t">
            <a:noAutofit/>
          </a:bodyPr>
          <a:p>
            <a:pPr algn="ctr">
              <a:lnSpc>
                <a:spcPct val="100000"/>
              </a:lnSpc>
            </a:pPr>
            <a:r>
              <a:rPr lang="en-US" sz="1500" b="1" u="none" strike="noStrike">
                <a:solidFill>
                  <a:srgbClr val="595959"/>
                </a:solidFill>
                <a:effectLst/>
                <a:uFillTx/>
                <a:latin typeface="Arial"/>
              </a:rPr>
              <a:t>YOUR COMPUTER, the local clone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Rounded Rectangle 13"/>
          <p:cNvSpPr/>
          <p:nvPr/>
        </p:nvSpPr>
        <p:spPr>
          <a:xfrm>
            <a:off x="640080" y="1600200"/>
            <a:ext cx="1782000" cy="2102040"/>
          </a:xfrm>
          <a:prstGeom prst="roundRect">
            <a:avLst>
              <a:gd name="adj" fmla="val 6000"/>
            </a:avLst>
          </a:prstGeom>
          <a:solidFill>
            <a:srgbClr val="DEEAF6"/>
          </a:solidFill>
          <a:ln w="19050">
            <a:solidFill>
              <a:srgbClr val="2E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09800" tIns="54720" rIns="109800" bIns="54720" anchor="t">
            <a:noAutofit/>
          </a:bodyPr>
          <a:p>
            <a:pPr algn="ctr">
              <a:lnSpc>
                <a:spcPct val="100000"/>
              </a:lnSpc>
            </a:pPr>
            <a:r>
              <a:rPr lang="en-US" sz="1500" b="1" u="none" strike="noStrike">
                <a:solidFill>
                  <a:srgbClr val="1F3B57"/>
                </a:solidFill>
                <a:effectLst/>
                <a:uFillTx/>
                <a:latin typeface="Arial"/>
              </a:rPr>
              <a:t>Working directory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400" b="0" u="none" strike="noStrike">
                <a:solidFill>
                  <a:srgbClr val="1F3B57"/>
                </a:solidFill>
                <a:effectLst/>
                <a:uFillTx/>
                <a:latin typeface="Arial"/>
              </a:rPr>
              <a:t>The files you actually edit.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400" b="0" u="none" strike="noStrike">
                <a:solidFill>
                  <a:srgbClr val="1F3B57"/>
                </a:solidFill>
                <a:effectLst/>
                <a:uFillTx/>
                <a:latin typeface="Arial"/>
              </a:rPr>
              <a:t>git status shows what has changed.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Rounded Rectangle 14"/>
          <p:cNvSpPr/>
          <p:nvPr/>
        </p:nvSpPr>
        <p:spPr>
          <a:xfrm>
            <a:off x="3406320" y="1600200"/>
            <a:ext cx="1782000" cy="2102040"/>
          </a:xfrm>
          <a:prstGeom prst="roundRect">
            <a:avLst>
              <a:gd name="adj" fmla="val 6000"/>
            </a:avLst>
          </a:prstGeom>
          <a:solidFill>
            <a:srgbClr val="DEEAF6"/>
          </a:solidFill>
          <a:ln w="19050">
            <a:solidFill>
              <a:srgbClr val="2E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09800" tIns="54720" rIns="109800" bIns="54720" anchor="t">
            <a:noAutofit/>
          </a:bodyPr>
          <a:p>
            <a:pPr algn="ctr">
              <a:lnSpc>
                <a:spcPct val="100000"/>
              </a:lnSpc>
            </a:pPr>
            <a:r>
              <a:rPr lang="en-US" sz="1500" b="1" u="none" strike="noStrike">
                <a:solidFill>
                  <a:srgbClr val="1F3B57"/>
                </a:solidFill>
                <a:effectLst/>
                <a:uFillTx/>
                <a:latin typeface="Arial"/>
              </a:rPr>
              <a:t>Staging area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400" b="0" u="none" strike="noStrike">
                <a:solidFill>
                  <a:srgbClr val="1F3B57"/>
                </a:solidFill>
                <a:effectLst/>
                <a:uFillTx/>
                <a:latin typeface="Arial"/>
              </a:rPr>
              <a:t>Also called the index.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400" b="0" u="none" strike="noStrike">
                <a:solidFill>
                  <a:srgbClr val="1F3B57"/>
                </a:solidFill>
                <a:effectLst/>
                <a:uFillTx/>
                <a:latin typeface="Arial"/>
              </a:rPr>
              <a:t>What you have marked to go into the next commit.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Rounded Rectangle 15"/>
          <p:cNvSpPr/>
          <p:nvPr/>
        </p:nvSpPr>
        <p:spPr>
          <a:xfrm>
            <a:off x="6172200" y="1600200"/>
            <a:ext cx="1782000" cy="2102040"/>
          </a:xfrm>
          <a:prstGeom prst="roundRect">
            <a:avLst>
              <a:gd name="adj" fmla="val 6000"/>
            </a:avLst>
          </a:prstGeom>
          <a:solidFill>
            <a:srgbClr val="DEEAF6"/>
          </a:solidFill>
          <a:ln w="19050">
            <a:solidFill>
              <a:srgbClr val="2E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09800" tIns="54720" rIns="109800" bIns="54720" anchor="t">
            <a:noAutofit/>
          </a:bodyPr>
          <a:p>
            <a:pPr algn="ctr">
              <a:lnSpc>
                <a:spcPct val="100000"/>
              </a:lnSpc>
            </a:pPr>
            <a:r>
              <a:rPr lang="en-US" sz="1500" b="1" u="none" strike="noStrike">
                <a:solidFill>
                  <a:srgbClr val="1F3B57"/>
                </a:solidFill>
                <a:effectLst/>
                <a:uFillTx/>
                <a:latin typeface="Arial"/>
              </a:rPr>
              <a:t>Local repository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400" b="0" u="none" strike="noStrike">
                <a:solidFill>
                  <a:srgbClr val="1F3B57"/>
                </a:solidFill>
                <a:effectLst/>
                <a:uFillTx/>
                <a:latin typeface="Arial"/>
              </a:rPr>
              <a:t>The .git directory.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400" b="0" u="none" strike="noStrike">
                <a:solidFill>
                  <a:srgbClr val="1F3B57"/>
                </a:solidFill>
                <a:effectLst/>
                <a:uFillTx/>
                <a:latin typeface="Arial"/>
              </a:rPr>
              <a:t>Full commit history, on your machine, works offline.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Rounded Rectangle 16"/>
          <p:cNvSpPr/>
          <p:nvPr/>
        </p:nvSpPr>
        <p:spPr>
          <a:xfrm>
            <a:off x="9052560" y="1600200"/>
            <a:ext cx="2787840" cy="2102040"/>
          </a:xfrm>
          <a:prstGeom prst="roundRect">
            <a:avLst>
              <a:gd name="adj" fmla="val 6000"/>
            </a:avLst>
          </a:prstGeom>
          <a:solidFill>
            <a:srgbClr val="E3F1E4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09800" tIns="54720" rIns="109800" bIns="54720" anchor="t">
            <a:noAutofit/>
          </a:bodyPr>
          <a:p>
            <a:pPr algn="ctr">
              <a:lnSpc>
                <a:spcPct val="100000"/>
              </a:lnSpc>
            </a:pPr>
            <a:r>
              <a:rPr lang="en-US" sz="1500" b="1" u="none" strike="noStrike">
                <a:solidFill>
                  <a:srgbClr val="2E7D32"/>
                </a:solidFill>
                <a:effectLst/>
                <a:uFillTx/>
                <a:latin typeface="Arial"/>
              </a:rPr>
              <a:t>Remote, e.g. GitHub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400" b="0" u="none" strike="noStrike">
                <a:solidFill>
                  <a:srgbClr val="2E7D32"/>
                </a:solidFill>
                <a:effectLst/>
                <a:uFillTx/>
                <a:latin typeface="Arial"/>
              </a:rPr>
              <a:t>The shared copy.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400" b="0" u="none" strike="noStrike">
                <a:solidFill>
                  <a:srgbClr val="2E7D32"/>
                </a:solidFill>
                <a:effectLst/>
                <a:uFillTx/>
                <a:latin typeface="Arial"/>
              </a:rPr>
              <a:t>Where collaborators, and your other machines, get the code.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36" name="Connector 13"/>
          <p:cNvCxnSpPr/>
          <p:nvPr/>
        </p:nvCxnSpPr>
        <p:spPr>
          <a:xfrm>
            <a:off x="2423160" y="3063240"/>
            <a:ext cx="983880" cy="1080"/>
          </a:xfrm>
          <a:prstGeom prst="straightConnector1">
            <a:avLst/>
          </a:prstGeom>
          <a:ln w="25400">
            <a:solidFill>
              <a:srgbClr val="595959"/>
            </a:solidFill>
            <a:round/>
            <a:tailEnd len="med" type="triangle" w="med"/>
          </a:ln>
        </p:spPr>
      </p:cxnSp>
      <p:sp>
        <p:nvSpPr>
          <p:cNvPr id="137" name="TextBox 16"/>
          <p:cNvSpPr/>
          <p:nvPr/>
        </p:nvSpPr>
        <p:spPr>
          <a:xfrm>
            <a:off x="2274480" y="2660760"/>
            <a:ext cx="1279080" cy="33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100" b="1" u="none" strike="noStrike">
                <a:solidFill>
                  <a:srgbClr val="1F3B57"/>
                </a:solidFill>
                <a:effectLst/>
                <a:uFillTx/>
                <a:latin typeface="Courier New"/>
              </a:rPr>
              <a:t>git add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1100" b="0" u="none" strike="noStrike">
                <a:solidFill>
                  <a:srgbClr val="404040"/>
                </a:solidFill>
                <a:effectLst/>
                <a:uFillTx/>
                <a:latin typeface="Arial"/>
              </a:rPr>
              <a:t>stage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38" name="Connector 14"/>
          <p:cNvCxnSpPr/>
          <p:nvPr/>
        </p:nvCxnSpPr>
        <p:spPr>
          <a:xfrm>
            <a:off x="5189040" y="3063240"/>
            <a:ext cx="984240" cy="1080"/>
          </a:xfrm>
          <a:prstGeom prst="straightConnector1">
            <a:avLst/>
          </a:prstGeom>
          <a:ln w="25400">
            <a:solidFill>
              <a:srgbClr val="595959"/>
            </a:solidFill>
            <a:round/>
            <a:tailEnd len="med" type="triangle" w="med"/>
          </a:ln>
        </p:spPr>
      </p:cxnSp>
      <p:sp>
        <p:nvSpPr>
          <p:cNvPr id="139" name="TextBox 17"/>
          <p:cNvSpPr/>
          <p:nvPr/>
        </p:nvSpPr>
        <p:spPr>
          <a:xfrm>
            <a:off x="5040720" y="2660760"/>
            <a:ext cx="1279080" cy="33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100" b="1" u="none" strike="noStrike">
                <a:solidFill>
                  <a:srgbClr val="1F3B57"/>
                </a:solidFill>
                <a:effectLst/>
                <a:uFillTx/>
                <a:latin typeface="Courier New"/>
              </a:rPr>
              <a:t>git commit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1100" b="0" u="none" strike="noStrike">
                <a:solidFill>
                  <a:srgbClr val="404040"/>
                </a:solidFill>
                <a:effectLst/>
                <a:uFillTx/>
                <a:latin typeface="Arial"/>
              </a:rPr>
              <a:t>record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40" name="Connector 15"/>
          <p:cNvCxnSpPr/>
          <p:nvPr/>
        </p:nvCxnSpPr>
        <p:spPr>
          <a:xfrm>
            <a:off x="7954920" y="3063240"/>
            <a:ext cx="1098720" cy="1080"/>
          </a:xfrm>
          <a:prstGeom prst="straightConnector1">
            <a:avLst/>
          </a:prstGeom>
          <a:ln w="25400">
            <a:solidFill>
              <a:srgbClr val="595959"/>
            </a:solidFill>
            <a:round/>
            <a:tailEnd len="med" type="triangle" w="med"/>
          </a:ln>
        </p:spPr>
      </p:cxnSp>
      <p:sp>
        <p:nvSpPr>
          <p:cNvPr id="141" name="TextBox 18"/>
          <p:cNvSpPr/>
          <p:nvPr/>
        </p:nvSpPr>
        <p:spPr>
          <a:xfrm>
            <a:off x="7863840" y="2660760"/>
            <a:ext cx="1279080" cy="33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100" b="1" u="none" strike="noStrike">
                <a:solidFill>
                  <a:srgbClr val="1F3B57"/>
                </a:solidFill>
                <a:effectLst/>
                <a:uFillTx/>
                <a:latin typeface="Courier New"/>
              </a:rPr>
              <a:t>git push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1100" b="0" u="none" strike="noStrike">
                <a:solidFill>
                  <a:srgbClr val="404040"/>
                </a:solidFill>
                <a:effectLst/>
                <a:uFillTx/>
                <a:latin typeface="Arial"/>
              </a:rPr>
              <a:t>publish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42" name="Connector 16"/>
          <p:cNvCxnSpPr/>
          <p:nvPr/>
        </p:nvCxnSpPr>
        <p:spPr>
          <a:xfrm>
            <a:off x="10424160" y="3703320"/>
            <a:ext cx="1080" cy="824040"/>
          </a:xfrm>
          <a:prstGeom prst="straightConnector1">
            <a:avLst/>
          </a:prstGeom>
          <a:ln w="25400">
            <a:solidFill>
              <a:srgbClr val="595959"/>
            </a:solidFill>
            <a:round/>
          </a:ln>
        </p:spPr>
      </p:cxnSp>
      <p:cxnSp>
        <p:nvCxnSpPr>
          <p:cNvPr id="143" name="Connector 17"/>
          <p:cNvCxnSpPr/>
          <p:nvPr/>
        </p:nvCxnSpPr>
        <p:spPr>
          <a:xfrm flipH="1">
            <a:off x="1536120" y="4526280"/>
            <a:ext cx="8889120" cy="1080"/>
          </a:xfrm>
          <a:prstGeom prst="straightConnector1">
            <a:avLst/>
          </a:prstGeom>
          <a:ln w="25400">
            <a:solidFill>
              <a:srgbClr val="595959"/>
            </a:solidFill>
            <a:round/>
          </a:ln>
        </p:spPr>
      </p:cxnSp>
      <p:cxnSp>
        <p:nvCxnSpPr>
          <p:cNvPr id="144" name="Connector 18"/>
          <p:cNvCxnSpPr/>
          <p:nvPr/>
        </p:nvCxnSpPr>
        <p:spPr>
          <a:xfrm flipV="1">
            <a:off x="1536120" y="3840480"/>
            <a:ext cx="1080" cy="686880"/>
          </a:xfrm>
          <a:prstGeom prst="straightConnector1">
            <a:avLst/>
          </a:prstGeom>
          <a:ln w="25400">
            <a:solidFill>
              <a:srgbClr val="595959"/>
            </a:solidFill>
            <a:round/>
            <a:tailEnd len="med" type="triangle" w="med"/>
          </a:ln>
        </p:spPr>
      </p:cxnSp>
      <p:sp>
        <p:nvSpPr>
          <p:cNvPr id="145" name="TextBox 19"/>
          <p:cNvSpPr/>
          <p:nvPr/>
        </p:nvSpPr>
        <p:spPr>
          <a:xfrm>
            <a:off x="3566160" y="4142160"/>
            <a:ext cx="5119560" cy="19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300" b="1" u="none" strike="noStrike">
                <a:solidFill>
                  <a:srgbClr val="1F3B57"/>
                </a:solidFill>
                <a:effectLst/>
                <a:uFillTx/>
                <a:latin typeface="Courier New"/>
              </a:rPr>
              <a:t>git pull</a:t>
            </a:r>
            <a:r>
              <a:rPr lang="en-US" sz="1300" b="0" u="none" strike="noStrike">
                <a:solidFill>
                  <a:srgbClr val="404040"/>
                </a:solidFill>
                <a:effectLst/>
                <a:uFillTx/>
                <a:latin typeface="Arial"/>
              </a:rPr>
              <a:t>   bring new commits from the remote into your clone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46" name="Connector 19"/>
          <p:cNvCxnSpPr/>
          <p:nvPr/>
        </p:nvCxnSpPr>
        <p:spPr>
          <a:xfrm>
            <a:off x="11155680" y="3703320"/>
            <a:ext cx="1080" cy="1738440"/>
          </a:xfrm>
          <a:prstGeom prst="straightConnector1">
            <a:avLst/>
          </a:prstGeom>
          <a:ln w="25400">
            <a:solidFill>
              <a:srgbClr val="595959"/>
            </a:solidFill>
            <a:prstDash val="dash"/>
            <a:round/>
          </a:ln>
        </p:spPr>
      </p:cxnSp>
      <p:cxnSp>
        <p:nvCxnSpPr>
          <p:cNvPr id="147" name="Connector 20"/>
          <p:cNvCxnSpPr/>
          <p:nvPr/>
        </p:nvCxnSpPr>
        <p:spPr>
          <a:xfrm flipH="1">
            <a:off x="2743200" y="5440680"/>
            <a:ext cx="8413560" cy="1080"/>
          </a:xfrm>
          <a:prstGeom prst="straightConnector1">
            <a:avLst/>
          </a:prstGeom>
          <a:ln w="25400">
            <a:solidFill>
              <a:srgbClr val="595959"/>
            </a:solidFill>
            <a:prstDash val="dash"/>
            <a:round/>
          </a:ln>
        </p:spPr>
      </p:cxnSp>
      <p:cxnSp>
        <p:nvCxnSpPr>
          <p:cNvPr id="148" name="Connector 21"/>
          <p:cNvCxnSpPr/>
          <p:nvPr/>
        </p:nvCxnSpPr>
        <p:spPr>
          <a:xfrm flipV="1">
            <a:off x="2743200" y="3840480"/>
            <a:ext cx="1080" cy="1601280"/>
          </a:xfrm>
          <a:prstGeom prst="straightConnector1">
            <a:avLst/>
          </a:prstGeom>
          <a:ln w="25400">
            <a:solidFill>
              <a:srgbClr val="595959"/>
            </a:solidFill>
            <a:prstDash val="dash"/>
            <a:round/>
            <a:tailEnd len="med" type="triangle" w="med"/>
          </a:ln>
        </p:spPr>
      </p:cxnSp>
      <p:sp>
        <p:nvSpPr>
          <p:cNvPr id="149" name="TextBox 20"/>
          <p:cNvSpPr/>
          <p:nvPr/>
        </p:nvSpPr>
        <p:spPr>
          <a:xfrm>
            <a:off x="4937760" y="5056560"/>
            <a:ext cx="5119560" cy="19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300" b="1" u="none" strike="noStrike">
                <a:solidFill>
                  <a:srgbClr val="1F3B57"/>
                </a:solidFill>
                <a:effectLst/>
                <a:uFillTx/>
                <a:latin typeface="Courier New"/>
              </a:rPr>
              <a:t>git clone</a:t>
            </a:r>
            <a:r>
              <a:rPr lang="en-US" sz="1300" b="0" u="none" strike="noStrike">
                <a:solidFill>
                  <a:srgbClr val="404040"/>
                </a:solidFill>
                <a:effectLst/>
                <a:uFillTx/>
                <a:latin typeface="Arial"/>
              </a:rPr>
              <a:t>   once, at the start: copy the whole repository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" name="TextBox 21"/>
          <p:cNvSpPr/>
          <p:nvPr/>
        </p:nvSpPr>
        <p:spPr>
          <a:xfrm>
            <a:off x="411840" y="5790960"/>
            <a:ext cx="11246040" cy="48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404040"/>
                </a:solidFill>
                <a:effectLst/>
                <a:uFillTx/>
                <a:latin typeface="Arial"/>
              </a:rPr>
              <a:t>Commits are local until you push. Pull before you start work, so your clone is current because other people are pushing commits to the Remote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"/>
          <p:cNvSpPr/>
          <p:nvPr/>
        </p:nvSpPr>
        <p:spPr>
          <a:xfrm>
            <a:off x="2514600" y="1600200"/>
            <a:ext cx="7085880" cy="228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4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End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"/>
          <p:cNvSpPr/>
          <p:nvPr/>
        </p:nvSpPr>
        <p:spPr>
          <a:xfrm>
            <a:off x="1373400" y="2286000"/>
            <a:ext cx="10055880" cy="100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3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Reference slides: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3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 compared to Python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Text 0"/>
          <p:cNvSpPr/>
          <p:nvPr/>
        </p:nvSpPr>
        <p:spPr>
          <a:xfrm>
            <a:off x="457200" y="274320"/>
            <a:ext cx="10328400" cy="49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1E2A44"/>
                </a:solidFill>
                <a:effectLst/>
                <a:uFillTx/>
                <a:latin typeface="Cambria"/>
                <a:ea typeface="Cambria"/>
              </a:rPr>
              <a:t>1 · Single Values &amp; Vectors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Text 1"/>
          <p:cNvSpPr/>
          <p:nvPr/>
        </p:nvSpPr>
        <p:spPr>
          <a:xfrm>
            <a:off x="457200" y="822960"/>
            <a:ext cx="10419840" cy="30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i="1" u="none" strike="noStrike">
                <a:solidFill>
                  <a:srgbClr val="5B6573"/>
                </a:solidFill>
                <a:effectLst/>
                <a:uFillTx/>
                <a:latin typeface="Calibri"/>
                <a:ea typeface="Calibri"/>
              </a:rPr>
              <a:t>The building blocks: one value, or many values that are all the same type.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Shape 2"/>
          <p:cNvSpPr/>
          <p:nvPr/>
        </p:nvSpPr>
        <p:spPr>
          <a:xfrm>
            <a:off x="11036880" y="311040"/>
            <a:ext cx="379800" cy="379800"/>
          </a:xfrm>
          <a:prstGeom prst="ellipse">
            <a:avLst/>
          </a:prstGeom>
          <a:solidFill>
            <a:srgbClr val="276DC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56" name="Image 0" descr="preencoded.png"/>
          <p:cNvPicPr/>
          <p:nvPr/>
        </p:nvPicPr>
        <p:blipFill>
          <a:blip r:embed="rId1"/>
          <a:stretch/>
        </p:blipFill>
        <p:spPr>
          <a:xfrm>
            <a:off x="11106000" y="380160"/>
            <a:ext cx="241560" cy="241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7" name="Shape 3"/>
          <p:cNvSpPr/>
          <p:nvPr/>
        </p:nvSpPr>
        <p:spPr>
          <a:xfrm>
            <a:off x="11494080" y="311040"/>
            <a:ext cx="379800" cy="379800"/>
          </a:xfrm>
          <a:prstGeom prst="ellipse">
            <a:avLst/>
          </a:prstGeom>
          <a:solidFill>
            <a:srgbClr val="31618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58" name="Image 1" descr="preencoded.png"/>
          <p:cNvPicPr/>
          <p:nvPr/>
        </p:nvPicPr>
        <p:blipFill>
          <a:blip r:embed="rId2"/>
          <a:stretch/>
        </p:blipFill>
        <p:spPr>
          <a:xfrm>
            <a:off x="11563200" y="380160"/>
            <a:ext cx="241560" cy="241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9" name="Shape 4"/>
          <p:cNvSpPr/>
          <p:nvPr/>
        </p:nvSpPr>
        <p:spPr>
          <a:xfrm>
            <a:off x="457200" y="1207080"/>
            <a:ext cx="5454720" cy="2235960"/>
          </a:xfrm>
          <a:prstGeom prst="roundRect">
            <a:avLst>
              <a:gd name="adj" fmla="val 2449"/>
            </a:avLst>
          </a:prstGeom>
          <a:solidFill>
            <a:srgbClr val="F8FAFB"/>
          </a:solidFill>
          <a:ln w="9525">
            <a:solidFill>
              <a:srgbClr val="E1E7EC"/>
            </a:solidFill>
            <a:round/>
          </a:ln>
          <a:effectLst>
            <a:outerShdw algn="bl" blurRad="63360" dir="5400000" dist="25560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Text 5"/>
          <p:cNvSpPr/>
          <p:nvPr/>
        </p:nvSpPr>
        <p:spPr>
          <a:xfrm>
            <a:off x="676800" y="1334880"/>
            <a:ext cx="5015880" cy="36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1E2A44"/>
                </a:solidFill>
                <a:effectLst/>
                <a:uFillTx/>
                <a:latin typeface="Calibri"/>
                <a:ea typeface="Calibri"/>
              </a:rPr>
              <a:t>Single value (a “scalar”)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Shape 6"/>
          <p:cNvSpPr/>
          <p:nvPr/>
        </p:nvSpPr>
        <p:spPr>
          <a:xfrm>
            <a:off x="694800" y="1774080"/>
            <a:ext cx="398160" cy="398160"/>
          </a:xfrm>
          <a:prstGeom prst="ellipse">
            <a:avLst/>
          </a:prstGeom>
          <a:solidFill>
            <a:srgbClr val="276DC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62" name="Image 2" descr="preencoded.png"/>
          <p:cNvPicPr/>
          <p:nvPr/>
        </p:nvPicPr>
        <p:blipFill>
          <a:blip r:embed="rId3"/>
          <a:stretch/>
        </p:blipFill>
        <p:spPr>
          <a:xfrm>
            <a:off x="767520" y="1846440"/>
            <a:ext cx="253080" cy="253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3" name="Text 7"/>
          <p:cNvSpPr/>
          <p:nvPr/>
        </p:nvSpPr>
        <p:spPr>
          <a:xfrm>
            <a:off x="1207080" y="1774080"/>
            <a:ext cx="4485240" cy="39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3315C"/>
                </a:solidFill>
                <a:effectLst/>
                <a:uFillTx/>
                <a:latin typeface="Courier New"/>
                <a:ea typeface="Courier New"/>
              </a:rPr>
              <a:t>x &lt;- 3.14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Shape 8"/>
          <p:cNvSpPr/>
          <p:nvPr/>
        </p:nvSpPr>
        <p:spPr>
          <a:xfrm>
            <a:off x="694800" y="2249280"/>
            <a:ext cx="398160" cy="398160"/>
          </a:xfrm>
          <a:prstGeom prst="ellipse">
            <a:avLst/>
          </a:prstGeom>
          <a:solidFill>
            <a:srgbClr val="31618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65" name="Image 3" descr="preencoded.png"/>
          <p:cNvPicPr/>
          <p:nvPr/>
        </p:nvPicPr>
        <p:blipFill>
          <a:blip r:embed="rId4"/>
          <a:stretch/>
        </p:blipFill>
        <p:spPr>
          <a:xfrm>
            <a:off x="767520" y="2322000"/>
            <a:ext cx="253080" cy="253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6" name="Text 9"/>
          <p:cNvSpPr/>
          <p:nvPr/>
        </p:nvSpPr>
        <p:spPr>
          <a:xfrm>
            <a:off x="1207080" y="2249280"/>
            <a:ext cx="4485240" cy="39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7A4E12"/>
                </a:solidFill>
                <a:effectLst/>
                <a:uFillTx/>
                <a:latin typeface="Courier New"/>
                <a:ea typeface="Courier New"/>
              </a:rPr>
              <a:t>x = 3.14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Text 10"/>
          <p:cNvSpPr/>
          <p:nvPr/>
        </p:nvSpPr>
        <p:spPr>
          <a:xfrm>
            <a:off x="713160" y="2779920"/>
            <a:ext cx="4942440" cy="55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98000"/>
              </a:lnSpc>
              <a:tabLst>
                <a:tab pos="0" algn="l"/>
              </a:tabLst>
            </a:pPr>
            <a:r>
              <a:rPr lang="en-US" sz="2000" b="0" i="1" u="none" strike="noStrike">
                <a:solidFill>
                  <a:srgbClr val="5B6573"/>
                </a:solidFill>
                <a:effectLst/>
                <a:uFillTx/>
                <a:latin typeface="Calibri"/>
                <a:ea typeface="Calibri"/>
              </a:rPr>
              <a:t>No separate scalar type in R — it’s a vector of length 1.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Shape 11"/>
          <p:cNvSpPr/>
          <p:nvPr/>
        </p:nvSpPr>
        <p:spPr>
          <a:xfrm>
            <a:off x="6245280" y="1207080"/>
            <a:ext cx="5454720" cy="2235960"/>
          </a:xfrm>
          <a:prstGeom prst="roundRect">
            <a:avLst>
              <a:gd name="adj" fmla="val 2449"/>
            </a:avLst>
          </a:prstGeom>
          <a:solidFill>
            <a:srgbClr val="F8FAFB"/>
          </a:solidFill>
          <a:ln w="9525">
            <a:solidFill>
              <a:srgbClr val="E1E7EC"/>
            </a:solidFill>
            <a:round/>
          </a:ln>
          <a:effectLst>
            <a:outerShdw algn="bl" blurRad="63360" dir="5400000" dist="25560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Text 12"/>
          <p:cNvSpPr/>
          <p:nvPr/>
        </p:nvSpPr>
        <p:spPr>
          <a:xfrm>
            <a:off x="6464880" y="1334880"/>
            <a:ext cx="5015880" cy="36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1E2A44"/>
                </a:solidFill>
                <a:effectLst/>
                <a:uFillTx/>
                <a:latin typeface="Calibri"/>
                <a:ea typeface="Calibri"/>
              </a:rPr>
              <a:t>Vector — many values, one type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Shape 13"/>
          <p:cNvSpPr/>
          <p:nvPr/>
        </p:nvSpPr>
        <p:spPr>
          <a:xfrm>
            <a:off x="6483240" y="1774080"/>
            <a:ext cx="398160" cy="398160"/>
          </a:xfrm>
          <a:prstGeom prst="ellipse">
            <a:avLst/>
          </a:prstGeom>
          <a:solidFill>
            <a:srgbClr val="276DC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71" name="Image 4" descr="preencoded.png"/>
          <p:cNvPicPr/>
          <p:nvPr/>
        </p:nvPicPr>
        <p:blipFill>
          <a:blip r:embed="rId5"/>
          <a:stretch/>
        </p:blipFill>
        <p:spPr>
          <a:xfrm>
            <a:off x="6555600" y="1846440"/>
            <a:ext cx="253080" cy="253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2" name="Text 14"/>
          <p:cNvSpPr/>
          <p:nvPr/>
        </p:nvSpPr>
        <p:spPr>
          <a:xfrm>
            <a:off x="6995160" y="1774080"/>
            <a:ext cx="4485240" cy="39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3315C"/>
                </a:solidFill>
                <a:effectLst/>
                <a:uFillTx/>
                <a:latin typeface="Courier New"/>
                <a:ea typeface="Courier New"/>
              </a:rPr>
              <a:t>c(10, 20, 30)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Shape 15"/>
          <p:cNvSpPr/>
          <p:nvPr/>
        </p:nvSpPr>
        <p:spPr>
          <a:xfrm>
            <a:off x="6483240" y="2249280"/>
            <a:ext cx="398160" cy="398160"/>
          </a:xfrm>
          <a:prstGeom prst="ellipse">
            <a:avLst/>
          </a:prstGeom>
          <a:solidFill>
            <a:srgbClr val="31618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74" name="Image 5" descr="preencoded.png"/>
          <p:cNvPicPr/>
          <p:nvPr/>
        </p:nvPicPr>
        <p:blipFill>
          <a:blip r:embed="rId6"/>
          <a:stretch/>
        </p:blipFill>
        <p:spPr>
          <a:xfrm>
            <a:off x="6555600" y="2322000"/>
            <a:ext cx="253080" cy="253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5" name="Text 16"/>
          <p:cNvSpPr/>
          <p:nvPr/>
        </p:nvSpPr>
        <p:spPr>
          <a:xfrm>
            <a:off x="6995160" y="2249280"/>
            <a:ext cx="4485240" cy="39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7A4E12"/>
                </a:solidFill>
                <a:effectLst/>
                <a:uFillTx/>
                <a:latin typeface="Courier New"/>
                <a:ea typeface="Courier New"/>
              </a:rPr>
              <a:t>np.array([10, 20, 30])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" name="Text 17"/>
          <p:cNvSpPr/>
          <p:nvPr/>
        </p:nvSpPr>
        <p:spPr>
          <a:xfrm>
            <a:off x="6501240" y="2779920"/>
            <a:ext cx="4942440" cy="55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98000"/>
              </a:lnSpc>
              <a:tabLst>
                <a:tab pos="0" algn="l"/>
              </a:tabLst>
            </a:pPr>
            <a:r>
              <a:rPr lang="en-US" sz="2000" b="0" i="1" u="none" strike="noStrike">
                <a:solidFill>
                  <a:srgbClr val="5B6573"/>
                </a:solidFill>
                <a:effectLst/>
                <a:uFillTx/>
                <a:latin typeface="Calibri"/>
                <a:ea typeface="Calibri"/>
              </a:rPr>
              <a:t>R’s core structure. Every element must be the same type.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Shape 18"/>
          <p:cNvSpPr/>
          <p:nvPr/>
        </p:nvSpPr>
        <p:spPr>
          <a:xfrm>
            <a:off x="457200" y="3566160"/>
            <a:ext cx="5454720" cy="2235960"/>
          </a:xfrm>
          <a:prstGeom prst="roundRect">
            <a:avLst>
              <a:gd name="adj" fmla="val 2449"/>
            </a:avLst>
          </a:prstGeom>
          <a:solidFill>
            <a:srgbClr val="F8FAFB"/>
          </a:solidFill>
          <a:ln w="9525">
            <a:solidFill>
              <a:srgbClr val="E1E7EC"/>
            </a:solidFill>
            <a:round/>
          </a:ln>
          <a:effectLst>
            <a:outerShdw algn="bl" blurRad="63360" dir="5400000" dist="25560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" name="Text 19"/>
          <p:cNvSpPr/>
          <p:nvPr/>
        </p:nvSpPr>
        <p:spPr>
          <a:xfrm>
            <a:off x="676800" y="3694320"/>
            <a:ext cx="5015880" cy="36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1E2A44"/>
                </a:solidFill>
                <a:effectLst/>
                <a:uFillTx/>
                <a:latin typeface="Calibri"/>
                <a:ea typeface="Calibri"/>
              </a:rPr>
              <a:t>Named vector (an R favorite)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Shape 20"/>
          <p:cNvSpPr/>
          <p:nvPr/>
        </p:nvSpPr>
        <p:spPr>
          <a:xfrm>
            <a:off x="694800" y="4133160"/>
            <a:ext cx="398160" cy="398160"/>
          </a:xfrm>
          <a:prstGeom prst="ellipse">
            <a:avLst/>
          </a:prstGeom>
          <a:solidFill>
            <a:srgbClr val="276DC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80" name="Image 6" descr="preencoded.png"/>
          <p:cNvPicPr/>
          <p:nvPr/>
        </p:nvPicPr>
        <p:blipFill>
          <a:blip r:embed="rId7"/>
          <a:stretch/>
        </p:blipFill>
        <p:spPr>
          <a:xfrm>
            <a:off x="767520" y="4205520"/>
            <a:ext cx="253080" cy="253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1" name="Text 21"/>
          <p:cNvSpPr/>
          <p:nvPr/>
        </p:nvSpPr>
        <p:spPr>
          <a:xfrm>
            <a:off x="1207080" y="4133160"/>
            <a:ext cx="4485240" cy="39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3315C"/>
                </a:solidFill>
                <a:effectLst/>
                <a:uFillTx/>
                <a:latin typeface="Courier New"/>
                <a:ea typeface="Courier New"/>
              </a:rPr>
              <a:t>c(a = 10, b = 20)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" name="Shape 22"/>
          <p:cNvSpPr/>
          <p:nvPr/>
        </p:nvSpPr>
        <p:spPr>
          <a:xfrm>
            <a:off x="694800" y="4608720"/>
            <a:ext cx="398160" cy="398160"/>
          </a:xfrm>
          <a:prstGeom prst="ellipse">
            <a:avLst/>
          </a:prstGeom>
          <a:solidFill>
            <a:srgbClr val="31618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83" name="Image 7" descr="preencoded.png"/>
          <p:cNvPicPr/>
          <p:nvPr/>
        </p:nvPicPr>
        <p:blipFill>
          <a:blip r:embed="rId8"/>
          <a:stretch/>
        </p:blipFill>
        <p:spPr>
          <a:xfrm>
            <a:off x="767520" y="4681080"/>
            <a:ext cx="253080" cy="253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4" name="Text 23"/>
          <p:cNvSpPr/>
          <p:nvPr/>
        </p:nvSpPr>
        <p:spPr>
          <a:xfrm>
            <a:off x="1207080" y="4608720"/>
            <a:ext cx="4485240" cy="39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7A4E12"/>
                </a:solidFill>
                <a:effectLst/>
                <a:uFillTx/>
                <a:latin typeface="Courier New"/>
                <a:ea typeface="Courier New"/>
              </a:rPr>
              <a:t>{"a": 10, "b": 20}</a:t>
            </a:r>
            <a:r>
              <a:rPr lang="en-US" sz="1400" b="0" u="none" strike="noStrike">
                <a:solidFill>
                  <a:srgbClr val="5B6573"/>
                </a:solidFill>
                <a:effectLst/>
                <a:uFillTx/>
                <a:latin typeface="Calibri"/>
                <a:ea typeface="Calibri"/>
              </a:rPr>
              <a:t>  a dict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" name="Text 24"/>
          <p:cNvSpPr/>
          <p:nvPr/>
        </p:nvSpPr>
        <p:spPr>
          <a:xfrm>
            <a:off x="713160" y="5139000"/>
            <a:ext cx="4942440" cy="55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98000"/>
              </a:lnSpc>
              <a:tabLst>
                <a:tab pos="0" algn="l"/>
              </a:tabLst>
            </a:pPr>
            <a:r>
              <a:rPr lang="en-US" sz="2000" b="0" i="1" u="none" strike="noStrike">
                <a:solidFill>
                  <a:srgbClr val="5B6573"/>
                </a:solidFill>
                <a:effectLst/>
                <a:uFillTx/>
                <a:latin typeface="Calibri"/>
                <a:ea typeface="Calibri"/>
              </a:rPr>
              <a:t>Each value has a label; grab it by name. Python uses a dict.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" name="Shape 25"/>
          <p:cNvSpPr/>
          <p:nvPr/>
        </p:nvSpPr>
        <p:spPr>
          <a:xfrm>
            <a:off x="6245280" y="3566160"/>
            <a:ext cx="5454720" cy="2235960"/>
          </a:xfrm>
          <a:prstGeom prst="roundRect">
            <a:avLst>
              <a:gd name="adj" fmla="val 2449"/>
            </a:avLst>
          </a:prstGeom>
          <a:solidFill>
            <a:srgbClr val="F8FAFB"/>
          </a:solidFill>
          <a:ln w="9525">
            <a:solidFill>
              <a:srgbClr val="E1E7EC"/>
            </a:solidFill>
            <a:round/>
          </a:ln>
          <a:effectLst>
            <a:outerShdw algn="bl" blurRad="63360" dir="5400000" dist="25560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" name="Text 26"/>
          <p:cNvSpPr/>
          <p:nvPr/>
        </p:nvSpPr>
        <p:spPr>
          <a:xfrm>
            <a:off x="6464880" y="3694320"/>
            <a:ext cx="5015880" cy="36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1E2A44"/>
                </a:solidFill>
                <a:effectLst/>
                <a:uFillTx/>
                <a:latin typeface="Calibri"/>
                <a:ea typeface="Calibri"/>
              </a:rPr>
              <a:t>Factor — a vector for categories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" name="Shape 27"/>
          <p:cNvSpPr/>
          <p:nvPr/>
        </p:nvSpPr>
        <p:spPr>
          <a:xfrm>
            <a:off x="6483240" y="4133160"/>
            <a:ext cx="398160" cy="398160"/>
          </a:xfrm>
          <a:prstGeom prst="ellipse">
            <a:avLst/>
          </a:prstGeom>
          <a:solidFill>
            <a:srgbClr val="276DC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89" name="Image 8" descr="preencoded.png"/>
          <p:cNvPicPr/>
          <p:nvPr/>
        </p:nvPicPr>
        <p:blipFill>
          <a:blip r:embed="rId9"/>
          <a:stretch/>
        </p:blipFill>
        <p:spPr>
          <a:xfrm>
            <a:off x="6555600" y="4205520"/>
            <a:ext cx="253080" cy="253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0" name="Text 28"/>
          <p:cNvSpPr/>
          <p:nvPr/>
        </p:nvSpPr>
        <p:spPr>
          <a:xfrm>
            <a:off x="6995160" y="4133160"/>
            <a:ext cx="4485240" cy="39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3315C"/>
                </a:solidFill>
                <a:effectLst/>
                <a:uFillTx/>
                <a:latin typeface="Courier New"/>
                <a:ea typeface="Courier New"/>
              </a:rPr>
              <a:t>factor(c("low","high"))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1" name="Shape 29"/>
          <p:cNvSpPr/>
          <p:nvPr/>
        </p:nvSpPr>
        <p:spPr>
          <a:xfrm>
            <a:off x="6483240" y="4608720"/>
            <a:ext cx="398160" cy="398160"/>
          </a:xfrm>
          <a:prstGeom prst="ellipse">
            <a:avLst/>
          </a:prstGeom>
          <a:solidFill>
            <a:srgbClr val="31618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92" name="Image 9" descr="preencoded.png"/>
          <p:cNvPicPr/>
          <p:nvPr/>
        </p:nvPicPr>
        <p:blipFill>
          <a:blip r:embed="rId10"/>
          <a:stretch/>
        </p:blipFill>
        <p:spPr>
          <a:xfrm>
            <a:off x="6555600" y="4681080"/>
            <a:ext cx="253080" cy="253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3" name="Text 30"/>
          <p:cNvSpPr/>
          <p:nvPr/>
        </p:nvSpPr>
        <p:spPr>
          <a:xfrm>
            <a:off x="6995160" y="4608720"/>
            <a:ext cx="4485240" cy="39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7A4E12"/>
                </a:solidFill>
                <a:effectLst/>
                <a:uFillTx/>
                <a:latin typeface="Courier New"/>
                <a:ea typeface="Courier New"/>
              </a:rPr>
              <a:t>pd.Categorical(["low"])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4" name="Text 31"/>
          <p:cNvSpPr/>
          <p:nvPr/>
        </p:nvSpPr>
        <p:spPr>
          <a:xfrm>
            <a:off x="6501240" y="5139000"/>
            <a:ext cx="4942440" cy="55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98000"/>
              </a:lnSpc>
              <a:tabLst>
                <a:tab pos="0" algn="l"/>
              </a:tabLst>
            </a:pPr>
            <a:r>
              <a:rPr lang="en-US" sz="2000" b="0" i="1" u="none" strike="noStrike">
                <a:solidFill>
                  <a:srgbClr val="5B6573"/>
                </a:solidFill>
                <a:effectLst/>
                <a:uFillTx/>
                <a:latin typeface="Calibri"/>
                <a:ea typeface="Calibri"/>
              </a:rPr>
              <a:t>A vector for fixed </a:t>
            </a:r>
            <a:r>
              <a:rPr lang="en-US" sz="2000" b="0" i="1" u="none" strike="noStrike">
                <a:solidFill>
                  <a:srgbClr val="5B6573"/>
                </a:solidFill>
                <a:effectLst/>
                <a:uFillTx/>
                <a:latin typeface="Calibri"/>
                <a:ea typeface="Calibri"/>
              </a:rPr>
              <a:t>categories — e.g. </a:t>
            </a:r>
            <a:r>
              <a:rPr lang="en-US" sz="2000" b="0" i="1" u="none" strike="noStrike">
                <a:solidFill>
                  <a:srgbClr val="5B6573"/>
                </a:solidFill>
                <a:effectLst/>
                <a:uFillTx/>
                <a:latin typeface="Calibri"/>
                <a:ea typeface="Calibri"/>
              </a:rPr>
              <a:t>treatment vs control.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" name="Shape 32"/>
          <p:cNvSpPr/>
          <p:nvPr/>
        </p:nvSpPr>
        <p:spPr>
          <a:xfrm>
            <a:off x="457200" y="5943600"/>
            <a:ext cx="11242800" cy="471240"/>
          </a:xfrm>
          <a:prstGeom prst="roundRect">
            <a:avLst>
              <a:gd name="adj" fmla="val 11538"/>
            </a:avLst>
          </a:prstGeom>
          <a:solidFill>
            <a:srgbClr val="F1F5F9"/>
          </a:solidFill>
          <a:ln w="9525">
            <a:solidFill>
              <a:srgbClr val="E1E7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6" name="Text 33"/>
          <p:cNvSpPr/>
          <p:nvPr/>
        </p:nvSpPr>
        <p:spPr>
          <a:xfrm>
            <a:off x="658440" y="5943600"/>
            <a:ext cx="10877040" cy="4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E2A44"/>
                </a:solidFill>
                <a:effectLst/>
                <a:uFillTx/>
                <a:latin typeface="Calibri"/>
                <a:ea typeface="Calibri"/>
              </a:rPr>
              <a:t>Basic types    </a:t>
            </a:r>
            <a:r>
              <a:rPr lang="en-US" sz="1300" b="1" u="none" strike="noStrike">
                <a:solidFill>
                  <a:srgbClr val="276DC3"/>
                </a:solidFill>
                <a:effectLst/>
                <a:uFillTx/>
                <a:latin typeface="Calibri"/>
                <a:ea typeface="Calibri"/>
              </a:rPr>
              <a:t>R: </a:t>
            </a:r>
            <a:r>
              <a:rPr lang="en-US" sz="1250" b="0" u="none" strike="noStrike">
                <a:solidFill>
                  <a:srgbClr val="13315C"/>
                </a:solidFill>
                <a:effectLst/>
                <a:uFillTx/>
                <a:latin typeface="Courier New"/>
                <a:ea typeface="Courier New"/>
              </a:rPr>
              <a:t>numeric · integer · character · logical</a:t>
            </a:r>
            <a:r>
              <a:rPr lang="en-US" sz="1300" b="1" u="none" strike="noStrike">
                <a:solidFill>
                  <a:srgbClr val="31618A"/>
                </a:solidFill>
                <a:effectLst/>
                <a:uFillTx/>
                <a:latin typeface="Calibri"/>
                <a:ea typeface="Calibri"/>
              </a:rPr>
              <a:t>      Python: </a:t>
            </a:r>
            <a:r>
              <a:rPr lang="en-US" sz="1250" b="0" u="none" strike="noStrike">
                <a:solidFill>
                  <a:srgbClr val="7A4E12"/>
                </a:solidFill>
                <a:effectLst/>
                <a:uFillTx/>
                <a:latin typeface="Courier New"/>
                <a:ea typeface="Courier New"/>
              </a:rPr>
              <a:t>float · int · str · bool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7" name="Text 34"/>
          <p:cNvSpPr/>
          <p:nvPr/>
        </p:nvSpPr>
        <p:spPr>
          <a:xfrm>
            <a:off x="10881360" y="6537960"/>
            <a:ext cx="818640" cy="22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9AA3AD"/>
                </a:solidFill>
                <a:effectLst/>
                <a:uFillTx/>
                <a:latin typeface="Calibri"/>
                <a:ea typeface="Calibri"/>
              </a:rPr>
              <a:t>1 / 6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Text 0"/>
          <p:cNvSpPr/>
          <p:nvPr/>
        </p:nvSpPr>
        <p:spPr>
          <a:xfrm>
            <a:off x="457200" y="274320"/>
            <a:ext cx="10328400" cy="49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1E2A44"/>
                </a:solidFill>
                <a:effectLst/>
                <a:uFillTx/>
                <a:latin typeface="Cambria"/>
                <a:ea typeface="Cambria"/>
              </a:rPr>
              <a:t>2 · Lists, Dictionaries &amp; Arrays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9" name="Text 1"/>
          <p:cNvSpPr/>
          <p:nvPr/>
        </p:nvSpPr>
        <p:spPr>
          <a:xfrm>
            <a:off x="457200" y="822960"/>
            <a:ext cx="10419840" cy="30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i="1" u="none" strike="noStrike">
                <a:solidFill>
                  <a:srgbClr val="5B6573"/>
                </a:solidFill>
                <a:effectLst/>
                <a:uFillTx/>
                <a:latin typeface="Calibri"/>
                <a:ea typeface="Calibri"/>
              </a:rPr>
              <a:t>Mixing types, labelling items, and working with grids of numbers.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0" name="Shape 2"/>
          <p:cNvSpPr/>
          <p:nvPr/>
        </p:nvSpPr>
        <p:spPr>
          <a:xfrm>
            <a:off x="11036880" y="311040"/>
            <a:ext cx="379800" cy="379800"/>
          </a:xfrm>
          <a:prstGeom prst="ellipse">
            <a:avLst/>
          </a:prstGeom>
          <a:solidFill>
            <a:srgbClr val="276DC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01" name="Image 0" descr="preencoded.png"/>
          <p:cNvPicPr/>
          <p:nvPr/>
        </p:nvPicPr>
        <p:blipFill>
          <a:blip r:embed="rId1"/>
          <a:stretch/>
        </p:blipFill>
        <p:spPr>
          <a:xfrm>
            <a:off x="11106000" y="380160"/>
            <a:ext cx="241560" cy="241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2" name="Shape 3"/>
          <p:cNvSpPr/>
          <p:nvPr/>
        </p:nvSpPr>
        <p:spPr>
          <a:xfrm>
            <a:off x="11494080" y="311040"/>
            <a:ext cx="379800" cy="379800"/>
          </a:xfrm>
          <a:prstGeom prst="ellipse">
            <a:avLst/>
          </a:prstGeom>
          <a:solidFill>
            <a:srgbClr val="31618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03" name="Image 1" descr="preencoded.png"/>
          <p:cNvPicPr/>
          <p:nvPr/>
        </p:nvPicPr>
        <p:blipFill>
          <a:blip r:embed="rId2"/>
          <a:stretch/>
        </p:blipFill>
        <p:spPr>
          <a:xfrm>
            <a:off x="11563200" y="380160"/>
            <a:ext cx="241560" cy="241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4" name="Shape 4"/>
          <p:cNvSpPr/>
          <p:nvPr/>
        </p:nvSpPr>
        <p:spPr>
          <a:xfrm>
            <a:off x="457200" y="1207080"/>
            <a:ext cx="5299200" cy="2327400"/>
          </a:xfrm>
          <a:prstGeom prst="roundRect">
            <a:avLst>
              <a:gd name="adj" fmla="val 2353"/>
            </a:avLst>
          </a:prstGeom>
          <a:solidFill>
            <a:srgbClr val="F8FAFB"/>
          </a:solidFill>
          <a:ln w="9525">
            <a:solidFill>
              <a:srgbClr val="E1E7EC"/>
            </a:solidFill>
            <a:round/>
          </a:ln>
          <a:effectLst>
            <a:outerShdw algn="bl" blurRad="63360" dir="5400000" dist="25560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5" name="Text 5"/>
          <p:cNvSpPr/>
          <p:nvPr/>
        </p:nvSpPr>
        <p:spPr>
          <a:xfrm>
            <a:off x="676800" y="1334880"/>
            <a:ext cx="4860360" cy="36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1E2A44"/>
                </a:solidFill>
                <a:effectLst/>
                <a:uFillTx/>
                <a:latin typeface="Calibri"/>
                <a:ea typeface="Calibri"/>
              </a:rPr>
              <a:t>List — a mixed bag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6" name="Shape 6"/>
          <p:cNvSpPr/>
          <p:nvPr/>
        </p:nvSpPr>
        <p:spPr>
          <a:xfrm>
            <a:off x="694800" y="1774080"/>
            <a:ext cx="398160" cy="398160"/>
          </a:xfrm>
          <a:prstGeom prst="ellipse">
            <a:avLst/>
          </a:prstGeom>
          <a:solidFill>
            <a:srgbClr val="276DC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07" name="Image 2" descr="preencoded.png"/>
          <p:cNvPicPr/>
          <p:nvPr/>
        </p:nvPicPr>
        <p:blipFill>
          <a:blip r:embed="rId3"/>
          <a:stretch/>
        </p:blipFill>
        <p:spPr>
          <a:xfrm>
            <a:off x="767520" y="1846440"/>
            <a:ext cx="253080" cy="253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8" name="Text 7"/>
          <p:cNvSpPr/>
          <p:nvPr/>
        </p:nvSpPr>
        <p:spPr>
          <a:xfrm>
            <a:off x="1207080" y="1774080"/>
            <a:ext cx="4330080" cy="39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3315C"/>
                </a:solidFill>
                <a:effectLst/>
                <a:uFillTx/>
                <a:latin typeface="Courier New"/>
                <a:ea typeface="Courier New"/>
              </a:rPr>
              <a:t>list(1, "two", TRUE)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9" name="Shape 8"/>
          <p:cNvSpPr/>
          <p:nvPr/>
        </p:nvSpPr>
        <p:spPr>
          <a:xfrm>
            <a:off x="694800" y="2249280"/>
            <a:ext cx="398160" cy="398160"/>
          </a:xfrm>
          <a:prstGeom prst="ellipse">
            <a:avLst/>
          </a:prstGeom>
          <a:solidFill>
            <a:srgbClr val="31618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10" name="Image 3" descr="preencoded.png"/>
          <p:cNvPicPr/>
          <p:nvPr/>
        </p:nvPicPr>
        <p:blipFill>
          <a:blip r:embed="rId4"/>
          <a:stretch/>
        </p:blipFill>
        <p:spPr>
          <a:xfrm>
            <a:off x="767520" y="2322000"/>
            <a:ext cx="253080" cy="253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11" name="Text 9"/>
          <p:cNvSpPr/>
          <p:nvPr/>
        </p:nvSpPr>
        <p:spPr>
          <a:xfrm>
            <a:off x="1207080" y="2249280"/>
            <a:ext cx="4330080" cy="39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7A4E12"/>
                </a:solidFill>
                <a:effectLst/>
                <a:uFillTx/>
                <a:latin typeface="Courier New"/>
                <a:ea typeface="Courier New"/>
              </a:rPr>
              <a:t>[1, "two", True]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2" name="Text 10"/>
          <p:cNvSpPr/>
          <p:nvPr/>
        </p:nvSpPr>
        <p:spPr>
          <a:xfrm>
            <a:off x="713160" y="2779920"/>
            <a:ext cx="4787280" cy="64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98000"/>
              </a:lnSpc>
              <a:tabLst>
                <a:tab pos="0" algn="l"/>
              </a:tabLst>
            </a:pPr>
            <a:r>
              <a:rPr lang="en-US" sz="2000" b="0" i="1" u="none" strike="noStrike">
                <a:solidFill>
                  <a:srgbClr val="5B6573"/>
                </a:solidFill>
                <a:effectLst/>
                <a:uFillTx/>
                <a:latin typeface="Calibri"/>
                <a:ea typeface="Calibri"/>
              </a:rPr>
              <a:t>A list can mix types — and even hold other lists inside.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3" name="Shape 11"/>
          <p:cNvSpPr/>
          <p:nvPr/>
        </p:nvSpPr>
        <p:spPr>
          <a:xfrm>
            <a:off x="457200" y="3657600"/>
            <a:ext cx="5299200" cy="2327400"/>
          </a:xfrm>
          <a:prstGeom prst="roundRect">
            <a:avLst>
              <a:gd name="adj" fmla="val 2353"/>
            </a:avLst>
          </a:prstGeom>
          <a:solidFill>
            <a:srgbClr val="F8FAFB"/>
          </a:solidFill>
          <a:ln w="9525">
            <a:solidFill>
              <a:srgbClr val="E1E7EC"/>
            </a:solidFill>
            <a:round/>
          </a:ln>
          <a:effectLst>
            <a:outerShdw algn="bl" blurRad="63360" dir="5400000" dist="25560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4" name="Text 12"/>
          <p:cNvSpPr/>
          <p:nvPr/>
        </p:nvSpPr>
        <p:spPr>
          <a:xfrm>
            <a:off x="676800" y="3785760"/>
            <a:ext cx="4860360" cy="36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1E2A44"/>
                </a:solidFill>
                <a:effectLst/>
                <a:uFillTx/>
                <a:latin typeface="Calibri"/>
                <a:ea typeface="Calibri"/>
              </a:rPr>
              <a:t>Named list  /  Dictionary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5" name="Shape 13"/>
          <p:cNvSpPr/>
          <p:nvPr/>
        </p:nvSpPr>
        <p:spPr>
          <a:xfrm>
            <a:off x="694800" y="4224600"/>
            <a:ext cx="398160" cy="398160"/>
          </a:xfrm>
          <a:prstGeom prst="ellipse">
            <a:avLst/>
          </a:prstGeom>
          <a:solidFill>
            <a:srgbClr val="276DC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16" name="Image 4" descr="preencoded.png"/>
          <p:cNvPicPr/>
          <p:nvPr/>
        </p:nvPicPr>
        <p:blipFill>
          <a:blip r:embed="rId5"/>
          <a:stretch/>
        </p:blipFill>
        <p:spPr>
          <a:xfrm>
            <a:off x="767520" y="4296960"/>
            <a:ext cx="253080" cy="253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17" name="Text 14"/>
          <p:cNvSpPr/>
          <p:nvPr/>
        </p:nvSpPr>
        <p:spPr>
          <a:xfrm>
            <a:off x="1207080" y="4224600"/>
            <a:ext cx="4330080" cy="39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3315C"/>
                </a:solidFill>
                <a:effectLst/>
                <a:uFillTx/>
                <a:latin typeface="Courier New"/>
                <a:ea typeface="Courier New"/>
              </a:rPr>
              <a:t>list(name="Ada")</a:t>
            </a:r>
            <a:r>
              <a:rPr lang="en-US" sz="1400" b="0" u="none" strike="noStrike">
                <a:solidFill>
                  <a:srgbClr val="5B6573"/>
                </a:solidFill>
                <a:effectLst/>
                <a:uFillTx/>
                <a:latin typeface="Calibri"/>
                <a:ea typeface="Calibri"/>
              </a:rPr>
              <a:t>  → x$name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8" name="Shape 15"/>
          <p:cNvSpPr/>
          <p:nvPr/>
        </p:nvSpPr>
        <p:spPr>
          <a:xfrm>
            <a:off x="694800" y="4700160"/>
            <a:ext cx="398160" cy="398160"/>
          </a:xfrm>
          <a:prstGeom prst="ellipse">
            <a:avLst/>
          </a:prstGeom>
          <a:solidFill>
            <a:srgbClr val="31618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19" name="Image 5" descr="preencoded.png"/>
          <p:cNvPicPr/>
          <p:nvPr/>
        </p:nvPicPr>
        <p:blipFill>
          <a:blip r:embed="rId6"/>
          <a:stretch/>
        </p:blipFill>
        <p:spPr>
          <a:xfrm>
            <a:off x="767520" y="4772520"/>
            <a:ext cx="253080" cy="253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20" name="Text 16"/>
          <p:cNvSpPr/>
          <p:nvPr/>
        </p:nvSpPr>
        <p:spPr>
          <a:xfrm>
            <a:off x="1207080" y="4700160"/>
            <a:ext cx="4330080" cy="39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7A4E12"/>
                </a:solidFill>
                <a:effectLst/>
                <a:uFillTx/>
                <a:latin typeface="Courier New"/>
                <a:ea typeface="Courier New"/>
              </a:rPr>
              <a:t>{"name":"Ada"}</a:t>
            </a:r>
            <a:r>
              <a:rPr lang="en-US" sz="1400" b="0" u="none" strike="noStrike">
                <a:solidFill>
                  <a:srgbClr val="5B6573"/>
                </a:solidFill>
                <a:effectLst/>
                <a:uFillTx/>
                <a:latin typeface="Calibri"/>
                <a:ea typeface="Calibri"/>
              </a:rPr>
              <a:t>  → x["name"]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1" name="Text 17"/>
          <p:cNvSpPr/>
          <p:nvPr/>
        </p:nvSpPr>
        <p:spPr>
          <a:xfrm>
            <a:off x="713160" y="5230440"/>
            <a:ext cx="4787280" cy="64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98000"/>
              </a:lnSpc>
              <a:tabLst>
                <a:tab pos="0" algn="l"/>
              </a:tabLst>
            </a:pPr>
            <a:r>
              <a:rPr lang="en-US" sz="2000" b="0" i="1" u="none" strike="noStrike">
                <a:solidFill>
                  <a:srgbClr val="5B6573"/>
                </a:solidFill>
                <a:effectLst/>
                <a:uFillTx/>
                <a:latin typeface="Calibri"/>
                <a:ea typeface="Calibri"/>
              </a:rPr>
              <a:t>Label each item. An R named list ≈ a Python dict.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2" name="Shape 18"/>
          <p:cNvSpPr/>
          <p:nvPr/>
        </p:nvSpPr>
        <p:spPr>
          <a:xfrm>
            <a:off x="5897880" y="1207080"/>
            <a:ext cx="5802120" cy="1989000"/>
          </a:xfrm>
          <a:prstGeom prst="roundRect">
            <a:avLst>
              <a:gd name="adj" fmla="val 2752"/>
            </a:avLst>
          </a:prstGeom>
          <a:solidFill>
            <a:srgbClr val="F8FAFB"/>
          </a:solidFill>
          <a:ln w="9525">
            <a:solidFill>
              <a:srgbClr val="E1E7EC"/>
            </a:solidFill>
            <a:round/>
          </a:ln>
          <a:effectLst>
            <a:outerShdw algn="bl" blurRad="63360" dir="5400000" dist="25560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3" name="Text 19"/>
          <p:cNvSpPr/>
          <p:nvPr/>
        </p:nvSpPr>
        <p:spPr>
          <a:xfrm>
            <a:off x="6117480" y="1334880"/>
            <a:ext cx="5363280" cy="36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1E2A44"/>
                </a:solidFill>
                <a:effectLst/>
                <a:uFillTx/>
                <a:latin typeface="Calibri"/>
                <a:ea typeface="Calibri"/>
              </a:rPr>
              <a:t>Matrix / Array — a grid of numbers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4" name="Shape 20"/>
          <p:cNvSpPr/>
          <p:nvPr/>
        </p:nvSpPr>
        <p:spPr>
          <a:xfrm>
            <a:off x="6135480" y="1774080"/>
            <a:ext cx="398160" cy="398160"/>
          </a:xfrm>
          <a:prstGeom prst="ellipse">
            <a:avLst/>
          </a:prstGeom>
          <a:solidFill>
            <a:srgbClr val="276DC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25" name="Image 6" descr="preencoded.png"/>
          <p:cNvPicPr/>
          <p:nvPr/>
        </p:nvPicPr>
        <p:blipFill>
          <a:blip r:embed="rId7"/>
          <a:stretch/>
        </p:blipFill>
        <p:spPr>
          <a:xfrm>
            <a:off x="6208200" y="1846440"/>
            <a:ext cx="253080" cy="253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26" name="Text 21"/>
          <p:cNvSpPr/>
          <p:nvPr/>
        </p:nvSpPr>
        <p:spPr>
          <a:xfrm>
            <a:off x="6647760" y="1774080"/>
            <a:ext cx="4833000" cy="39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3315C"/>
                </a:solidFill>
                <a:effectLst/>
                <a:uFillTx/>
                <a:latin typeface="Courier New"/>
                <a:ea typeface="Courier New"/>
              </a:rPr>
              <a:t>matrix(1:6, nrow=2)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7" name="Shape 22"/>
          <p:cNvSpPr/>
          <p:nvPr/>
        </p:nvSpPr>
        <p:spPr>
          <a:xfrm>
            <a:off x="6135480" y="2249280"/>
            <a:ext cx="398160" cy="398160"/>
          </a:xfrm>
          <a:prstGeom prst="ellipse">
            <a:avLst/>
          </a:prstGeom>
          <a:solidFill>
            <a:srgbClr val="31618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28" name="Image 7" descr="preencoded.png"/>
          <p:cNvPicPr/>
          <p:nvPr/>
        </p:nvPicPr>
        <p:blipFill>
          <a:blip r:embed="rId8"/>
          <a:stretch/>
        </p:blipFill>
        <p:spPr>
          <a:xfrm>
            <a:off x="6208200" y="2322000"/>
            <a:ext cx="253080" cy="253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29" name="Text 23"/>
          <p:cNvSpPr/>
          <p:nvPr/>
        </p:nvSpPr>
        <p:spPr>
          <a:xfrm>
            <a:off x="6647760" y="2249280"/>
            <a:ext cx="4833000" cy="39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7A4E12"/>
                </a:solidFill>
                <a:effectLst/>
                <a:uFillTx/>
                <a:latin typeface="Courier New"/>
                <a:ea typeface="Courier New"/>
              </a:rPr>
              <a:t>np.array([[1,2,3],[4,5,6]])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0" name="Text 24"/>
          <p:cNvSpPr/>
          <p:nvPr/>
        </p:nvSpPr>
        <p:spPr>
          <a:xfrm>
            <a:off x="6153840" y="2779920"/>
            <a:ext cx="5290200" cy="30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98000"/>
              </a:lnSpc>
              <a:tabLst>
                <a:tab pos="0" algn="l"/>
              </a:tabLst>
            </a:pPr>
            <a:r>
              <a:rPr lang="en-US" sz="2000" b="0" i="1" u="none" strike="noStrike">
                <a:solidFill>
                  <a:srgbClr val="5B6573"/>
                </a:solidFill>
                <a:effectLst/>
                <a:uFillTx/>
                <a:latin typeface="Calibri"/>
                <a:ea typeface="Calibri"/>
              </a:rPr>
              <a:t>Same type, in rows × columns.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1" name="Shape 25"/>
          <p:cNvSpPr/>
          <p:nvPr/>
        </p:nvSpPr>
        <p:spPr>
          <a:xfrm>
            <a:off x="5897880" y="3319200"/>
            <a:ext cx="5802120" cy="2665800"/>
          </a:xfrm>
          <a:prstGeom prst="roundRect">
            <a:avLst>
              <a:gd name="adj" fmla="val 2055"/>
            </a:avLst>
          </a:prstGeom>
          <a:solidFill>
            <a:srgbClr val="EFF6FB"/>
          </a:solidFill>
          <a:ln w="9525">
            <a:solidFill>
              <a:srgbClr val="CFE0EE"/>
            </a:solidFill>
            <a:round/>
          </a:ln>
          <a:effectLst>
            <a:outerShdw algn="bl" blurRad="63360" dir="5400000" dist="25560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2" name="Text 26"/>
          <p:cNvSpPr/>
          <p:nvPr/>
        </p:nvSpPr>
        <p:spPr>
          <a:xfrm>
            <a:off x="6117480" y="3429000"/>
            <a:ext cx="5363280" cy="34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1E2A44"/>
                </a:solidFill>
                <a:effectLst/>
                <a:uFillTx/>
                <a:latin typeface="Calibri"/>
                <a:ea typeface="Calibri"/>
              </a:rPr>
              <a:t>NumPy broadcasting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3" name="Text 27"/>
          <p:cNvSpPr/>
          <p:nvPr/>
        </p:nvSpPr>
        <p:spPr>
          <a:xfrm>
            <a:off x="6117480" y="3822120"/>
            <a:ext cx="5363280" cy="56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374151"/>
                </a:solidFill>
                <a:effectLst/>
                <a:uFillTx/>
                <a:latin typeface="Calibri"/>
                <a:ea typeface="Calibri"/>
              </a:rPr>
              <a:t>When arrays have different shapes, NumPy stretches the smaller one to fit — without copying any data.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4" name="Shape 28"/>
          <p:cNvSpPr/>
          <p:nvPr/>
        </p:nvSpPr>
        <p:spPr>
          <a:xfrm>
            <a:off x="6117480" y="4617720"/>
            <a:ext cx="452880" cy="452880"/>
          </a:xfrm>
          <a:prstGeom prst="roundRect">
            <a:avLst>
              <a:gd name="adj" fmla="val 10000"/>
            </a:avLst>
          </a:prstGeom>
          <a:solidFill>
            <a:srgbClr val="DCEAF6"/>
          </a:solidFill>
          <a:ln w="9525">
            <a:solidFill>
              <a:srgbClr val="B9CB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5" name="Text 29"/>
          <p:cNvSpPr/>
          <p:nvPr/>
        </p:nvSpPr>
        <p:spPr>
          <a:xfrm>
            <a:off x="6117480" y="4617720"/>
            <a:ext cx="452880" cy="45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13315C"/>
                </a:solidFill>
                <a:effectLst/>
                <a:uFillTx/>
                <a:latin typeface="Courier New"/>
                <a:ea typeface="Courier New"/>
              </a:rPr>
              <a:t>1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6" name="Shape 30"/>
          <p:cNvSpPr/>
          <p:nvPr/>
        </p:nvSpPr>
        <p:spPr>
          <a:xfrm>
            <a:off x="6629400" y="4617720"/>
            <a:ext cx="452880" cy="452880"/>
          </a:xfrm>
          <a:prstGeom prst="roundRect">
            <a:avLst>
              <a:gd name="adj" fmla="val 10000"/>
            </a:avLst>
          </a:prstGeom>
          <a:solidFill>
            <a:srgbClr val="DCEAF6"/>
          </a:solidFill>
          <a:ln w="9525">
            <a:solidFill>
              <a:srgbClr val="B9CB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7" name="Text 31"/>
          <p:cNvSpPr/>
          <p:nvPr/>
        </p:nvSpPr>
        <p:spPr>
          <a:xfrm>
            <a:off x="6629400" y="4617720"/>
            <a:ext cx="452880" cy="45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13315C"/>
                </a:solidFill>
                <a:effectLst/>
                <a:uFillTx/>
                <a:latin typeface="Courier New"/>
                <a:ea typeface="Courier New"/>
              </a:rPr>
              <a:t>2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8" name="Shape 32"/>
          <p:cNvSpPr/>
          <p:nvPr/>
        </p:nvSpPr>
        <p:spPr>
          <a:xfrm>
            <a:off x="7141320" y="4617720"/>
            <a:ext cx="452880" cy="452880"/>
          </a:xfrm>
          <a:prstGeom prst="roundRect">
            <a:avLst>
              <a:gd name="adj" fmla="val 10000"/>
            </a:avLst>
          </a:prstGeom>
          <a:solidFill>
            <a:srgbClr val="DCEAF6"/>
          </a:solidFill>
          <a:ln w="9525">
            <a:solidFill>
              <a:srgbClr val="B9CB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9" name="Text 33"/>
          <p:cNvSpPr/>
          <p:nvPr/>
        </p:nvSpPr>
        <p:spPr>
          <a:xfrm>
            <a:off x="7141320" y="4617720"/>
            <a:ext cx="452880" cy="45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13315C"/>
                </a:solidFill>
                <a:effectLst/>
                <a:uFillTx/>
                <a:latin typeface="Courier New"/>
                <a:ea typeface="Courier New"/>
              </a:rPr>
              <a:t>3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0" name="Text 34"/>
          <p:cNvSpPr/>
          <p:nvPr/>
        </p:nvSpPr>
        <p:spPr>
          <a:xfrm>
            <a:off x="7653600" y="4599360"/>
            <a:ext cx="324720" cy="48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5B6573"/>
                </a:solidFill>
                <a:effectLst/>
                <a:uFillTx/>
                <a:latin typeface="Calibri"/>
                <a:ea typeface="Calibri"/>
              </a:rPr>
              <a:t>+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1" name="Shape 35"/>
          <p:cNvSpPr/>
          <p:nvPr/>
        </p:nvSpPr>
        <p:spPr>
          <a:xfrm>
            <a:off x="8019360" y="4617720"/>
            <a:ext cx="452880" cy="452880"/>
          </a:xfrm>
          <a:prstGeom prst="roundRect">
            <a:avLst>
              <a:gd name="adj" fmla="val 10000"/>
            </a:avLst>
          </a:prstGeom>
          <a:solidFill>
            <a:srgbClr val="FBE9CF"/>
          </a:solidFill>
          <a:ln w="9525">
            <a:solidFill>
              <a:srgbClr val="B9CB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2" name="Text 36"/>
          <p:cNvSpPr/>
          <p:nvPr/>
        </p:nvSpPr>
        <p:spPr>
          <a:xfrm>
            <a:off x="8019360" y="4617720"/>
            <a:ext cx="452880" cy="45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7A4E12"/>
                </a:solidFill>
                <a:effectLst/>
                <a:uFillTx/>
                <a:latin typeface="Courier New"/>
                <a:ea typeface="Courier New"/>
              </a:rPr>
              <a:t>10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3" name="Shape 37"/>
          <p:cNvSpPr/>
          <p:nvPr/>
        </p:nvSpPr>
        <p:spPr>
          <a:xfrm>
            <a:off x="8531280" y="4617720"/>
            <a:ext cx="452880" cy="452880"/>
          </a:xfrm>
          <a:prstGeom prst="roundRect">
            <a:avLst>
              <a:gd name="adj" fmla="val 10000"/>
            </a:avLst>
          </a:prstGeom>
          <a:solidFill>
            <a:srgbClr val="FBE9CF">
              <a:alpha val="55000"/>
            </a:srgbClr>
          </a:solidFill>
          <a:ln w="9525">
            <a:solidFill>
              <a:srgbClr val="B9CB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4" name="Text 38"/>
          <p:cNvSpPr/>
          <p:nvPr/>
        </p:nvSpPr>
        <p:spPr>
          <a:xfrm>
            <a:off x="8531280" y="4617720"/>
            <a:ext cx="452880" cy="45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8AA0B5"/>
                </a:solidFill>
                <a:effectLst/>
                <a:uFillTx/>
                <a:latin typeface="Courier New"/>
                <a:ea typeface="Courier New"/>
              </a:rPr>
              <a:t>10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5" name="Shape 39"/>
          <p:cNvSpPr/>
          <p:nvPr/>
        </p:nvSpPr>
        <p:spPr>
          <a:xfrm>
            <a:off x="9043560" y="4617720"/>
            <a:ext cx="452880" cy="452880"/>
          </a:xfrm>
          <a:prstGeom prst="roundRect">
            <a:avLst>
              <a:gd name="adj" fmla="val 10000"/>
            </a:avLst>
          </a:prstGeom>
          <a:solidFill>
            <a:srgbClr val="FBE9CF">
              <a:alpha val="55000"/>
            </a:srgbClr>
          </a:solidFill>
          <a:ln w="9525">
            <a:solidFill>
              <a:srgbClr val="B9CB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6" name="Text 40"/>
          <p:cNvSpPr/>
          <p:nvPr/>
        </p:nvSpPr>
        <p:spPr>
          <a:xfrm>
            <a:off x="9043560" y="4617720"/>
            <a:ext cx="452880" cy="45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8AA0B5"/>
                </a:solidFill>
                <a:effectLst/>
                <a:uFillTx/>
                <a:latin typeface="Courier New"/>
                <a:ea typeface="Courier New"/>
              </a:rPr>
              <a:t>10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7" name="Text 41"/>
          <p:cNvSpPr/>
          <p:nvPr/>
        </p:nvSpPr>
        <p:spPr>
          <a:xfrm>
            <a:off x="9555480" y="4599360"/>
            <a:ext cx="324720" cy="48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5B6573"/>
                </a:solidFill>
                <a:effectLst/>
                <a:uFillTx/>
                <a:latin typeface="Calibri"/>
                <a:ea typeface="Calibri"/>
              </a:rPr>
              <a:t>=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8" name="Shape 42"/>
          <p:cNvSpPr/>
          <p:nvPr/>
        </p:nvSpPr>
        <p:spPr>
          <a:xfrm>
            <a:off x="9921240" y="4617720"/>
            <a:ext cx="452880" cy="452880"/>
          </a:xfrm>
          <a:prstGeom prst="roundRect">
            <a:avLst>
              <a:gd name="adj" fmla="val 10000"/>
            </a:avLst>
          </a:prstGeom>
          <a:solidFill>
            <a:srgbClr val="D7EAD9"/>
          </a:solidFill>
          <a:ln w="9525">
            <a:solidFill>
              <a:srgbClr val="B9CB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9" name="Text 43"/>
          <p:cNvSpPr/>
          <p:nvPr/>
        </p:nvSpPr>
        <p:spPr>
          <a:xfrm>
            <a:off x="9921240" y="4617720"/>
            <a:ext cx="452880" cy="45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1F5C2E"/>
                </a:solidFill>
                <a:effectLst/>
                <a:uFillTx/>
                <a:latin typeface="Courier New"/>
                <a:ea typeface="Courier New"/>
              </a:rPr>
              <a:t>11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0" name="Shape 44"/>
          <p:cNvSpPr/>
          <p:nvPr/>
        </p:nvSpPr>
        <p:spPr>
          <a:xfrm>
            <a:off x="10433160" y="4617720"/>
            <a:ext cx="452880" cy="452880"/>
          </a:xfrm>
          <a:prstGeom prst="roundRect">
            <a:avLst>
              <a:gd name="adj" fmla="val 10000"/>
            </a:avLst>
          </a:prstGeom>
          <a:solidFill>
            <a:srgbClr val="D7EAD9"/>
          </a:solidFill>
          <a:ln w="9525">
            <a:solidFill>
              <a:srgbClr val="B9CB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1" name="Text 45"/>
          <p:cNvSpPr/>
          <p:nvPr/>
        </p:nvSpPr>
        <p:spPr>
          <a:xfrm>
            <a:off x="10433160" y="4617720"/>
            <a:ext cx="452880" cy="45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1F5C2E"/>
                </a:solidFill>
                <a:effectLst/>
                <a:uFillTx/>
                <a:latin typeface="Courier New"/>
                <a:ea typeface="Courier New"/>
              </a:rPr>
              <a:t>12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2" name="Shape 46"/>
          <p:cNvSpPr/>
          <p:nvPr/>
        </p:nvSpPr>
        <p:spPr>
          <a:xfrm>
            <a:off x="10945440" y="4617720"/>
            <a:ext cx="452880" cy="452880"/>
          </a:xfrm>
          <a:prstGeom prst="roundRect">
            <a:avLst>
              <a:gd name="adj" fmla="val 10000"/>
            </a:avLst>
          </a:prstGeom>
          <a:solidFill>
            <a:srgbClr val="D7EAD9"/>
          </a:solidFill>
          <a:ln w="9525">
            <a:solidFill>
              <a:srgbClr val="B9CB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3" name="Text 47"/>
          <p:cNvSpPr/>
          <p:nvPr/>
        </p:nvSpPr>
        <p:spPr>
          <a:xfrm>
            <a:off x="10945440" y="4617720"/>
            <a:ext cx="452880" cy="45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1F5C2E"/>
                </a:solidFill>
                <a:effectLst/>
                <a:uFillTx/>
                <a:latin typeface="Courier New"/>
                <a:ea typeface="Courier New"/>
              </a:rPr>
              <a:t>13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4" name="Text 48"/>
          <p:cNvSpPr/>
          <p:nvPr/>
        </p:nvSpPr>
        <p:spPr>
          <a:xfrm>
            <a:off x="6117480" y="5257800"/>
            <a:ext cx="5363280" cy="49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7A4E12"/>
                </a:solidFill>
                <a:effectLst/>
                <a:uFillTx/>
                <a:latin typeface="Courier New"/>
                <a:ea typeface="Courier New"/>
              </a:rPr>
              <a:t>np.array([1,2,3]) + 10</a:t>
            </a:r>
            <a:r>
              <a:rPr lang="en-US" sz="1350" b="0" u="none" strike="noStrike">
                <a:solidFill>
                  <a:srgbClr val="5B6573"/>
                </a:solidFill>
                <a:effectLst/>
                <a:uFillTx/>
                <a:latin typeface="Calibri"/>
                <a:ea typeface="Calibri"/>
              </a:rPr>
              <a:t>   → the 10 is added to every element.  </a:t>
            </a:r>
            <a:r>
              <a:rPr lang="en-US" sz="1350" b="0" i="1" u="none" strike="noStrike">
                <a:solidFill>
                  <a:srgbClr val="5B6573"/>
                </a:solidFill>
                <a:effectLst/>
                <a:uFillTx/>
                <a:latin typeface="Calibri"/>
                <a:ea typeface="Calibri"/>
              </a:rPr>
              <a:t>R calls this “recycling.”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5" name="Text 49"/>
          <p:cNvSpPr/>
          <p:nvPr/>
        </p:nvSpPr>
        <p:spPr>
          <a:xfrm>
            <a:off x="10881360" y="6537960"/>
            <a:ext cx="818640" cy="22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9AA3AD"/>
                </a:solidFill>
                <a:effectLst/>
                <a:uFillTx/>
                <a:latin typeface="Calibri"/>
                <a:ea typeface="Calibri"/>
              </a:rPr>
              <a:t>2 / 6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Text 0"/>
          <p:cNvSpPr/>
          <p:nvPr/>
        </p:nvSpPr>
        <p:spPr>
          <a:xfrm>
            <a:off x="457200" y="274320"/>
            <a:ext cx="10328400" cy="49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1E2A44"/>
                </a:solidFill>
                <a:effectLst/>
                <a:uFillTx/>
                <a:latin typeface="Cambria"/>
                <a:ea typeface="Cambria"/>
              </a:rPr>
              <a:t>3 · Tables: data.frame, tibble &amp; DataFrame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7" name="Text 1"/>
          <p:cNvSpPr/>
          <p:nvPr/>
        </p:nvSpPr>
        <p:spPr>
          <a:xfrm>
            <a:off x="457200" y="822960"/>
            <a:ext cx="10419840" cy="30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i="1" u="none" strike="noStrike">
                <a:solidFill>
                  <a:srgbClr val="5B6573"/>
                </a:solidFill>
                <a:effectLst/>
                <a:uFillTx/>
                <a:latin typeface="Calibri"/>
                <a:ea typeface="Calibri"/>
              </a:rPr>
              <a:t>Rows and columns — the format you’ll use most for real data.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8" name="Shape 2"/>
          <p:cNvSpPr/>
          <p:nvPr/>
        </p:nvSpPr>
        <p:spPr>
          <a:xfrm>
            <a:off x="11036880" y="311040"/>
            <a:ext cx="379800" cy="379800"/>
          </a:xfrm>
          <a:prstGeom prst="ellipse">
            <a:avLst/>
          </a:prstGeom>
          <a:solidFill>
            <a:srgbClr val="276DC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59" name="Image 0" descr="preencoded.png"/>
          <p:cNvPicPr/>
          <p:nvPr/>
        </p:nvPicPr>
        <p:blipFill>
          <a:blip r:embed="rId1"/>
          <a:stretch/>
        </p:blipFill>
        <p:spPr>
          <a:xfrm>
            <a:off x="11106000" y="380160"/>
            <a:ext cx="241560" cy="241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60" name="Shape 3"/>
          <p:cNvSpPr/>
          <p:nvPr/>
        </p:nvSpPr>
        <p:spPr>
          <a:xfrm>
            <a:off x="11494080" y="311040"/>
            <a:ext cx="379800" cy="379800"/>
          </a:xfrm>
          <a:prstGeom prst="ellipse">
            <a:avLst/>
          </a:prstGeom>
          <a:solidFill>
            <a:srgbClr val="31618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61" name="Image 1" descr="preencoded.png"/>
          <p:cNvPicPr/>
          <p:nvPr/>
        </p:nvPicPr>
        <p:blipFill>
          <a:blip r:embed="rId2"/>
          <a:stretch/>
        </p:blipFill>
        <p:spPr>
          <a:xfrm>
            <a:off x="11563200" y="380160"/>
            <a:ext cx="241560" cy="241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62" name="Text 4"/>
          <p:cNvSpPr/>
          <p:nvPr/>
        </p:nvSpPr>
        <p:spPr>
          <a:xfrm>
            <a:off x="457200" y="1097280"/>
            <a:ext cx="11242800" cy="2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1E2A44"/>
                </a:solidFill>
                <a:effectLst/>
                <a:uFillTx/>
                <a:latin typeface="Calibri"/>
                <a:ea typeface="Calibri"/>
              </a:rPr>
              <a:t>Every object below stores data as rows × columns, like this: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263" name="Table 0"/>
          <p:cNvGraphicFramePr/>
          <p:nvPr/>
        </p:nvGraphicFramePr>
        <p:xfrm>
          <a:off x="3840480" y="1371600"/>
          <a:ext cx="4480200" cy="1316160"/>
        </p:xfrm>
        <a:graphic>
          <a:graphicData uri="http://schemas.openxmlformats.org/drawingml/2006/table">
            <a:tbl>
              <a:tblPr/>
              <a:tblGrid>
                <a:gridCol w="1371600"/>
                <a:gridCol w="1645920"/>
                <a:gridCol w="1463040"/>
              </a:tblGrid>
              <a:tr h="329040"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sample</a:t>
                      </a:r>
                      <a:endParaRPr lang="en-US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D5DCE3"/>
                      </a:solidFill>
                      <a:prstDash val="solid"/>
                    </a:lnL>
                    <a:lnR w="9360">
                      <a:solidFill>
                        <a:srgbClr val="D5DCE3"/>
                      </a:solidFill>
                      <a:prstDash val="solid"/>
                    </a:lnR>
                    <a:lnT w="9360">
                      <a:solidFill>
                        <a:srgbClr val="D5DCE3"/>
                      </a:solidFill>
                      <a:prstDash val="solid"/>
                    </a:lnT>
                    <a:lnB w="9360">
                      <a:solidFill>
                        <a:srgbClr val="D5DCE3"/>
                      </a:solidFill>
                      <a:prstDash val="solid"/>
                    </a:lnB>
                    <a:solidFill>
                      <a:srgbClr val="1E2A44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gene</a:t>
                      </a:r>
                      <a:endParaRPr lang="en-US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D5DCE3"/>
                      </a:solidFill>
                      <a:prstDash val="solid"/>
                    </a:lnL>
                    <a:lnR w="9360">
                      <a:solidFill>
                        <a:srgbClr val="D5DCE3"/>
                      </a:solidFill>
                      <a:prstDash val="solid"/>
                    </a:lnR>
                    <a:lnT w="9360">
                      <a:solidFill>
                        <a:srgbClr val="D5DCE3"/>
                      </a:solidFill>
                      <a:prstDash val="solid"/>
                    </a:lnT>
                    <a:lnB w="9360">
                      <a:solidFill>
                        <a:srgbClr val="D5DCE3"/>
                      </a:solidFill>
                      <a:prstDash val="solid"/>
                    </a:lnB>
                    <a:solidFill>
                      <a:srgbClr val="1E2A44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expr</a:t>
                      </a:r>
                      <a:endParaRPr lang="en-US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D5DCE3"/>
                      </a:solidFill>
                      <a:prstDash val="solid"/>
                    </a:lnL>
                    <a:lnR w="9360">
                      <a:solidFill>
                        <a:srgbClr val="D5DCE3"/>
                      </a:solidFill>
                      <a:prstDash val="solid"/>
                    </a:lnR>
                    <a:lnT w="9360">
                      <a:solidFill>
                        <a:srgbClr val="D5DCE3"/>
                      </a:solidFill>
                      <a:prstDash val="solid"/>
                    </a:lnT>
                    <a:lnB w="9360">
                      <a:solidFill>
                        <a:srgbClr val="D5DCE3"/>
                      </a:solidFill>
                      <a:prstDash val="solid"/>
                    </a:lnB>
                    <a:solidFill>
                      <a:srgbClr val="1E2A44"/>
                    </a:solidFill>
                  </a:tcPr>
                </a:tc>
              </a:tr>
              <a:tr h="329040"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374151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S1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D5DCE3"/>
                      </a:solidFill>
                      <a:prstDash val="solid"/>
                    </a:lnL>
                    <a:lnR w="9360">
                      <a:solidFill>
                        <a:srgbClr val="D5DCE3"/>
                      </a:solidFill>
                      <a:prstDash val="solid"/>
                    </a:lnR>
                    <a:lnT w="9360">
                      <a:solidFill>
                        <a:srgbClr val="D5DCE3"/>
                      </a:solidFill>
                      <a:prstDash val="solid"/>
                    </a:lnT>
                    <a:lnB w="9360">
                      <a:solidFill>
                        <a:srgbClr val="D5DC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374151"/>
                          </a:solidFill>
                          <a:effectLst/>
                          <a:uFillTx/>
                          <a:latin typeface="Courier New"/>
                          <a:ea typeface="Courier New"/>
                        </a:rPr>
                        <a:t>TP53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D5DCE3"/>
                      </a:solidFill>
                      <a:prstDash val="solid"/>
                    </a:lnL>
                    <a:lnR w="9360">
                      <a:solidFill>
                        <a:srgbClr val="D5DCE3"/>
                      </a:solidFill>
                      <a:prstDash val="solid"/>
                    </a:lnR>
                    <a:lnT w="9360">
                      <a:solidFill>
                        <a:srgbClr val="D5DCE3"/>
                      </a:solidFill>
                      <a:prstDash val="solid"/>
                    </a:lnT>
                    <a:lnB w="9360">
                      <a:solidFill>
                        <a:srgbClr val="D5DC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374151"/>
                          </a:solidFill>
                          <a:effectLst/>
                          <a:uFillTx/>
                          <a:latin typeface="Courier New"/>
                          <a:ea typeface="Courier New"/>
                        </a:rPr>
                        <a:t>5.2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D5DCE3"/>
                      </a:solidFill>
                      <a:prstDash val="solid"/>
                    </a:lnL>
                    <a:lnR w="9360">
                      <a:solidFill>
                        <a:srgbClr val="D5DCE3"/>
                      </a:solidFill>
                      <a:prstDash val="solid"/>
                    </a:lnR>
                    <a:lnT w="9360">
                      <a:solidFill>
                        <a:srgbClr val="D5DCE3"/>
                      </a:solidFill>
                      <a:prstDash val="solid"/>
                    </a:lnT>
                    <a:lnB w="9360">
                      <a:solidFill>
                        <a:srgbClr val="D5DC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29040"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374151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S2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D5DCE3"/>
                      </a:solidFill>
                      <a:prstDash val="solid"/>
                    </a:lnL>
                    <a:lnR w="9360">
                      <a:solidFill>
                        <a:srgbClr val="D5DCE3"/>
                      </a:solidFill>
                      <a:prstDash val="solid"/>
                    </a:lnR>
                    <a:lnT w="9360">
                      <a:solidFill>
                        <a:srgbClr val="D5DCE3"/>
                      </a:solidFill>
                      <a:prstDash val="solid"/>
                    </a:lnT>
                    <a:lnB w="9360">
                      <a:solidFill>
                        <a:srgbClr val="D5DC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374151"/>
                          </a:solidFill>
                          <a:effectLst/>
                          <a:uFillTx/>
                          <a:latin typeface="Courier New"/>
                          <a:ea typeface="Courier New"/>
                        </a:rPr>
                        <a:t>EGFR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D5DCE3"/>
                      </a:solidFill>
                      <a:prstDash val="solid"/>
                    </a:lnL>
                    <a:lnR w="9360">
                      <a:solidFill>
                        <a:srgbClr val="D5DCE3"/>
                      </a:solidFill>
                      <a:prstDash val="solid"/>
                    </a:lnR>
                    <a:lnT w="9360">
                      <a:solidFill>
                        <a:srgbClr val="D5DCE3"/>
                      </a:solidFill>
                      <a:prstDash val="solid"/>
                    </a:lnT>
                    <a:lnB w="9360">
                      <a:solidFill>
                        <a:srgbClr val="D5DC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374151"/>
                          </a:solidFill>
                          <a:effectLst/>
                          <a:uFillTx/>
                          <a:latin typeface="Courier New"/>
                          <a:ea typeface="Courier New"/>
                        </a:rPr>
                        <a:t>8.1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D5DCE3"/>
                      </a:solidFill>
                      <a:prstDash val="solid"/>
                    </a:lnL>
                    <a:lnR w="9360">
                      <a:solidFill>
                        <a:srgbClr val="D5DCE3"/>
                      </a:solidFill>
                      <a:prstDash val="solid"/>
                    </a:lnR>
                    <a:lnT w="9360">
                      <a:solidFill>
                        <a:srgbClr val="D5DCE3"/>
                      </a:solidFill>
                      <a:prstDash val="solid"/>
                    </a:lnT>
                    <a:lnB w="9360">
                      <a:solidFill>
                        <a:srgbClr val="D5DC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29040"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374151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S3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D5DCE3"/>
                      </a:solidFill>
                      <a:prstDash val="solid"/>
                    </a:lnL>
                    <a:lnR w="9360">
                      <a:solidFill>
                        <a:srgbClr val="D5DCE3"/>
                      </a:solidFill>
                      <a:prstDash val="solid"/>
                    </a:lnR>
                    <a:lnT w="9360">
                      <a:solidFill>
                        <a:srgbClr val="D5DCE3"/>
                      </a:solidFill>
                      <a:prstDash val="solid"/>
                    </a:lnT>
                    <a:lnB w="9360">
                      <a:solidFill>
                        <a:srgbClr val="D5DC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374151"/>
                          </a:solidFill>
                          <a:effectLst/>
                          <a:uFillTx/>
                          <a:latin typeface="Courier New"/>
                          <a:ea typeface="Courier New"/>
                        </a:rPr>
                        <a:t>MYC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D5DCE3"/>
                      </a:solidFill>
                      <a:prstDash val="solid"/>
                    </a:lnL>
                    <a:lnR w="9360">
                      <a:solidFill>
                        <a:srgbClr val="D5DCE3"/>
                      </a:solidFill>
                      <a:prstDash val="solid"/>
                    </a:lnR>
                    <a:lnT w="9360">
                      <a:solidFill>
                        <a:srgbClr val="D5DCE3"/>
                      </a:solidFill>
                      <a:prstDash val="solid"/>
                    </a:lnT>
                    <a:lnB w="9360">
                      <a:solidFill>
                        <a:srgbClr val="D5DC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374151"/>
                          </a:solidFill>
                          <a:effectLst/>
                          <a:uFillTx/>
                          <a:latin typeface="Courier New"/>
                          <a:ea typeface="Courier New"/>
                        </a:rPr>
                        <a:t>6.7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D5DCE3"/>
                      </a:solidFill>
                      <a:prstDash val="solid"/>
                    </a:lnL>
                    <a:lnR w="9360">
                      <a:solidFill>
                        <a:srgbClr val="D5DCE3"/>
                      </a:solidFill>
                      <a:prstDash val="solid"/>
                    </a:lnR>
                    <a:lnT w="9360">
                      <a:solidFill>
                        <a:srgbClr val="D5DCE3"/>
                      </a:solidFill>
                      <a:prstDash val="solid"/>
                    </a:lnT>
                    <a:lnB w="9360">
                      <a:solidFill>
                        <a:srgbClr val="D5DC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64" name="Shape 5"/>
          <p:cNvSpPr/>
          <p:nvPr/>
        </p:nvSpPr>
        <p:spPr>
          <a:xfrm>
            <a:off x="457200" y="2853000"/>
            <a:ext cx="5482080" cy="434520"/>
          </a:xfrm>
          <a:prstGeom prst="roundRect">
            <a:avLst>
              <a:gd name="adj" fmla="val 12500"/>
            </a:avLst>
          </a:prstGeom>
          <a:solidFill>
            <a:srgbClr val="276DC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5" name="Shape 6"/>
          <p:cNvSpPr/>
          <p:nvPr/>
        </p:nvSpPr>
        <p:spPr>
          <a:xfrm>
            <a:off x="585360" y="2917080"/>
            <a:ext cx="306720" cy="306720"/>
          </a:xfrm>
          <a:prstGeom prst="ellipse">
            <a:avLst/>
          </a:prstGeom>
          <a:solidFill>
            <a:srgbClr val="276DC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66" name="Image 2" descr="preencoded.png"/>
          <p:cNvPicPr/>
          <p:nvPr/>
        </p:nvPicPr>
        <p:blipFill>
          <a:blip r:embed="rId3"/>
          <a:stretch/>
        </p:blipFill>
        <p:spPr>
          <a:xfrm>
            <a:off x="641160" y="2972880"/>
            <a:ext cx="194760" cy="194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67" name="Text 7"/>
          <p:cNvSpPr/>
          <p:nvPr/>
        </p:nvSpPr>
        <p:spPr>
          <a:xfrm>
            <a:off x="987480" y="2853000"/>
            <a:ext cx="4842000" cy="43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In R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8" name="Shape 8"/>
          <p:cNvSpPr/>
          <p:nvPr/>
        </p:nvSpPr>
        <p:spPr>
          <a:xfrm>
            <a:off x="457200" y="3401640"/>
            <a:ext cx="5482080" cy="955800"/>
          </a:xfrm>
          <a:prstGeom prst="roundRect">
            <a:avLst>
              <a:gd name="adj" fmla="val 5714"/>
            </a:avLst>
          </a:prstGeom>
          <a:solidFill>
            <a:srgbClr val="EDF3FB"/>
          </a:solidFill>
          <a:ln w="9525">
            <a:solidFill>
              <a:srgbClr val="E1E7EC"/>
            </a:solidFill>
            <a:round/>
          </a:ln>
          <a:effectLst>
            <a:outerShdw algn="bl" blurRad="63360" dir="5400000" dist="25560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9" name="Text 9"/>
          <p:cNvSpPr/>
          <p:nvPr/>
        </p:nvSpPr>
        <p:spPr>
          <a:xfrm>
            <a:off x="640080" y="3493080"/>
            <a:ext cx="5116320" cy="36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1E2A44"/>
                </a:solidFill>
                <a:effectLst/>
                <a:uFillTx/>
                <a:latin typeface="Courier New"/>
                <a:ea typeface="Courier New"/>
              </a:rPr>
              <a:t>data.frame   </a:t>
            </a:r>
            <a:r>
              <a:rPr lang="en-US" sz="1300" b="0" u="none" strike="noStrike">
                <a:solidFill>
                  <a:srgbClr val="13315C"/>
                </a:solidFill>
                <a:effectLst/>
                <a:uFillTx/>
                <a:latin typeface="Courier New"/>
                <a:ea typeface="Courier New"/>
              </a:rPr>
              <a:t>data.frame(gene=…)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0" name="Text 10"/>
          <p:cNvSpPr/>
          <p:nvPr/>
        </p:nvSpPr>
        <p:spPr>
          <a:xfrm>
            <a:off x="640080" y="3904560"/>
            <a:ext cx="5116320" cy="388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i="1" u="none" strike="noStrike">
                <a:solidFill>
                  <a:srgbClr val="5B6573"/>
                </a:solidFill>
                <a:effectLst/>
                <a:uFillTx/>
                <a:latin typeface="Calibri"/>
                <a:ea typeface="Calibri"/>
              </a:rPr>
              <a:t>Base R’s classic table; columns may differ in type.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1" name="Shape 11"/>
          <p:cNvSpPr/>
          <p:nvPr/>
        </p:nvSpPr>
        <p:spPr>
          <a:xfrm>
            <a:off x="457200" y="4471560"/>
            <a:ext cx="5482080" cy="955800"/>
          </a:xfrm>
          <a:prstGeom prst="roundRect">
            <a:avLst>
              <a:gd name="adj" fmla="val 5714"/>
            </a:avLst>
          </a:prstGeom>
          <a:solidFill>
            <a:srgbClr val="EDF3FB"/>
          </a:solidFill>
          <a:ln w="9525">
            <a:solidFill>
              <a:srgbClr val="E1E7EC"/>
            </a:solidFill>
            <a:round/>
          </a:ln>
          <a:effectLst>
            <a:outerShdw algn="bl" blurRad="63360" dir="5400000" dist="25560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2" name="Text 12"/>
          <p:cNvSpPr/>
          <p:nvPr/>
        </p:nvSpPr>
        <p:spPr>
          <a:xfrm>
            <a:off x="640080" y="4563000"/>
            <a:ext cx="5116320" cy="36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1E2A44"/>
                </a:solidFill>
                <a:effectLst/>
                <a:uFillTx/>
                <a:latin typeface="Courier New"/>
                <a:ea typeface="Courier New"/>
              </a:rPr>
              <a:t>tibble   </a:t>
            </a:r>
            <a:r>
              <a:rPr lang="en-US" sz="1300" b="0" u="none" strike="noStrike">
                <a:solidFill>
                  <a:srgbClr val="13315C"/>
                </a:solidFill>
                <a:effectLst/>
                <a:uFillTx/>
                <a:latin typeface="Courier New"/>
                <a:ea typeface="Courier New"/>
              </a:rPr>
              <a:t>tibble(gene=…)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3" name="Text 13"/>
          <p:cNvSpPr/>
          <p:nvPr/>
        </p:nvSpPr>
        <p:spPr>
          <a:xfrm>
            <a:off x="640080" y="4974480"/>
            <a:ext cx="5116320" cy="388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i="1" u="none" strike="noStrike">
                <a:solidFill>
                  <a:srgbClr val="5B6573"/>
                </a:solidFill>
                <a:effectLst/>
                <a:uFillTx/>
                <a:latin typeface="Calibri"/>
                <a:ea typeface="Calibri"/>
              </a:rPr>
              <a:t>Tidyverse table — cleaner, </a:t>
            </a:r>
            <a:r>
              <a:rPr lang="en-US" sz="1600" b="0" i="1" u="none" strike="noStrike">
                <a:solidFill>
                  <a:srgbClr val="5B6573"/>
                </a:solidFill>
                <a:effectLst/>
                <a:uFillTx/>
                <a:latin typeface="Calibri"/>
                <a:ea typeface="Calibri"/>
              </a:rPr>
              <a:t>stricter, keeps text as text.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4" name="Shape 14"/>
          <p:cNvSpPr/>
          <p:nvPr/>
        </p:nvSpPr>
        <p:spPr>
          <a:xfrm>
            <a:off x="457200" y="5541120"/>
            <a:ext cx="5482080" cy="955800"/>
          </a:xfrm>
          <a:prstGeom prst="roundRect">
            <a:avLst>
              <a:gd name="adj" fmla="val 5714"/>
            </a:avLst>
          </a:prstGeom>
          <a:solidFill>
            <a:srgbClr val="EDF3FB"/>
          </a:solidFill>
          <a:ln w="9525">
            <a:solidFill>
              <a:srgbClr val="E1E7EC"/>
            </a:solidFill>
            <a:round/>
          </a:ln>
          <a:effectLst>
            <a:outerShdw algn="bl" blurRad="63360" dir="5400000" dist="25560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5" name="Text 15"/>
          <p:cNvSpPr/>
          <p:nvPr/>
        </p:nvSpPr>
        <p:spPr>
          <a:xfrm>
            <a:off x="640080" y="5632560"/>
            <a:ext cx="5116320" cy="36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1E2A44"/>
                </a:solidFill>
                <a:effectLst/>
                <a:uFillTx/>
                <a:latin typeface="Courier New"/>
                <a:ea typeface="Courier New"/>
              </a:rPr>
              <a:t>data.tabl</a:t>
            </a:r>
            <a:r>
              <a:rPr lang="en-US" sz="1600" b="1" u="none" strike="noStrike">
                <a:solidFill>
                  <a:srgbClr val="1E2A44"/>
                </a:solidFill>
                <a:effectLst/>
                <a:uFillTx/>
                <a:latin typeface="Courier New"/>
                <a:ea typeface="Courier New"/>
              </a:rPr>
              <a:t>e   </a:t>
            </a:r>
            <a:r>
              <a:rPr lang="en-US" sz="1300" b="0" u="none" strike="noStrike">
                <a:solidFill>
                  <a:srgbClr val="13315C"/>
                </a:solidFill>
                <a:effectLst/>
                <a:uFillTx/>
                <a:latin typeface="Courier New"/>
                <a:ea typeface="Courier New"/>
              </a:rPr>
              <a:t>data.table(</a:t>
            </a:r>
            <a:r>
              <a:rPr lang="en-US" sz="1300" b="0" u="none" strike="noStrike">
                <a:solidFill>
                  <a:srgbClr val="13315C"/>
                </a:solidFill>
                <a:effectLst/>
                <a:uFillTx/>
                <a:latin typeface="Courier New"/>
                <a:ea typeface="Courier New"/>
              </a:rPr>
              <a:t>gene=…)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6" name="Text 16"/>
          <p:cNvSpPr/>
          <p:nvPr/>
        </p:nvSpPr>
        <p:spPr>
          <a:xfrm>
            <a:off x="640080" y="6044040"/>
            <a:ext cx="5116320" cy="388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i="1" u="none" strike="noStrike">
                <a:solidFill>
                  <a:srgbClr val="5B6573"/>
                </a:solidFill>
                <a:effectLst/>
                <a:uFillTx/>
                <a:latin typeface="Calibri"/>
                <a:ea typeface="Calibri"/>
              </a:rPr>
              <a:t>Built for </a:t>
            </a:r>
            <a:r>
              <a:rPr lang="en-US" sz="1600" b="0" i="1" u="none" strike="noStrike">
                <a:solidFill>
                  <a:srgbClr val="5B6573"/>
                </a:solidFill>
                <a:effectLst/>
                <a:uFillTx/>
                <a:latin typeface="Calibri"/>
                <a:ea typeface="Calibri"/>
              </a:rPr>
              <a:t>speed on big </a:t>
            </a:r>
            <a:r>
              <a:rPr lang="en-US" sz="1600" b="0" i="1" u="none" strike="noStrike">
                <a:solidFill>
                  <a:srgbClr val="5B6573"/>
                </a:solidFill>
                <a:effectLst/>
                <a:uFillTx/>
                <a:latin typeface="Calibri"/>
                <a:ea typeface="Calibri"/>
              </a:rPr>
              <a:t>data: DT[i, j, </a:t>
            </a:r>
            <a:r>
              <a:rPr lang="en-US" sz="1600" b="0" i="1" u="none" strike="noStrike">
                <a:solidFill>
                  <a:srgbClr val="5B6573"/>
                </a:solidFill>
                <a:effectLst/>
                <a:uFillTx/>
                <a:latin typeface="Calibri"/>
                <a:ea typeface="Calibri"/>
              </a:rPr>
              <a:t>by].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7" name="Shape 17"/>
          <p:cNvSpPr/>
          <p:nvPr/>
        </p:nvSpPr>
        <p:spPr>
          <a:xfrm>
            <a:off x="6217920" y="2853000"/>
            <a:ext cx="5482080" cy="434520"/>
          </a:xfrm>
          <a:prstGeom prst="roundRect">
            <a:avLst>
              <a:gd name="adj" fmla="val 12500"/>
            </a:avLst>
          </a:prstGeom>
          <a:solidFill>
            <a:srgbClr val="31618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8" name="Shape 18"/>
          <p:cNvSpPr/>
          <p:nvPr/>
        </p:nvSpPr>
        <p:spPr>
          <a:xfrm>
            <a:off x="6346080" y="2917080"/>
            <a:ext cx="306720" cy="306720"/>
          </a:xfrm>
          <a:prstGeom prst="ellipse">
            <a:avLst/>
          </a:prstGeom>
          <a:solidFill>
            <a:srgbClr val="31618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79" name="Image 3" descr="preencoded.png"/>
          <p:cNvPicPr/>
          <p:nvPr/>
        </p:nvPicPr>
        <p:blipFill>
          <a:blip r:embed="rId4"/>
          <a:stretch/>
        </p:blipFill>
        <p:spPr>
          <a:xfrm>
            <a:off x="6401880" y="2972880"/>
            <a:ext cx="194760" cy="194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80" name="Text 19"/>
          <p:cNvSpPr/>
          <p:nvPr/>
        </p:nvSpPr>
        <p:spPr>
          <a:xfrm>
            <a:off x="6748200" y="2853000"/>
            <a:ext cx="4842000" cy="43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In Python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1" name="Shape 20"/>
          <p:cNvSpPr/>
          <p:nvPr/>
        </p:nvSpPr>
        <p:spPr>
          <a:xfrm>
            <a:off x="6217920" y="3401640"/>
            <a:ext cx="5482080" cy="955800"/>
          </a:xfrm>
          <a:prstGeom prst="roundRect">
            <a:avLst>
              <a:gd name="adj" fmla="val 5714"/>
            </a:avLst>
          </a:prstGeom>
          <a:solidFill>
            <a:srgbClr val="FBF1E1"/>
          </a:solidFill>
          <a:ln w="9525">
            <a:solidFill>
              <a:srgbClr val="E1E7EC"/>
            </a:solidFill>
            <a:round/>
          </a:ln>
          <a:effectLst>
            <a:outerShdw algn="bl" blurRad="63360" dir="5400000" dist="25560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2" name="Text 21"/>
          <p:cNvSpPr/>
          <p:nvPr/>
        </p:nvSpPr>
        <p:spPr>
          <a:xfrm>
            <a:off x="6400800" y="3493080"/>
            <a:ext cx="5116320" cy="36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1E2A44"/>
                </a:solidFill>
                <a:effectLst/>
                <a:uFillTx/>
                <a:latin typeface="Courier New"/>
                <a:ea typeface="Courier New"/>
              </a:rPr>
              <a:t>pandas.DataFrame   </a:t>
            </a:r>
            <a:r>
              <a:rPr lang="en-US" sz="1300" b="0" u="none" strike="noStrike">
                <a:solidFill>
                  <a:srgbClr val="7A4E12"/>
                </a:solidFill>
                <a:effectLst/>
                <a:uFillTx/>
                <a:latin typeface="Courier New"/>
                <a:ea typeface="Courier New"/>
              </a:rPr>
              <a:t>pd.DataFrame(…)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3" name="Text 22"/>
          <p:cNvSpPr/>
          <p:nvPr/>
        </p:nvSpPr>
        <p:spPr>
          <a:xfrm>
            <a:off x="6400800" y="3904560"/>
            <a:ext cx="5116320" cy="388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i="1" u="none" strike="noStrike">
                <a:solidFill>
                  <a:srgbClr val="5B6573"/>
                </a:solidFill>
                <a:effectLst/>
                <a:uFillTx/>
                <a:latin typeface="Calibri"/>
                <a:ea typeface="Calibri"/>
              </a:rPr>
              <a:t>The everyday Python table — matches all three at left.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4" name="Shape 23"/>
          <p:cNvSpPr/>
          <p:nvPr/>
        </p:nvSpPr>
        <p:spPr>
          <a:xfrm>
            <a:off x="6217920" y="4471560"/>
            <a:ext cx="5482080" cy="955800"/>
          </a:xfrm>
          <a:prstGeom prst="roundRect">
            <a:avLst>
              <a:gd name="adj" fmla="val 5714"/>
            </a:avLst>
          </a:prstGeom>
          <a:solidFill>
            <a:srgbClr val="FBF1E1"/>
          </a:solidFill>
          <a:ln w="9525">
            <a:solidFill>
              <a:srgbClr val="E1E7EC"/>
            </a:solidFill>
            <a:round/>
          </a:ln>
          <a:effectLst>
            <a:outerShdw algn="bl" blurRad="63360" dir="5400000" dist="25560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5" name="Text 24"/>
          <p:cNvSpPr/>
          <p:nvPr/>
        </p:nvSpPr>
        <p:spPr>
          <a:xfrm>
            <a:off x="6400800" y="4563000"/>
            <a:ext cx="5116320" cy="36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1E2A44"/>
                </a:solidFill>
                <a:effectLst/>
                <a:uFillTx/>
                <a:latin typeface="Courier New"/>
                <a:ea typeface="Courier New"/>
              </a:rPr>
              <a:t>polars.DataFrame   </a:t>
            </a:r>
            <a:r>
              <a:rPr lang="en-US" sz="1300" b="0" u="none" strike="noStrike">
                <a:solidFill>
                  <a:srgbClr val="7A4E12"/>
                </a:solidFill>
                <a:effectLst/>
                <a:uFillTx/>
                <a:latin typeface="Courier New"/>
                <a:ea typeface="Courier New"/>
              </a:rPr>
              <a:t>pl.DataFrame(…)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6" name="Text 25"/>
          <p:cNvSpPr/>
          <p:nvPr/>
        </p:nvSpPr>
        <p:spPr>
          <a:xfrm>
            <a:off x="6400800" y="4974480"/>
            <a:ext cx="5116320" cy="388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i="1" u="none" strike="noStrike">
                <a:solidFill>
                  <a:srgbClr val="5B6573"/>
                </a:solidFill>
                <a:effectLst/>
                <a:uFillTx/>
                <a:latin typeface="Calibri"/>
                <a:ea typeface="Calibri"/>
              </a:rPr>
              <a:t>Fast, modern — Python’s answer to R’s data.table.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7" name="Shape 26"/>
          <p:cNvSpPr/>
          <p:nvPr/>
        </p:nvSpPr>
        <p:spPr>
          <a:xfrm>
            <a:off x="6217920" y="5541120"/>
            <a:ext cx="5482080" cy="955800"/>
          </a:xfrm>
          <a:prstGeom prst="roundRect">
            <a:avLst>
              <a:gd name="adj" fmla="val 5714"/>
            </a:avLst>
          </a:prstGeom>
          <a:solidFill>
            <a:srgbClr val="FEF6E7"/>
          </a:solidFill>
          <a:ln w="9525">
            <a:solidFill>
              <a:srgbClr val="F0DDB6"/>
            </a:solidFill>
            <a:round/>
          </a:ln>
          <a:effectLst>
            <a:outerShdw algn="bl" blurRad="63360" dir="5400000" dist="25560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8" name="Text 27"/>
          <p:cNvSpPr/>
          <p:nvPr/>
        </p:nvSpPr>
        <p:spPr>
          <a:xfrm>
            <a:off x="6400800" y="5541120"/>
            <a:ext cx="5116320" cy="95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C97E1A"/>
                </a:solidFill>
                <a:effectLst/>
                <a:uFillTx/>
                <a:latin typeface="Calibri"/>
                <a:ea typeface="Calibri"/>
              </a:rPr>
              <a:t>Rule of thumb:  </a:t>
            </a:r>
            <a:r>
              <a:rPr lang="en-US" sz="1400" b="0" u="none" strike="noStrike">
                <a:solidFill>
                  <a:srgbClr val="13315C"/>
                </a:solidFill>
                <a:effectLst/>
                <a:uFillTx/>
                <a:latin typeface="Courier New"/>
                <a:ea typeface="Courier New"/>
              </a:rPr>
              <a:t>data.frame</a:t>
            </a:r>
            <a:r>
              <a:rPr lang="en-US" sz="1400" b="0" u="none" strike="noStrike">
                <a:solidFill>
                  <a:srgbClr val="374151"/>
                </a:solidFill>
                <a:effectLst/>
                <a:uFillTx/>
                <a:latin typeface="Calibri"/>
                <a:ea typeface="Calibri"/>
              </a:rPr>
              <a:t> / </a:t>
            </a:r>
            <a:r>
              <a:rPr lang="en-US" sz="1400" b="0" u="none" strike="noStrike">
                <a:solidFill>
                  <a:srgbClr val="13315C"/>
                </a:solidFill>
                <a:effectLst/>
                <a:uFillTx/>
                <a:latin typeface="Courier New"/>
                <a:ea typeface="Courier New"/>
              </a:rPr>
              <a:t>tibble</a:t>
            </a:r>
            <a:r>
              <a:rPr lang="en-US" sz="1400" b="1" u="none" strike="noStrike">
                <a:solidFill>
                  <a:srgbClr val="374151"/>
                </a:solidFill>
                <a:effectLst/>
                <a:uFillTx/>
                <a:latin typeface="Calibri"/>
                <a:ea typeface="Calibri"/>
              </a:rPr>
              <a:t> ≈ </a:t>
            </a:r>
            <a:r>
              <a:rPr lang="en-US" sz="1400" b="0" u="none" strike="noStrike">
                <a:solidFill>
                  <a:srgbClr val="7A4E12"/>
                </a:solidFill>
                <a:effectLst/>
                <a:uFillTx/>
                <a:latin typeface="Courier New"/>
                <a:ea typeface="Courier New"/>
              </a:rPr>
              <a:t>pandas</a:t>
            </a:r>
            <a:r>
              <a:rPr lang="en-US" sz="1400" b="0" u="none" strike="noStrike">
                <a:solidFill>
                  <a:srgbClr val="374151"/>
                </a:solidFill>
                <a:effectLst/>
                <a:uFillTx/>
                <a:latin typeface="Calibri"/>
                <a:ea typeface="Calibri"/>
              </a:rPr>
              <a:t>,  </a:t>
            </a:r>
            <a:r>
              <a:rPr lang="en-US" sz="1400" b="0" u="none" strike="noStrike">
                <a:solidFill>
                  <a:srgbClr val="13315C"/>
                </a:solidFill>
                <a:effectLst/>
                <a:uFillTx/>
                <a:latin typeface="Courier New"/>
                <a:ea typeface="Courier New"/>
              </a:rPr>
              <a:t>data.table</a:t>
            </a:r>
            <a:r>
              <a:rPr lang="en-US" sz="1400" b="1" u="none" strike="noStrike">
                <a:solidFill>
                  <a:srgbClr val="374151"/>
                </a:solidFill>
                <a:effectLst/>
                <a:uFillTx/>
                <a:latin typeface="Calibri"/>
                <a:ea typeface="Calibri"/>
              </a:rPr>
              <a:t> ≈ </a:t>
            </a:r>
            <a:r>
              <a:rPr lang="en-US" sz="1400" b="0" u="none" strike="noStrike">
                <a:solidFill>
                  <a:srgbClr val="7A4E12"/>
                </a:solidFill>
                <a:effectLst/>
                <a:uFillTx/>
                <a:latin typeface="Courier New"/>
                <a:ea typeface="Courier New"/>
              </a:rPr>
              <a:t>polars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9" name="Text 28"/>
          <p:cNvSpPr/>
          <p:nvPr/>
        </p:nvSpPr>
        <p:spPr>
          <a:xfrm>
            <a:off x="10881360" y="6537960"/>
            <a:ext cx="818640" cy="22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9AA3AD"/>
                </a:solidFill>
                <a:effectLst/>
                <a:uFillTx/>
                <a:latin typeface="Calibri"/>
                <a:ea typeface="Calibri"/>
              </a:rPr>
              <a:t>3 / 6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Text 0"/>
          <p:cNvSpPr/>
          <p:nvPr/>
        </p:nvSpPr>
        <p:spPr>
          <a:xfrm>
            <a:off x="457200" y="274320"/>
            <a:ext cx="10328400" cy="49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1E2A44"/>
                </a:solidFill>
                <a:effectLst/>
                <a:uFillTx/>
                <a:latin typeface="Cambria"/>
                <a:ea typeface="Cambria"/>
              </a:rPr>
              <a:t>4 · Selecting Columns &amp; Rows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1" name="Text 1"/>
          <p:cNvSpPr/>
          <p:nvPr/>
        </p:nvSpPr>
        <p:spPr>
          <a:xfrm>
            <a:off x="457200" y="822960"/>
            <a:ext cx="10419840" cy="30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i="1" u="none" strike="noStrike">
                <a:solidFill>
                  <a:srgbClr val="5B6573"/>
                </a:solidFill>
                <a:effectLst/>
                <a:uFillTx/>
                <a:latin typeface="Calibri"/>
                <a:ea typeface="Calibri"/>
              </a:rPr>
              <a:t>The two most common moves — pick the columns you want, keep the rows you want.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2" name="Shape 2"/>
          <p:cNvSpPr/>
          <p:nvPr/>
        </p:nvSpPr>
        <p:spPr>
          <a:xfrm>
            <a:off x="11036880" y="311040"/>
            <a:ext cx="379800" cy="379800"/>
          </a:xfrm>
          <a:prstGeom prst="ellipse">
            <a:avLst/>
          </a:prstGeom>
          <a:solidFill>
            <a:srgbClr val="276DC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93" name="Image 0" descr="preencoded.png"/>
          <p:cNvPicPr/>
          <p:nvPr/>
        </p:nvPicPr>
        <p:blipFill>
          <a:blip r:embed="rId1"/>
          <a:stretch/>
        </p:blipFill>
        <p:spPr>
          <a:xfrm>
            <a:off x="11106000" y="380160"/>
            <a:ext cx="241560" cy="241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94" name="Shape 3"/>
          <p:cNvSpPr/>
          <p:nvPr/>
        </p:nvSpPr>
        <p:spPr>
          <a:xfrm>
            <a:off x="11494080" y="311040"/>
            <a:ext cx="379800" cy="379800"/>
          </a:xfrm>
          <a:prstGeom prst="ellipse">
            <a:avLst/>
          </a:prstGeom>
          <a:solidFill>
            <a:srgbClr val="31618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95" name="Image 1" descr="preencoded.png"/>
          <p:cNvPicPr/>
          <p:nvPr/>
        </p:nvPicPr>
        <p:blipFill>
          <a:blip r:embed="rId2"/>
          <a:stretch/>
        </p:blipFill>
        <p:spPr>
          <a:xfrm>
            <a:off x="11563200" y="380160"/>
            <a:ext cx="241560" cy="241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96" name="Shape 4"/>
          <p:cNvSpPr/>
          <p:nvPr/>
        </p:nvSpPr>
        <p:spPr>
          <a:xfrm>
            <a:off x="457200" y="1280160"/>
            <a:ext cx="11242800" cy="2391480"/>
          </a:xfrm>
          <a:prstGeom prst="roundRect">
            <a:avLst>
              <a:gd name="adj" fmla="val 2290"/>
            </a:avLst>
          </a:prstGeom>
          <a:solidFill>
            <a:srgbClr val="F8FAFB"/>
          </a:solidFill>
          <a:ln w="9525">
            <a:solidFill>
              <a:srgbClr val="E1E7EC"/>
            </a:solidFill>
            <a:round/>
          </a:ln>
          <a:effectLst>
            <a:outerShdw algn="bl" blurRad="63360" dir="5400000" dist="25560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7" name="Shape 5"/>
          <p:cNvSpPr/>
          <p:nvPr/>
        </p:nvSpPr>
        <p:spPr>
          <a:xfrm>
            <a:off x="731520" y="1463040"/>
            <a:ext cx="452880" cy="452880"/>
          </a:xfrm>
          <a:prstGeom prst="ellipse">
            <a:avLst/>
          </a:prstGeom>
          <a:solidFill>
            <a:srgbClr val="276DC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98" name="Image 2" descr="preencoded.png"/>
          <p:cNvPicPr/>
          <p:nvPr/>
        </p:nvPicPr>
        <p:blipFill>
          <a:blip r:embed="rId3"/>
          <a:stretch/>
        </p:blipFill>
        <p:spPr>
          <a:xfrm>
            <a:off x="834480" y="1566000"/>
            <a:ext cx="247320" cy="247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99" name="Text 6"/>
          <p:cNvSpPr/>
          <p:nvPr/>
        </p:nvSpPr>
        <p:spPr>
          <a:xfrm>
            <a:off x="1353240" y="1463040"/>
            <a:ext cx="10145520" cy="45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900" b="1" u="none" strike="noStrike">
                <a:solidFill>
                  <a:srgbClr val="1E2A44"/>
                </a:solidFill>
                <a:effectLst/>
                <a:uFillTx/>
                <a:latin typeface="Calibri"/>
                <a:ea typeface="Calibri"/>
              </a:rPr>
              <a:t>Select columns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0" name="Shape 7"/>
          <p:cNvSpPr/>
          <p:nvPr/>
        </p:nvSpPr>
        <p:spPr>
          <a:xfrm>
            <a:off x="768240" y="2048400"/>
            <a:ext cx="398160" cy="398160"/>
          </a:xfrm>
          <a:prstGeom prst="ellipse">
            <a:avLst/>
          </a:prstGeom>
          <a:solidFill>
            <a:srgbClr val="276DC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01" name="Image 3" descr="preencoded.png"/>
          <p:cNvPicPr/>
          <p:nvPr/>
        </p:nvPicPr>
        <p:blipFill>
          <a:blip r:embed="rId4"/>
          <a:stretch/>
        </p:blipFill>
        <p:spPr>
          <a:xfrm>
            <a:off x="840600" y="2120760"/>
            <a:ext cx="253080" cy="253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02" name="Text 8"/>
          <p:cNvSpPr/>
          <p:nvPr/>
        </p:nvSpPr>
        <p:spPr>
          <a:xfrm>
            <a:off x="1280160" y="2048400"/>
            <a:ext cx="910080" cy="39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276DC3"/>
                </a:solidFill>
                <a:effectLst/>
                <a:uFillTx/>
                <a:latin typeface="Calibri"/>
                <a:ea typeface="Calibri"/>
              </a:rPr>
              <a:t>dplyr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3" name="Text 9"/>
          <p:cNvSpPr/>
          <p:nvPr/>
        </p:nvSpPr>
        <p:spPr>
          <a:xfrm>
            <a:off x="2240280" y="2048400"/>
            <a:ext cx="9231120" cy="39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50" b="1" u="none" strike="noStrike">
                <a:solidFill>
                  <a:srgbClr val="13315C"/>
                </a:solidFill>
                <a:effectLst/>
                <a:uFillTx/>
                <a:latin typeface="Courier New"/>
                <a:ea typeface="Courier New"/>
              </a:rPr>
              <a:t>df %&gt;% select(gene, expr)</a:t>
            </a:r>
            <a:endParaRPr lang="en-US" sz="1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4" name="Shape 10"/>
          <p:cNvSpPr/>
          <p:nvPr/>
        </p:nvSpPr>
        <p:spPr>
          <a:xfrm>
            <a:off x="768240" y="2578680"/>
            <a:ext cx="398160" cy="398160"/>
          </a:xfrm>
          <a:prstGeom prst="ellipse">
            <a:avLst/>
          </a:prstGeom>
          <a:solidFill>
            <a:srgbClr val="31618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05" name="Image 4" descr="preencoded.png"/>
          <p:cNvPicPr/>
          <p:nvPr/>
        </p:nvPicPr>
        <p:blipFill>
          <a:blip r:embed="rId5"/>
          <a:stretch/>
        </p:blipFill>
        <p:spPr>
          <a:xfrm>
            <a:off x="840600" y="2651040"/>
            <a:ext cx="253080" cy="253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06" name="Text 11"/>
          <p:cNvSpPr/>
          <p:nvPr/>
        </p:nvSpPr>
        <p:spPr>
          <a:xfrm>
            <a:off x="1280160" y="2578680"/>
            <a:ext cx="910080" cy="39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31618A"/>
                </a:solidFill>
                <a:effectLst/>
                <a:uFillTx/>
                <a:latin typeface="Calibri"/>
                <a:ea typeface="Calibri"/>
              </a:rPr>
              <a:t>pandas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7" name="Text 12"/>
          <p:cNvSpPr/>
          <p:nvPr/>
        </p:nvSpPr>
        <p:spPr>
          <a:xfrm>
            <a:off x="2240280" y="2578680"/>
            <a:ext cx="9231120" cy="39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50" b="1" u="none" strike="noStrike">
                <a:solidFill>
                  <a:srgbClr val="7A4E12"/>
                </a:solidFill>
                <a:effectLst/>
                <a:uFillTx/>
                <a:latin typeface="Courier New"/>
                <a:ea typeface="Courier New"/>
              </a:rPr>
              <a:t>df[["gene", "expr"]]</a:t>
            </a:r>
            <a:endParaRPr lang="en-US" sz="1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8" name="Text 13"/>
          <p:cNvSpPr/>
          <p:nvPr/>
        </p:nvSpPr>
        <p:spPr>
          <a:xfrm>
            <a:off x="786240" y="3090600"/>
            <a:ext cx="10602720" cy="2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i="1" u="none" strike="noStrike">
                <a:solidFill>
                  <a:srgbClr val="5B6573"/>
                </a:solidFill>
                <a:effectLst/>
                <a:uFillTx/>
                <a:latin typeface="Calibri"/>
                <a:ea typeface="Calibri"/>
              </a:rPr>
              <a:t>Keep only the columns you name.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9" name="Text 14"/>
          <p:cNvSpPr/>
          <p:nvPr/>
        </p:nvSpPr>
        <p:spPr>
          <a:xfrm>
            <a:off x="786240" y="3383280"/>
            <a:ext cx="10602720" cy="27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8A94A0"/>
                </a:solidFill>
                <a:effectLst/>
                <a:uFillTx/>
                <a:latin typeface="Calibri"/>
                <a:ea typeface="Calibri"/>
              </a:rPr>
              <a:t>polars   </a:t>
            </a:r>
            <a:r>
              <a:rPr lang="en-US" sz="1400" b="0" u="none" strike="noStrike">
                <a:solidFill>
                  <a:srgbClr val="8A94A0"/>
                </a:solidFill>
                <a:effectLst/>
                <a:uFillTx/>
                <a:latin typeface="Courier New"/>
                <a:ea typeface="Courier New"/>
              </a:rPr>
              <a:t>df.select("gene", "expr")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0" name="Shape 15"/>
          <p:cNvSpPr/>
          <p:nvPr/>
        </p:nvSpPr>
        <p:spPr>
          <a:xfrm>
            <a:off x="457200" y="3822120"/>
            <a:ext cx="11242800" cy="2391480"/>
          </a:xfrm>
          <a:prstGeom prst="roundRect">
            <a:avLst>
              <a:gd name="adj" fmla="val 2290"/>
            </a:avLst>
          </a:prstGeom>
          <a:solidFill>
            <a:srgbClr val="F8FAFB"/>
          </a:solidFill>
          <a:ln w="9525">
            <a:solidFill>
              <a:srgbClr val="E1E7EC"/>
            </a:solidFill>
            <a:round/>
          </a:ln>
          <a:effectLst>
            <a:outerShdw algn="bl" blurRad="63360" dir="5400000" dist="25560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1" name="Shape 16"/>
          <p:cNvSpPr/>
          <p:nvPr/>
        </p:nvSpPr>
        <p:spPr>
          <a:xfrm>
            <a:off x="731520" y="4005000"/>
            <a:ext cx="452880" cy="452880"/>
          </a:xfrm>
          <a:prstGeom prst="ellipse">
            <a:avLst/>
          </a:prstGeom>
          <a:solidFill>
            <a:srgbClr val="1F7A4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12" name="Image 5" descr="preencoded.png"/>
          <p:cNvPicPr/>
          <p:nvPr/>
        </p:nvPicPr>
        <p:blipFill>
          <a:blip r:embed="rId6"/>
          <a:stretch/>
        </p:blipFill>
        <p:spPr>
          <a:xfrm>
            <a:off x="834480" y="4107960"/>
            <a:ext cx="247320" cy="247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13" name="Text 17"/>
          <p:cNvSpPr/>
          <p:nvPr/>
        </p:nvSpPr>
        <p:spPr>
          <a:xfrm>
            <a:off x="1353240" y="4005000"/>
            <a:ext cx="10145520" cy="45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900" b="1" u="none" strike="noStrike">
                <a:solidFill>
                  <a:srgbClr val="1E2A44"/>
                </a:solidFill>
                <a:effectLst/>
                <a:uFillTx/>
                <a:latin typeface="Calibri"/>
                <a:ea typeface="Calibri"/>
              </a:rPr>
              <a:t>Select rows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4" name="Shape 18"/>
          <p:cNvSpPr/>
          <p:nvPr/>
        </p:nvSpPr>
        <p:spPr>
          <a:xfrm>
            <a:off x="768240" y="4590360"/>
            <a:ext cx="398160" cy="398160"/>
          </a:xfrm>
          <a:prstGeom prst="ellipse">
            <a:avLst/>
          </a:prstGeom>
          <a:solidFill>
            <a:srgbClr val="276DC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15" name="Image 6" descr="preencoded.png"/>
          <p:cNvPicPr/>
          <p:nvPr/>
        </p:nvPicPr>
        <p:blipFill>
          <a:blip r:embed="rId7"/>
          <a:stretch/>
        </p:blipFill>
        <p:spPr>
          <a:xfrm>
            <a:off x="840600" y="4662720"/>
            <a:ext cx="253080" cy="253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16" name="Text 19"/>
          <p:cNvSpPr/>
          <p:nvPr/>
        </p:nvSpPr>
        <p:spPr>
          <a:xfrm>
            <a:off x="1280160" y="4590360"/>
            <a:ext cx="910080" cy="39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276DC3"/>
                </a:solidFill>
                <a:effectLst/>
                <a:uFillTx/>
                <a:latin typeface="Calibri"/>
                <a:ea typeface="Calibri"/>
              </a:rPr>
              <a:t>dplyr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7" name="Text 20"/>
          <p:cNvSpPr/>
          <p:nvPr/>
        </p:nvSpPr>
        <p:spPr>
          <a:xfrm>
            <a:off x="2240280" y="4590360"/>
            <a:ext cx="9231120" cy="39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50" b="1" u="none" strike="noStrike">
                <a:solidFill>
                  <a:srgbClr val="13315C"/>
                </a:solidFill>
                <a:effectLst/>
                <a:uFillTx/>
                <a:latin typeface="Courier New"/>
                <a:ea typeface="Courier New"/>
              </a:rPr>
              <a:t>df %&gt;% filter(expr &gt; 6)</a:t>
            </a:r>
            <a:endParaRPr lang="en-US" sz="1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8" name="Shape 21"/>
          <p:cNvSpPr/>
          <p:nvPr/>
        </p:nvSpPr>
        <p:spPr>
          <a:xfrm>
            <a:off x="768240" y="5120640"/>
            <a:ext cx="398160" cy="398160"/>
          </a:xfrm>
          <a:prstGeom prst="ellipse">
            <a:avLst/>
          </a:prstGeom>
          <a:solidFill>
            <a:srgbClr val="31618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19" name="Image 7" descr="preencoded.png"/>
          <p:cNvPicPr/>
          <p:nvPr/>
        </p:nvPicPr>
        <p:blipFill>
          <a:blip r:embed="rId8"/>
          <a:stretch/>
        </p:blipFill>
        <p:spPr>
          <a:xfrm>
            <a:off x="840600" y="5193000"/>
            <a:ext cx="253080" cy="253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20" name="Text 22"/>
          <p:cNvSpPr/>
          <p:nvPr/>
        </p:nvSpPr>
        <p:spPr>
          <a:xfrm>
            <a:off x="1280160" y="5120640"/>
            <a:ext cx="910080" cy="39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31618A"/>
                </a:solidFill>
                <a:effectLst/>
                <a:uFillTx/>
                <a:latin typeface="Calibri"/>
                <a:ea typeface="Calibri"/>
              </a:rPr>
              <a:t>pandas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1" name="Text 23"/>
          <p:cNvSpPr/>
          <p:nvPr/>
        </p:nvSpPr>
        <p:spPr>
          <a:xfrm>
            <a:off x="2240280" y="5120640"/>
            <a:ext cx="9231120" cy="39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50" b="1" u="none" strike="noStrike">
                <a:solidFill>
                  <a:srgbClr val="7A4E12"/>
                </a:solidFill>
                <a:effectLst/>
                <a:uFillTx/>
                <a:latin typeface="Courier New"/>
                <a:ea typeface="Courier New"/>
              </a:rPr>
              <a:t>df[df["expr"] &gt; 6]</a:t>
            </a:r>
            <a:endParaRPr lang="en-US" sz="1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2" name="Text 24"/>
          <p:cNvSpPr/>
          <p:nvPr/>
        </p:nvSpPr>
        <p:spPr>
          <a:xfrm>
            <a:off x="786240" y="5632560"/>
            <a:ext cx="10602720" cy="2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i="1" u="none" strike="noStrike">
                <a:solidFill>
                  <a:srgbClr val="5B6573"/>
                </a:solidFill>
                <a:effectLst/>
                <a:uFillTx/>
                <a:latin typeface="Calibri"/>
                <a:ea typeface="Calibri"/>
              </a:rPr>
              <a:t>Keep only the rows that meet a </a:t>
            </a:r>
            <a:r>
              <a:rPr lang="en-US" sz="1600" b="0" i="1" u="none" strike="noStrike">
                <a:solidFill>
                  <a:srgbClr val="5B6573"/>
                </a:solidFill>
                <a:effectLst/>
                <a:uFillTx/>
                <a:latin typeface="Calibri"/>
                <a:ea typeface="Calibri"/>
              </a:rPr>
              <a:t>condition.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3" name="Text 25"/>
          <p:cNvSpPr/>
          <p:nvPr/>
        </p:nvSpPr>
        <p:spPr>
          <a:xfrm>
            <a:off x="786240" y="5925240"/>
            <a:ext cx="10602720" cy="27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8A94A0"/>
                </a:solidFill>
                <a:effectLst/>
                <a:uFillTx/>
                <a:latin typeface="Calibri"/>
                <a:ea typeface="Calibri"/>
              </a:rPr>
              <a:t>polars   </a:t>
            </a:r>
            <a:r>
              <a:rPr lang="en-US" sz="1400" b="0" u="none" strike="noStrike">
                <a:solidFill>
                  <a:srgbClr val="8A94A0"/>
                </a:solidFill>
                <a:effectLst/>
                <a:uFillTx/>
                <a:latin typeface="Courier New"/>
                <a:ea typeface="Courier New"/>
              </a:rPr>
              <a:t>df.filter(pl.col("expr") &gt; 6)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4" name="Text 26"/>
          <p:cNvSpPr/>
          <p:nvPr/>
        </p:nvSpPr>
        <p:spPr>
          <a:xfrm>
            <a:off x="10881360" y="6537960"/>
            <a:ext cx="818640" cy="22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9AA3AD"/>
                </a:solidFill>
                <a:effectLst/>
                <a:uFillTx/>
                <a:latin typeface="Calibri"/>
                <a:ea typeface="Calibri"/>
              </a:rPr>
              <a:t>4 / 6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Text 0"/>
          <p:cNvSpPr/>
          <p:nvPr/>
        </p:nvSpPr>
        <p:spPr>
          <a:xfrm>
            <a:off x="457200" y="274320"/>
            <a:ext cx="10328400" cy="49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1E2A44"/>
                </a:solidFill>
                <a:effectLst/>
                <a:uFillTx/>
                <a:latin typeface="Cambria"/>
                <a:ea typeface="Cambria"/>
              </a:rPr>
              <a:t>5 · Adding &amp; Updating Rows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6" name="Text 1"/>
          <p:cNvSpPr/>
          <p:nvPr/>
        </p:nvSpPr>
        <p:spPr>
          <a:xfrm>
            <a:off x="457200" y="822960"/>
            <a:ext cx="10419840" cy="30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i="1" u="none" strike="noStrike">
                <a:solidFill>
                  <a:srgbClr val="5B6573"/>
                </a:solidFill>
                <a:effectLst/>
                <a:uFillTx/>
                <a:latin typeface="Calibri"/>
                <a:ea typeface="Calibri"/>
              </a:rPr>
              <a:t>Append a new observation, or change a value in an existing row.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7" name="Shape 2"/>
          <p:cNvSpPr/>
          <p:nvPr/>
        </p:nvSpPr>
        <p:spPr>
          <a:xfrm>
            <a:off x="11036880" y="311040"/>
            <a:ext cx="379800" cy="379800"/>
          </a:xfrm>
          <a:prstGeom prst="ellipse">
            <a:avLst/>
          </a:prstGeom>
          <a:solidFill>
            <a:srgbClr val="276DC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28" name="Image 0" descr="preencoded.png"/>
          <p:cNvPicPr/>
          <p:nvPr/>
        </p:nvPicPr>
        <p:blipFill>
          <a:blip r:embed="rId1"/>
          <a:stretch/>
        </p:blipFill>
        <p:spPr>
          <a:xfrm>
            <a:off x="11106000" y="380160"/>
            <a:ext cx="241560" cy="241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29" name="Shape 3"/>
          <p:cNvSpPr/>
          <p:nvPr/>
        </p:nvSpPr>
        <p:spPr>
          <a:xfrm>
            <a:off x="11494080" y="311040"/>
            <a:ext cx="379800" cy="379800"/>
          </a:xfrm>
          <a:prstGeom prst="ellipse">
            <a:avLst/>
          </a:prstGeom>
          <a:solidFill>
            <a:srgbClr val="31618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30" name="Image 1" descr="preencoded.png"/>
          <p:cNvPicPr/>
          <p:nvPr/>
        </p:nvPicPr>
        <p:blipFill>
          <a:blip r:embed="rId2"/>
          <a:stretch/>
        </p:blipFill>
        <p:spPr>
          <a:xfrm>
            <a:off x="11563200" y="380160"/>
            <a:ext cx="241560" cy="241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31" name="Shape 4"/>
          <p:cNvSpPr/>
          <p:nvPr/>
        </p:nvSpPr>
        <p:spPr>
          <a:xfrm>
            <a:off x="457200" y="1280160"/>
            <a:ext cx="11242800" cy="2391480"/>
          </a:xfrm>
          <a:prstGeom prst="roundRect">
            <a:avLst>
              <a:gd name="adj" fmla="val 2290"/>
            </a:avLst>
          </a:prstGeom>
          <a:solidFill>
            <a:srgbClr val="F8FAFB"/>
          </a:solidFill>
          <a:ln w="9525">
            <a:solidFill>
              <a:srgbClr val="E1E7EC"/>
            </a:solidFill>
            <a:round/>
          </a:ln>
          <a:effectLst>
            <a:outerShdw algn="bl" blurRad="63360" dir="5400000" dist="25560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2" name="Shape 5"/>
          <p:cNvSpPr/>
          <p:nvPr/>
        </p:nvSpPr>
        <p:spPr>
          <a:xfrm>
            <a:off x="731520" y="1463040"/>
            <a:ext cx="452880" cy="452880"/>
          </a:xfrm>
          <a:prstGeom prst="ellipse">
            <a:avLst/>
          </a:prstGeom>
          <a:solidFill>
            <a:srgbClr val="276DC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33" name="Image 2" descr="preencoded.png"/>
          <p:cNvPicPr/>
          <p:nvPr/>
        </p:nvPicPr>
        <p:blipFill>
          <a:blip r:embed="rId3"/>
          <a:stretch/>
        </p:blipFill>
        <p:spPr>
          <a:xfrm>
            <a:off x="834480" y="1566000"/>
            <a:ext cx="247320" cy="247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34" name="Text 6"/>
          <p:cNvSpPr/>
          <p:nvPr/>
        </p:nvSpPr>
        <p:spPr>
          <a:xfrm>
            <a:off x="1353240" y="1463040"/>
            <a:ext cx="10145520" cy="45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900" b="1" u="none" strike="noStrike">
                <a:solidFill>
                  <a:srgbClr val="1E2A44"/>
                </a:solidFill>
                <a:effectLst/>
                <a:uFillTx/>
                <a:latin typeface="Calibri"/>
                <a:ea typeface="Calibri"/>
              </a:rPr>
              <a:t>Add a row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5" name="Shape 7"/>
          <p:cNvSpPr/>
          <p:nvPr/>
        </p:nvSpPr>
        <p:spPr>
          <a:xfrm>
            <a:off x="768240" y="2048400"/>
            <a:ext cx="398160" cy="398160"/>
          </a:xfrm>
          <a:prstGeom prst="ellipse">
            <a:avLst/>
          </a:prstGeom>
          <a:solidFill>
            <a:srgbClr val="276DC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36" name="Image 3" descr="preencoded.png"/>
          <p:cNvPicPr/>
          <p:nvPr/>
        </p:nvPicPr>
        <p:blipFill>
          <a:blip r:embed="rId4"/>
          <a:stretch/>
        </p:blipFill>
        <p:spPr>
          <a:xfrm>
            <a:off x="840600" y="2120760"/>
            <a:ext cx="253080" cy="253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37" name="Text 8"/>
          <p:cNvSpPr/>
          <p:nvPr/>
        </p:nvSpPr>
        <p:spPr>
          <a:xfrm>
            <a:off x="1280160" y="2048400"/>
            <a:ext cx="910080" cy="39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276DC3"/>
                </a:solidFill>
                <a:effectLst/>
                <a:uFillTx/>
                <a:latin typeface="Calibri"/>
                <a:ea typeface="Calibri"/>
              </a:rPr>
              <a:t>dplyr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8" name="Text 9"/>
          <p:cNvSpPr/>
          <p:nvPr/>
        </p:nvSpPr>
        <p:spPr>
          <a:xfrm>
            <a:off x="2240280" y="2048400"/>
            <a:ext cx="9231120" cy="39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50" b="1" u="none" strike="noStrike">
                <a:solidFill>
                  <a:srgbClr val="13315C"/>
                </a:solidFill>
                <a:effectLst/>
                <a:uFillTx/>
                <a:latin typeface="Courier New"/>
                <a:ea typeface="Courier New"/>
              </a:rPr>
              <a:t>df %&gt;% add_row(sample="S4", gene="KRAS", expr=7.3)</a:t>
            </a:r>
            <a:endParaRPr lang="en-US" sz="1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9" name="Shape 10"/>
          <p:cNvSpPr/>
          <p:nvPr/>
        </p:nvSpPr>
        <p:spPr>
          <a:xfrm>
            <a:off x="768240" y="2578680"/>
            <a:ext cx="398160" cy="398160"/>
          </a:xfrm>
          <a:prstGeom prst="ellipse">
            <a:avLst/>
          </a:prstGeom>
          <a:solidFill>
            <a:srgbClr val="31618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40" name="Image 4" descr="preencoded.png"/>
          <p:cNvPicPr/>
          <p:nvPr/>
        </p:nvPicPr>
        <p:blipFill>
          <a:blip r:embed="rId5"/>
          <a:stretch/>
        </p:blipFill>
        <p:spPr>
          <a:xfrm>
            <a:off x="840600" y="2651040"/>
            <a:ext cx="253080" cy="253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41" name="Text 11"/>
          <p:cNvSpPr/>
          <p:nvPr/>
        </p:nvSpPr>
        <p:spPr>
          <a:xfrm>
            <a:off x="1280160" y="2578680"/>
            <a:ext cx="910080" cy="39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31618A"/>
                </a:solidFill>
                <a:effectLst/>
                <a:uFillTx/>
                <a:latin typeface="Calibri"/>
                <a:ea typeface="Calibri"/>
              </a:rPr>
              <a:t>pandas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2" name="Text 12"/>
          <p:cNvSpPr/>
          <p:nvPr/>
        </p:nvSpPr>
        <p:spPr>
          <a:xfrm>
            <a:off x="2240280" y="2578680"/>
            <a:ext cx="9231120" cy="39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50" b="1" u="none" strike="noStrike">
                <a:solidFill>
                  <a:srgbClr val="7A4E12"/>
                </a:solidFill>
                <a:effectLst/>
                <a:uFillTx/>
                <a:latin typeface="Courier New"/>
                <a:ea typeface="Courier New"/>
              </a:rPr>
              <a:t>df.loc[len(df)] = ["S4", "KRAS", 7.3]</a:t>
            </a:r>
            <a:endParaRPr lang="en-US" sz="1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3" name="Text 13"/>
          <p:cNvSpPr/>
          <p:nvPr/>
        </p:nvSpPr>
        <p:spPr>
          <a:xfrm>
            <a:off x="786240" y="3090600"/>
            <a:ext cx="10602720" cy="2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i="1" u="none" strike="noStrike">
                <a:solidFill>
                  <a:srgbClr val="5B6573"/>
                </a:solidFill>
                <a:effectLst/>
                <a:uFillTx/>
                <a:latin typeface="Calibri"/>
                <a:ea typeface="Calibri"/>
              </a:rPr>
              <a:t>Append a new observation (sample S4) to the bottom.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4" name="Text 14"/>
          <p:cNvSpPr/>
          <p:nvPr/>
        </p:nvSpPr>
        <p:spPr>
          <a:xfrm>
            <a:off x="786240" y="3383280"/>
            <a:ext cx="10602720" cy="27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8A94A0"/>
                </a:solidFill>
                <a:effectLst/>
                <a:uFillTx/>
                <a:latin typeface="Calibri"/>
                <a:ea typeface="Calibri"/>
              </a:rPr>
              <a:t>polars   </a:t>
            </a:r>
            <a:r>
              <a:rPr lang="en-US" sz="1400" b="0" u="none" strike="noStrike">
                <a:solidFill>
                  <a:srgbClr val="8A94A0"/>
                </a:solidFill>
                <a:effectLst/>
                <a:uFillTx/>
                <a:latin typeface="Courier New"/>
                <a:ea typeface="Courier New"/>
              </a:rPr>
              <a:t>pl.concat([df, df_new])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5" name="Shape 15"/>
          <p:cNvSpPr/>
          <p:nvPr/>
        </p:nvSpPr>
        <p:spPr>
          <a:xfrm>
            <a:off x="457200" y="3822120"/>
            <a:ext cx="11242800" cy="2391480"/>
          </a:xfrm>
          <a:prstGeom prst="roundRect">
            <a:avLst>
              <a:gd name="adj" fmla="val 2290"/>
            </a:avLst>
          </a:prstGeom>
          <a:solidFill>
            <a:srgbClr val="F8FAFB"/>
          </a:solidFill>
          <a:ln w="9525">
            <a:solidFill>
              <a:srgbClr val="E1E7EC"/>
            </a:solidFill>
            <a:round/>
          </a:ln>
          <a:effectLst>
            <a:outerShdw algn="bl" blurRad="63360" dir="5400000" dist="25560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6" name="Shape 16"/>
          <p:cNvSpPr/>
          <p:nvPr/>
        </p:nvSpPr>
        <p:spPr>
          <a:xfrm>
            <a:off x="731520" y="4005000"/>
            <a:ext cx="452880" cy="452880"/>
          </a:xfrm>
          <a:prstGeom prst="ellipse">
            <a:avLst/>
          </a:prstGeom>
          <a:solidFill>
            <a:srgbClr val="B5651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47" name="Image 5" descr="preencoded.png"/>
          <p:cNvPicPr/>
          <p:nvPr/>
        </p:nvPicPr>
        <p:blipFill>
          <a:blip r:embed="rId6"/>
          <a:stretch/>
        </p:blipFill>
        <p:spPr>
          <a:xfrm>
            <a:off x="834480" y="4107960"/>
            <a:ext cx="247320" cy="247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48" name="Text 17"/>
          <p:cNvSpPr/>
          <p:nvPr/>
        </p:nvSpPr>
        <p:spPr>
          <a:xfrm>
            <a:off x="1353240" y="4005000"/>
            <a:ext cx="10145520" cy="45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900" b="1" u="none" strike="noStrike">
                <a:solidFill>
                  <a:srgbClr val="1E2A44"/>
                </a:solidFill>
                <a:effectLst/>
                <a:uFillTx/>
                <a:latin typeface="Calibri"/>
                <a:ea typeface="Calibri"/>
              </a:rPr>
              <a:t>Update a value in a row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9" name="Shape 18"/>
          <p:cNvSpPr/>
          <p:nvPr/>
        </p:nvSpPr>
        <p:spPr>
          <a:xfrm>
            <a:off x="768240" y="4590360"/>
            <a:ext cx="398160" cy="398160"/>
          </a:xfrm>
          <a:prstGeom prst="ellipse">
            <a:avLst/>
          </a:prstGeom>
          <a:solidFill>
            <a:srgbClr val="276DC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50" name="Image 6" descr="preencoded.png"/>
          <p:cNvPicPr/>
          <p:nvPr/>
        </p:nvPicPr>
        <p:blipFill>
          <a:blip r:embed="rId7"/>
          <a:stretch/>
        </p:blipFill>
        <p:spPr>
          <a:xfrm>
            <a:off x="840600" y="4662720"/>
            <a:ext cx="253080" cy="253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51" name="Text 19"/>
          <p:cNvSpPr/>
          <p:nvPr/>
        </p:nvSpPr>
        <p:spPr>
          <a:xfrm>
            <a:off x="1280160" y="4590360"/>
            <a:ext cx="910080" cy="39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276DC3"/>
                </a:solidFill>
                <a:effectLst/>
                <a:uFillTx/>
                <a:latin typeface="Calibri"/>
                <a:ea typeface="Calibri"/>
              </a:rPr>
              <a:t>dplyr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2" name="Text 20"/>
          <p:cNvSpPr/>
          <p:nvPr/>
        </p:nvSpPr>
        <p:spPr>
          <a:xfrm>
            <a:off x="2240280" y="4590360"/>
            <a:ext cx="9231120" cy="39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50" b="1" u="none" strike="noStrike">
                <a:solidFill>
                  <a:srgbClr val="13315C"/>
                </a:solidFill>
                <a:effectLst/>
                <a:uFillTx/>
                <a:latin typeface="Courier New"/>
                <a:ea typeface="Courier New"/>
              </a:rPr>
              <a:t>df %&gt;% mutate(expr = if_else(sample=="S2", 9.0, expr))</a:t>
            </a:r>
            <a:endParaRPr lang="en-US" sz="1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3" name="Shape 21"/>
          <p:cNvSpPr/>
          <p:nvPr/>
        </p:nvSpPr>
        <p:spPr>
          <a:xfrm>
            <a:off x="768240" y="5120640"/>
            <a:ext cx="398160" cy="398160"/>
          </a:xfrm>
          <a:prstGeom prst="ellipse">
            <a:avLst/>
          </a:prstGeom>
          <a:solidFill>
            <a:srgbClr val="31618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54" name="Image 7" descr="preencoded.png"/>
          <p:cNvPicPr/>
          <p:nvPr/>
        </p:nvPicPr>
        <p:blipFill>
          <a:blip r:embed="rId8"/>
          <a:stretch/>
        </p:blipFill>
        <p:spPr>
          <a:xfrm>
            <a:off x="840600" y="5193000"/>
            <a:ext cx="253080" cy="253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55" name="Text 22"/>
          <p:cNvSpPr/>
          <p:nvPr/>
        </p:nvSpPr>
        <p:spPr>
          <a:xfrm>
            <a:off x="1280160" y="5120640"/>
            <a:ext cx="910080" cy="39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31618A"/>
                </a:solidFill>
                <a:effectLst/>
                <a:uFillTx/>
                <a:latin typeface="Calibri"/>
                <a:ea typeface="Calibri"/>
              </a:rPr>
              <a:t>pandas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6" name="Text 23"/>
          <p:cNvSpPr/>
          <p:nvPr/>
        </p:nvSpPr>
        <p:spPr>
          <a:xfrm>
            <a:off x="2240280" y="5120640"/>
            <a:ext cx="9231120" cy="39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50" b="1" u="none" strike="noStrike">
                <a:solidFill>
                  <a:srgbClr val="7A4E12"/>
                </a:solidFill>
                <a:effectLst/>
                <a:uFillTx/>
                <a:latin typeface="Courier New"/>
                <a:ea typeface="Courier New"/>
              </a:rPr>
              <a:t>df.loc[df["sample"] == "S2", "expr"] = 9.0</a:t>
            </a:r>
            <a:endParaRPr lang="en-US" sz="1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7" name="Text 24"/>
          <p:cNvSpPr/>
          <p:nvPr/>
        </p:nvSpPr>
        <p:spPr>
          <a:xfrm>
            <a:off x="786240" y="5632560"/>
            <a:ext cx="10602720" cy="2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i="1" u="none" strike="noStrike">
                <a:solidFill>
                  <a:srgbClr val="5B6573"/>
                </a:solidFill>
                <a:effectLst/>
                <a:uFillTx/>
                <a:latin typeface="Calibri"/>
                <a:ea typeface="Calibri"/>
              </a:rPr>
              <a:t>Change a cell where a condition holds (set S2’s expr to 9.0).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8" name="Text 25"/>
          <p:cNvSpPr/>
          <p:nvPr/>
        </p:nvSpPr>
        <p:spPr>
          <a:xfrm>
            <a:off x="786240" y="5925240"/>
            <a:ext cx="10602720" cy="27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8A94A0"/>
                </a:solidFill>
                <a:effectLst/>
                <a:uFillTx/>
                <a:latin typeface="Calibri"/>
                <a:ea typeface="Calibri"/>
              </a:rPr>
              <a:t>polars   </a:t>
            </a:r>
            <a:r>
              <a:rPr lang="en-US" sz="1250" b="0" u="none" strike="noStrike">
                <a:solidFill>
                  <a:srgbClr val="8A94A0"/>
                </a:solidFill>
                <a:effectLst/>
                <a:uFillTx/>
                <a:latin typeface="Courier New"/>
                <a:ea typeface="Courier New"/>
              </a:rPr>
              <a:t>df.with_columns(pl.when(pl.col("sample")=="S2").then(9.0).otherwise(pl.col("expr")).alias("expr"))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9" name="Text 26"/>
          <p:cNvSpPr/>
          <p:nvPr/>
        </p:nvSpPr>
        <p:spPr>
          <a:xfrm>
            <a:off x="10881360" y="6537960"/>
            <a:ext cx="818640" cy="22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9AA3AD"/>
                </a:solidFill>
                <a:effectLst/>
                <a:uFillTx/>
                <a:latin typeface="Calibri"/>
                <a:ea typeface="Calibri"/>
              </a:rPr>
              <a:t>5 / 6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Text 0"/>
          <p:cNvSpPr/>
          <p:nvPr/>
        </p:nvSpPr>
        <p:spPr>
          <a:xfrm>
            <a:off x="457200" y="274320"/>
            <a:ext cx="10328400" cy="49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1E2A44"/>
                </a:solidFill>
                <a:effectLst/>
                <a:uFillTx/>
                <a:latin typeface="Cambria"/>
                <a:ea typeface="Cambria"/>
              </a:rPr>
              <a:t>Backup Slides: The Older Base R Way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1" name="Text 1"/>
          <p:cNvSpPr/>
          <p:nvPr/>
        </p:nvSpPr>
        <p:spPr>
          <a:xfrm>
            <a:off x="457200" y="822960"/>
            <a:ext cx="10419840" cy="30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i="1" u="none" strike="noStrike">
                <a:solidFill>
                  <a:srgbClr val="5B6573"/>
                </a:solidFill>
                <a:effectLst/>
                <a:uFillTx/>
                <a:latin typeface="Calibri"/>
                <a:ea typeface="Calibri"/>
              </a:rPr>
              <a:t>Same operations without the tidyverse — worth recognizing in older code.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2" name="Shape 2"/>
          <p:cNvSpPr/>
          <p:nvPr/>
        </p:nvSpPr>
        <p:spPr>
          <a:xfrm>
            <a:off x="11036880" y="311040"/>
            <a:ext cx="379800" cy="379800"/>
          </a:xfrm>
          <a:prstGeom prst="ellipse">
            <a:avLst/>
          </a:prstGeom>
          <a:solidFill>
            <a:srgbClr val="276DC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63" name="Image 0" descr="preencoded.png"/>
          <p:cNvPicPr/>
          <p:nvPr/>
        </p:nvPicPr>
        <p:blipFill>
          <a:blip r:embed="rId1"/>
          <a:stretch/>
        </p:blipFill>
        <p:spPr>
          <a:xfrm>
            <a:off x="11106000" y="380160"/>
            <a:ext cx="241560" cy="241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64" name="Shape 3"/>
          <p:cNvSpPr/>
          <p:nvPr/>
        </p:nvSpPr>
        <p:spPr>
          <a:xfrm>
            <a:off x="11494080" y="311040"/>
            <a:ext cx="379800" cy="379800"/>
          </a:xfrm>
          <a:prstGeom prst="ellipse">
            <a:avLst/>
          </a:prstGeom>
          <a:solidFill>
            <a:srgbClr val="31618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65" name="Image 1" descr="preencoded.png"/>
          <p:cNvPicPr/>
          <p:nvPr/>
        </p:nvPicPr>
        <p:blipFill>
          <a:blip r:embed="rId2"/>
          <a:stretch/>
        </p:blipFill>
        <p:spPr>
          <a:xfrm>
            <a:off x="11563200" y="380160"/>
            <a:ext cx="241560" cy="241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66" name="Shape 4"/>
          <p:cNvSpPr/>
          <p:nvPr/>
        </p:nvSpPr>
        <p:spPr>
          <a:xfrm>
            <a:off x="10104120" y="841320"/>
            <a:ext cx="910080" cy="306720"/>
          </a:xfrm>
          <a:prstGeom prst="roundRect">
            <a:avLst>
              <a:gd name="adj" fmla="val 14706"/>
            </a:avLst>
          </a:prstGeom>
          <a:solidFill>
            <a:srgbClr val="6474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7" name="Text 5"/>
          <p:cNvSpPr/>
          <p:nvPr/>
        </p:nvSpPr>
        <p:spPr>
          <a:xfrm>
            <a:off x="10104120" y="841320"/>
            <a:ext cx="910080" cy="30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BACKUP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8" name="Shape 6"/>
          <p:cNvSpPr/>
          <p:nvPr/>
        </p:nvSpPr>
        <p:spPr>
          <a:xfrm>
            <a:off x="457200" y="1298520"/>
            <a:ext cx="11242800" cy="1216440"/>
          </a:xfrm>
          <a:prstGeom prst="roundRect">
            <a:avLst>
              <a:gd name="adj" fmla="val 4494"/>
            </a:avLst>
          </a:prstGeom>
          <a:solidFill>
            <a:srgbClr val="EDF3FB"/>
          </a:solidFill>
          <a:ln w="9525">
            <a:solidFill>
              <a:srgbClr val="E1E7EC"/>
            </a:solidFill>
            <a:round/>
          </a:ln>
          <a:effectLst>
            <a:outerShdw algn="bl" blurRad="63360" dir="5400000" dist="25560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9" name="Shape 7"/>
          <p:cNvSpPr/>
          <p:nvPr/>
        </p:nvSpPr>
        <p:spPr>
          <a:xfrm>
            <a:off x="731520" y="1698480"/>
            <a:ext cx="416160" cy="416160"/>
          </a:xfrm>
          <a:prstGeom prst="ellipse">
            <a:avLst/>
          </a:prstGeom>
          <a:solidFill>
            <a:srgbClr val="276DC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70" name="Image 2" descr="preencoded.png"/>
          <p:cNvPicPr/>
          <p:nvPr/>
        </p:nvPicPr>
        <p:blipFill>
          <a:blip r:embed="rId3"/>
          <a:stretch/>
        </p:blipFill>
        <p:spPr>
          <a:xfrm>
            <a:off x="807120" y="1774080"/>
            <a:ext cx="264960" cy="264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71" name="Text 8"/>
          <p:cNvSpPr/>
          <p:nvPr/>
        </p:nvSpPr>
        <p:spPr>
          <a:xfrm>
            <a:off x="1325880" y="1417320"/>
            <a:ext cx="10145520" cy="30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50" b="1" u="none" strike="noStrike">
                <a:solidFill>
                  <a:srgbClr val="1E2A44"/>
                </a:solidFill>
                <a:effectLst/>
                <a:uFillTx/>
                <a:latin typeface="Calibri"/>
                <a:ea typeface="Calibri"/>
              </a:rPr>
              <a:t>Select columns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2" name="Text 9"/>
          <p:cNvSpPr/>
          <p:nvPr/>
        </p:nvSpPr>
        <p:spPr>
          <a:xfrm>
            <a:off x="1325880" y="1755720"/>
            <a:ext cx="10145520" cy="37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13315C"/>
                </a:solidFill>
                <a:effectLst/>
                <a:uFillTx/>
                <a:latin typeface="Courier New"/>
                <a:ea typeface="Courier New"/>
              </a:rPr>
              <a:t>df[, c("gene", </a:t>
            </a:r>
            <a:r>
              <a:rPr lang="en-US" sz="1800" b="1" u="none" strike="noStrike">
                <a:solidFill>
                  <a:srgbClr val="13315C"/>
                </a:solidFill>
                <a:effectLst/>
                <a:uFillTx/>
                <a:latin typeface="Courier New"/>
                <a:ea typeface="Courier New"/>
              </a:rPr>
              <a:t>"expr")]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3" name="Text 10"/>
          <p:cNvSpPr/>
          <p:nvPr/>
        </p:nvSpPr>
        <p:spPr>
          <a:xfrm>
            <a:off x="1325880" y="2167200"/>
            <a:ext cx="10145520" cy="27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i="1" u="none" strike="noStrike">
                <a:solidFill>
                  <a:srgbClr val="5B6573"/>
                </a:solidFill>
                <a:effectLst/>
                <a:uFillTx/>
                <a:latin typeface="Calibri"/>
                <a:ea typeface="Calibri"/>
              </a:rPr>
              <a:t>Add drop=FALSE to guarantee it stays a data.frame.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4" name="Shape 11"/>
          <p:cNvSpPr/>
          <p:nvPr/>
        </p:nvSpPr>
        <p:spPr>
          <a:xfrm>
            <a:off x="457200" y="2629080"/>
            <a:ext cx="11242800" cy="1216440"/>
          </a:xfrm>
          <a:prstGeom prst="roundRect">
            <a:avLst>
              <a:gd name="adj" fmla="val 4494"/>
            </a:avLst>
          </a:prstGeom>
          <a:solidFill>
            <a:srgbClr val="EDF3FB"/>
          </a:solidFill>
          <a:ln w="9525">
            <a:solidFill>
              <a:srgbClr val="E1E7EC"/>
            </a:solidFill>
            <a:round/>
          </a:ln>
          <a:effectLst>
            <a:outerShdw algn="bl" blurRad="63360" dir="5400000" dist="25560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5" name="Shape 12"/>
          <p:cNvSpPr/>
          <p:nvPr/>
        </p:nvSpPr>
        <p:spPr>
          <a:xfrm>
            <a:off x="731520" y="3029040"/>
            <a:ext cx="416160" cy="416160"/>
          </a:xfrm>
          <a:prstGeom prst="ellipse">
            <a:avLst/>
          </a:prstGeom>
          <a:solidFill>
            <a:srgbClr val="276DC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76" name="Image 3" descr="preencoded.png"/>
          <p:cNvPicPr/>
          <p:nvPr/>
        </p:nvPicPr>
        <p:blipFill>
          <a:blip r:embed="rId4"/>
          <a:stretch/>
        </p:blipFill>
        <p:spPr>
          <a:xfrm>
            <a:off x="807120" y="3104640"/>
            <a:ext cx="264960" cy="264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77" name="Text 13"/>
          <p:cNvSpPr/>
          <p:nvPr/>
        </p:nvSpPr>
        <p:spPr>
          <a:xfrm>
            <a:off x="1325880" y="2747880"/>
            <a:ext cx="10145520" cy="30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50" b="1" u="none" strike="noStrike">
                <a:solidFill>
                  <a:srgbClr val="1E2A44"/>
                </a:solidFill>
                <a:effectLst/>
                <a:uFillTx/>
                <a:latin typeface="Calibri"/>
                <a:ea typeface="Calibri"/>
              </a:rPr>
              <a:t>Select rows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8" name="Text 14"/>
          <p:cNvSpPr/>
          <p:nvPr/>
        </p:nvSpPr>
        <p:spPr>
          <a:xfrm>
            <a:off x="1325880" y="3086280"/>
            <a:ext cx="10145520" cy="37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13315C"/>
                </a:solidFill>
                <a:effectLst/>
                <a:uFillTx/>
                <a:latin typeface="Courier New"/>
                <a:ea typeface="Courier New"/>
              </a:rPr>
              <a:t>df[df$expr &gt; 6, ]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9" name="Text 15"/>
          <p:cNvSpPr/>
          <p:nvPr/>
        </p:nvSpPr>
        <p:spPr>
          <a:xfrm>
            <a:off x="1325880" y="3497760"/>
            <a:ext cx="10145520" cy="27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i="1" u="none" strike="noStrike">
                <a:solidFill>
                  <a:srgbClr val="5B6573"/>
                </a:solidFill>
                <a:effectLst/>
                <a:uFillTx/>
                <a:latin typeface="Calibri"/>
                <a:ea typeface="Calibri"/>
              </a:rPr>
              <a:t>Mind the trailing comma — it means “all columns.”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0" name="Shape 16"/>
          <p:cNvSpPr/>
          <p:nvPr/>
        </p:nvSpPr>
        <p:spPr>
          <a:xfrm>
            <a:off x="457200" y="3959280"/>
            <a:ext cx="11242800" cy="1216440"/>
          </a:xfrm>
          <a:prstGeom prst="roundRect">
            <a:avLst>
              <a:gd name="adj" fmla="val 4494"/>
            </a:avLst>
          </a:prstGeom>
          <a:solidFill>
            <a:srgbClr val="EDF3FB"/>
          </a:solidFill>
          <a:ln w="9525">
            <a:solidFill>
              <a:srgbClr val="E1E7EC"/>
            </a:solidFill>
            <a:round/>
          </a:ln>
          <a:effectLst>
            <a:outerShdw algn="bl" blurRad="63360" dir="5400000" dist="25560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1" name="Shape 17"/>
          <p:cNvSpPr/>
          <p:nvPr/>
        </p:nvSpPr>
        <p:spPr>
          <a:xfrm>
            <a:off x="731520" y="4359240"/>
            <a:ext cx="416160" cy="416160"/>
          </a:xfrm>
          <a:prstGeom prst="ellipse">
            <a:avLst/>
          </a:prstGeom>
          <a:solidFill>
            <a:srgbClr val="276DC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82" name="Image 4" descr="preencoded.png"/>
          <p:cNvPicPr/>
          <p:nvPr/>
        </p:nvPicPr>
        <p:blipFill>
          <a:blip r:embed="rId5"/>
          <a:stretch/>
        </p:blipFill>
        <p:spPr>
          <a:xfrm>
            <a:off x="807120" y="4435200"/>
            <a:ext cx="264960" cy="264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83" name="Text 18"/>
          <p:cNvSpPr/>
          <p:nvPr/>
        </p:nvSpPr>
        <p:spPr>
          <a:xfrm>
            <a:off x="1325880" y="4078080"/>
            <a:ext cx="10145520" cy="30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50" b="1" u="none" strike="noStrike">
                <a:solidFill>
                  <a:srgbClr val="1E2A44"/>
                </a:solidFill>
                <a:effectLst/>
                <a:uFillTx/>
                <a:latin typeface="Calibri"/>
                <a:ea typeface="Calibri"/>
              </a:rPr>
              <a:t>Add a row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4" name="Text 19"/>
          <p:cNvSpPr/>
          <p:nvPr/>
        </p:nvSpPr>
        <p:spPr>
          <a:xfrm>
            <a:off x="1325880" y="4416480"/>
            <a:ext cx="10145520" cy="37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13315C"/>
                </a:solidFill>
                <a:effectLst/>
                <a:uFillTx/>
                <a:latin typeface="Courier New"/>
                <a:ea typeface="Courier New"/>
              </a:rPr>
              <a:t>rbind(df, data.frame(sample="S4", gene="KRAS", expr=7.3))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5" name="Text 20"/>
          <p:cNvSpPr/>
          <p:nvPr/>
        </p:nvSpPr>
        <p:spPr>
          <a:xfrm>
            <a:off x="1325880" y="4827960"/>
            <a:ext cx="10145520" cy="27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i="1" u="none" strike="noStrike">
                <a:solidFill>
                  <a:srgbClr val="5B6573"/>
                </a:solidFill>
                <a:effectLst/>
                <a:uFillTx/>
                <a:latin typeface="Calibri"/>
                <a:ea typeface="Calibri"/>
              </a:rPr>
              <a:t>Column names and types must line up.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6" name="Shape 21"/>
          <p:cNvSpPr/>
          <p:nvPr/>
        </p:nvSpPr>
        <p:spPr>
          <a:xfrm>
            <a:off x="457200" y="5289840"/>
            <a:ext cx="11242800" cy="1216440"/>
          </a:xfrm>
          <a:prstGeom prst="roundRect">
            <a:avLst>
              <a:gd name="adj" fmla="val 4494"/>
            </a:avLst>
          </a:prstGeom>
          <a:solidFill>
            <a:srgbClr val="EDF3FB"/>
          </a:solidFill>
          <a:ln w="9525">
            <a:solidFill>
              <a:srgbClr val="E1E7EC"/>
            </a:solidFill>
            <a:round/>
          </a:ln>
          <a:effectLst>
            <a:outerShdw algn="bl" blurRad="63360" dir="5400000" dist="25560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7" name="Shape 22"/>
          <p:cNvSpPr/>
          <p:nvPr/>
        </p:nvSpPr>
        <p:spPr>
          <a:xfrm>
            <a:off x="731520" y="5689800"/>
            <a:ext cx="416160" cy="416160"/>
          </a:xfrm>
          <a:prstGeom prst="ellipse">
            <a:avLst/>
          </a:prstGeom>
          <a:solidFill>
            <a:srgbClr val="276DC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88" name="Image 5" descr="preencoded.png"/>
          <p:cNvPicPr/>
          <p:nvPr/>
        </p:nvPicPr>
        <p:blipFill>
          <a:blip r:embed="rId6"/>
          <a:stretch/>
        </p:blipFill>
        <p:spPr>
          <a:xfrm>
            <a:off x="807120" y="5765400"/>
            <a:ext cx="264960" cy="264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89" name="Text 23"/>
          <p:cNvSpPr/>
          <p:nvPr/>
        </p:nvSpPr>
        <p:spPr>
          <a:xfrm>
            <a:off x="1325880" y="5408640"/>
            <a:ext cx="10145520" cy="30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50" b="1" u="none" strike="noStrike">
                <a:solidFill>
                  <a:srgbClr val="1E2A44"/>
                </a:solidFill>
                <a:effectLst/>
                <a:uFillTx/>
                <a:latin typeface="Calibri"/>
                <a:ea typeface="Calibri"/>
              </a:rPr>
              <a:t>Update a value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0" name="Text 24"/>
          <p:cNvSpPr/>
          <p:nvPr/>
        </p:nvSpPr>
        <p:spPr>
          <a:xfrm>
            <a:off x="1325880" y="5747040"/>
            <a:ext cx="10145520" cy="37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13315C"/>
                </a:solidFill>
                <a:effectLst/>
                <a:uFillTx/>
                <a:latin typeface="Courier New"/>
                <a:ea typeface="Courier New"/>
              </a:rPr>
              <a:t>df$expr[df$sample == "S2"] &lt;- 9.0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1" name="Text 25"/>
          <p:cNvSpPr/>
          <p:nvPr/>
        </p:nvSpPr>
        <p:spPr>
          <a:xfrm>
            <a:off x="1325880" y="6158520"/>
            <a:ext cx="10145520" cy="27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i="1" u="none" strike="noStrike">
                <a:solidFill>
                  <a:srgbClr val="5B6573"/>
                </a:solidFill>
                <a:effectLst/>
                <a:uFillTx/>
                <a:latin typeface="Calibri"/>
                <a:ea typeface="Calibri"/>
              </a:rPr>
              <a:t>Edits the data frame in place.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2" name="Text 26"/>
          <p:cNvSpPr/>
          <p:nvPr/>
        </p:nvSpPr>
        <p:spPr>
          <a:xfrm>
            <a:off x="10881360" y="6537960"/>
            <a:ext cx="818640" cy="22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9AA3AD"/>
                </a:solidFill>
                <a:effectLst/>
                <a:uFillTx/>
                <a:latin typeface="Calibri"/>
                <a:ea typeface="Calibri"/>
              </a:rPr>
              <a:t>6 / 6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4299</TotalTime>
  <Application>LibreOffice/26.2.4.2$Linux_X86_64 LibreOffice_project/620$Build-2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2026-06-19T18:59:37Z</dcterms:created>
  <dc:creator>Steven Rozen</dc:creator>
  <dc:description/>
  <dc:language>en-US</dc:language>
  <cp:lastModifiedBy/>
  <dcterms:modified xsi:type="dcterms:W3CDTF">2026-08-03T13:43:42Z</dcterms:modified>
  <cp:revision>79</cp:revision>
  <dc:subject>PptxGenJS Presentation</dc:subject>
  <dc:title>R vs Python Data Types — for beginners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6</vt:i4>
  </property>
  <property fmtid="{D5CDD505-2E9C-101B-9397-08002B2CF9AE}" pid="3" name="PresentationFormat">
    <vt:lpwstr>On-screen Show (16:9)</vt:lpwstr>
  </property>
  <property fmtid="{D5CDD505-2E9C-101B-9397-08002B2CF9AE}" pid="4" name="Slides">
    <vt:i4>6</vt:i4>
  </property>
</Properties>
</file>